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311"/>
  </p:normalViewPr>
  <p:slideViewPr>
    <p:cSldViewPr snapToGrid="0" snapToObjects="1">
      <p:cViewPr varScale="1">
        <p:scale>
          <a:sx n="116" d="100"/>
          <a:sy n="116" d="100"/>
        </p:scale>
        <p:origin x="1544"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682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This project addresses a specific operational problem at </a:t>
            </a:r>
            <a:r>
              <a:rPr lang="en-PH" sz="1200" kern="1200" dirty="0" err="1">
                <a:solidFill>
                  <a:schemeClr val="tx1"/>
                </a:solidFill>
                <a:effectLst/>
                <a:latin typeface="+mn-lt"/>
                <a:ea typeface="+mn-ea"/>
                <a:cs typeface="+mn-cs"/>
              </a:rPr>
              <a:t>ProTech</a:t>
            </a:r>
            <a:r>
              <a:rPr lang="en-PH" sz="1200" kern="1200" dirty="0">
                <a:solidFill>
                  <a:schemeClr val="tx1"/>
                </a:solidFill>
                <a:effectLst/>
                <a:latin typeface="+mn-lt"/>
                <a:ea typeface="+mn-ea"/>
                <a:cs typeface="+mn-cs"/>
              </a:rPr>
              <a:t> Devices Philippines. Device protection insurance in Asia is exposed to three primary fraud patterns: timing manipulation, retail channel abuse, and device value arbitrage. None are reliably caught by the current manual review process. This presentation walks through the full machine learning pipeline built to address that gap. The headline result is an </a:t>
            </a:r>
            <a:r>
              <a:rPr lang="en-PH" sz="1200" kern="1200" dirty="0" err="1">
                <a:solidFill>
                  <a:schemeClr val="tx1"/>
                </a:solidFill>
                <a:effectLst/>
                <a:latin typeface="+mn-lt"/>
                <a:ea typeface="+mn-ea"/>
                <a:cs typeface="+mn-cs"/>
              </a:rPr>
              <a:t>XGBoost</a:t>
            </a:r>
            <a:r>
              <a:rPr lang="en-PH" sz="1200" kern="1200" dirty="0">
                <a:solidFill>
                  <a:schemeClr val="tx1"/>
                </a:solidFill>
                <a:effectLst/>
                <a:latin typeface="+mn-lt"/>
                <a:ea typeface="+mn-ea"/>
                <a:cs typeface="+mn-cs"/>
              </a:rPr>
              <a:t> classifier achieving an AUC-ROC of 0.9412 and 79% recall on the fraud class, with a validated ROI of 304% in Year 1.</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The left panel shows the three specific fraud patterns that drive exposure at </a:t>
            </a:r>
            <a:r>
              <a:rPr lang="en-PH" sz="1200" kern="1200" dirty="0" err="1">
                <a:solidFill>
                  <a:schemeClr val="tx1"/>
                </a:solidFill>
                <a:effectLst/>
                <a:latin typeface="+mn-lt"/>
                <a:ea typeface="+mn-ea"/>
                <a:cs typeface="+mn-cs"/>
              </a:rPr>
              <a:t>ProTech</a:t>
            </a:r>
            <a:r>
              <a:rPr lang="en-PH" sz="1200" kern="1200" dirty="0">
                <a:solidFill>
                  <a:schemeClr val="tx1"/>
                </a:solidFill>
                <a:effectLst/>
                <a:latin typeface="+mn-lt"/>
                <a:ea typeface="+mn-ea"/>
                <a:cs typeface="+mn-cs"/>
              </a:rPr>
              <a:t>. These are not theoretical: timing manipulation is visible in claims filed in the first week of a policy; channel abuse appears in retail partners with claim rates four times the market average; value arbitrage shows in high-value device claims that conveniently appear shortly after policy activation. The right panel translates this into financial terms. An estimated 8% fraud rate on our portfolio represents approximately USD 193,600 in annual exposure with no systematic detection currently in place. The zero in the bottom-right , no systematic fraud scoring currently in place , is the most important number on this slide.</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Three public datasets were evaluated. The IEEE-CIS Fraud Detection dataset from Kaggle was selected because its structure most closely mirrors the claims transaction context. Each row is a financial transaction with rich behavioral metadata including device fingerprinting, identity match indicators, email domain signals, and channel information. All of these map directly to insurance claims concepts. The feature mapping table on the lower half shows exactly how each IEEE-CIS field was reinterpreted. This is not a generic model applied to a new domain. It is a deliberately adapted pipeline with domain-specific feature engineering built on top of a structurally analogous dataset.</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Six business-interpretable EDA findings drive the modeling decisions. The two most actionable are timing and partner concentration. Fraudulent claims are filed within the first 14 days at 4 times the rate of legitimate claims. This is the single most implementable finding from this project: a simple intake routing rule based on days since policy activation would catch a material portion of fraud with zero ML infrastructure required. The partner finding is equally actionable: 31% of all fraud comes from just 10 retail partners representing 8% of volume. These partners are identifiable by name and can be proactively audited today, independent of deploying the full model.</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Feature engineering is where domain knowledge creates model value. The 10 engineered features listed here were designed specifically to capture </a:t>
            </a:r>
            <a:r>
              <a:rPr lang="en-PH" sz="1200" kern="1200" dirty="0" err="1">
                <a:solidFill>
                  <a:schemeClr val="tx1"/>
                </a:solidFill>
                <a:effectLst/>
                <a:latin typeface="+mn-lt"/>
                <a:ea typeface="+mn-ea"/>
                <a:cs typeface="+mn-cs"/>
              </a:rPr>
              <a:t>InsurTech</a:t>
            </a:r>
            <a:r>
              <a:rPr lang="en-PH" sz="1200" kern="1200" dirty="0">
                <a:solidFill>
                  <a:schemeClr val="tx1"/>
                </a:solidFill>
                <a:effectLst/>
                <a:latin typeface="+mn-lt"/>
                <a:ea typeface="+mn-ea"/>
                <a:cs typeface="+mn-cs"/>
              </a:rPr>
              <a:t> fraud dynamics. None of them exist in the raw IEEE-CIS dataset. The selection pipeline had three stages: first, VIF analysis removed highly collinear features; second, an initial </a:t>
            </a:r>
            <a:r>
              <a:rPr lang="en-PH" sz="1200" kern="1200" dirty="0" err="1">
                <a:solidFill>
                  <a:schemeClr val="tx1"/>
                </a:solidFill>
                <a:effectLst/>
                <a:latin typeface="+mn-lt"/>
                <a:ea typeface="+mn-ea"/>
                <a:cs typeface="+mn-cs"/>
              </a:rPr>
              <a:t>XGBoost</a:t>
            </a:r>
            <a:r>
              <a:rPr lang="en-PH" sz="1200" kern="1200" dirty="0">
                <a:solidFill>
                  <a:schemeClr val="tx1"/>
                </a:solidFill>
                <a:effectLst/>
                <a:latin typeface="+mn-lt"/>
                <a:ea typeface="+mn-ea"/>
                <a:cs typeface="+mn-cs"/>
              </a:rPr>
              <a:t> model identified features with near-zero gain importance; third, SHAP values on the validation set confirmed that the top 20 features account for 87% of total model output variance. The final feature set of 55 contains both the raw signals and these 10 engineered </a:t>
            </a:r>
            <a:r>
              <a:rPr lang="en-PH" sz="1200" kern="1200" dirty="0" err="1">
                <a:solidFill>
                  <a:schemeClr val="tx1"/>
                </a:solidFill>
                <a:effectLst/>
                <a:latin typeface="+mn-lt"/>
                <a:ea typeface="+mn-ea"/>
                <a:cs typeface="+mn-cs"/>
              </a:rPr>
              <a:t>InsurTech</a:t>
            </a:r>
            <a:r>
              <a:rPr lang="en-PH" sz="1200" kern="1200" dirty="0">
                <a:solidFill>
                  <a:schemeClr val="tx1"/>
                </a:solidFill>
                <a:effectLst/>
                <a:latin typeface="+mn-lt"/>
                <a:ea typeface="+mn-ea"/>
                <a:cs typeface="+mn-cs"/>
              </a:rPr>
              <a:t>-specific additions.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PCA was applied specifically to the V-feature cluster, which contains 339 behavioral metadata columns from the payment processing environment. The analysis showed that 12 principal components explain 89.3% of the variance in this space. PCA was not applied to the full modeling pipeline because tree-based models handle high-dimensional tabular data natively, and applying PCA would reduce SHAP interpretability. The 12-component projection was used as input to t-SNE visualization. That visualization showed partial cluster separation between fraud and legitimate cases in the reduced embedding space, confirming that the V-features carry real discriminatory signal and are not noise.</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Four models were trained and compared on the same stratified 80/20 train-test split with 5-fold cross-validation. Each model serves a distinct purpose: Logistic Regression validates feature directions; the Decision Tree at depth 6 provides a human-readable ruleset for operations; Random Forest is the ensemble baseline; </a:t>
            </a:r>
            <a:r>
              <a:rPr lang="en-PH" sz="1200" kern="1200" dirty="0" err="1">
                <a:solidFill>
                  <a:schemeClr val="tx1"/>
                </a:solidFill>
                <a:effectLst/>
                <a:latin typeface="+mn-lt"/>
                <a:ea typeface="+mn-ea"/>
                <a:cs typeface="+mn-cs"/>
              </a:rPr>
              <a:t>XGBoost</a:t>
            </a:r>
            <a:r>
              <a:rPr lang="en-PH" sz="1200" kern="1200" dirty="0">
                <a:solidFill>
                  <a:schemeClr val="tx1"/>
                </a:solidFill>
                <a:effectLst/>
                <a:latin typeface="+mn-lt"/>
                <a:ea typeface="+mn-ea"/>
                <a:cs typeface="+mn-cs"/>
              </a:rPr>
              <a:t> is the champion. The key selection criterion was AUC-ROC and PR-AUC, which are the correct metrics for severe class imbalance at 3.5% fraud rate. </a:t>
            </a:r>
            <a:r>
              <a:rPr lang="en-PH" sz="1200" kern="1200" dirty="0" err="1">
                <a:solidFill>
                  <a:schemeClr val="tx1"/>
                </a:solidFill>
                <a:effectLst/>
                <a:latin typeface="+mn-lt"/>
                <a:ea typeface="+mn-ea"/>
                <a:cs typeface="+mn-cs"/>
              </a:rPr>
              <a:t>XGBoost</a:t>
            </a:r>
            <a:r>
              <a:rPr lang="en-PH" sz="1200" kern="1200" dirty="0">
                <a:solidFill>
                  <a:schemeClr val="tx1"/>
                </a:solidFill>
                <a:effectLst/>
                <a:latin typeface="+mn-lt"/>
                <a:ea typeface="+mn-ea"/>
                <a:cs typeface="+mn-cs"/>
              </a:rPr>
              <a:t> leads on both: 0.9412 AUC-ROC and 0.7318 PR-AUC. The 4.25 percentage point PR-AUC advantage over Random Forest is particularly significant in the high-recall operating region where fraud operations are conducted</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SHAP values were computed on a stratified sample of 5,000 test records. The top finding is that the model's decisions are driven entirely by behavioral and transactional signals. Protected attributes such as age, gender, race, and geographic origin do not appear in the top 30 contributors. This is a critical quality gate for deployment. The top features make business sense: V126 and V130 capture device fingerprint and session consistency; log claim amount reflects the known relationship between high payouts and fraud; days since policy captures the timing manipulation pattern identified in EDA; claim velocity captures partner-level batch fraud. Every top feature has an intuitive insurance explanation, which means adjusters can be trained to understand and trust the model output.</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The fairness audit evaluated five metrics across three sensitive dimensions: geography, payment method, and partner volume. All five pass or are addressed. The most important decision in this section is the exclusion of card4, the payment method feature. Prepaid card holders were being flagged at 2.1 times the rate of credit card holders. Since prepaid cards are disproportionately used by lower-income customers, this represented a socioeconomic proxy risk. The feature was excluded from the production model. The AUC cost was 0.009 points. That is a deliberate tradeoff: a small reduction in model performance in exchange for eliminating a discriminatory signal. The model is designed so that human adjusters make all adverse decisions. The AI routes and flags. It never auto-denies.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The deployment design reflects the model's role: it is a routing tool, not a decision-maker. Every claim receives a score at intake. The score determines which tier handles it. The 72% auto-approve tier means nearly three-quarters of all claims are processed with zero adjuster time, freeing the team to concentrate on the 5% flagged for enhanced or escalated review. The </a:t>
            </a:r>
            <a:r>
              <a:rPr lang="en-PH" sz="1200" kern="1200" dirty="0" err="1">
                <a:solidFill>
                  <a:schemeClr val="tx1"/>
                </a:solidFill>
                <a:effectLst/>
                <a:latin typeface="+mn-lt"/>
                <a:ea typeface="+mn-ea"/>
                <a:cs typeface="+mn-cs"/>
              </a:rPr>
              <a:t>FastAPI</a:t>
            </a:r>
            <a:r>
              <a:rPr lang="en-PH" sz="1200" kern="1200" dirty="0">
                <a:solidFill>
                  <a:schemeClr val="tx1"/>
                </a:solidFill>
                <a:effectLst/>
                <a:latin typeface="+mn-lt"/>
                <a:ea typeface="+mn-ea"/>
                <a:cs typeface="+mn-cs"/>
              </a:rPr>
              <a:t> endpoint is containerized in Docker and returns the fraud probability, the risk tier classification, and a plain-language SHAP explanation of the top three risk factors for every prediction. A screen recording of the live API is available in the GitHub repository under deployment/</a:t>
            </a:r>
            <a:r>
              <a:rPr lang="en-PH" sz="1200" kern="1200" dirty="0" err="1">
                <a:solidFill>
                  <a:schemeClr val="tx1"/>
                </a:solidFill>
                <a:effectLst/>
                <a:latin typeface="+mn-lt"/>
                <a:ea typeface="+mn-ea"/>
                <a:cs typeface="+mn-cs"/>
              </a:rPr>
              <a:t>demo.gif</a:t>
            </a:r>
            <a:r>
              <a:rPr lang="en-PH" sz="1200" kern="1200" dirty="0">
                <a:solidFill>
                  <a:schemeClr val="tx1"/>
                </a:solidFill>
                <a:effectLst/>
                <a:latin typeface="+mn-lt"/>
                <a:ea typeface="+mn-ea"/>
                <a:cs typeface="+mn-cs"/>
              </a:rPr>
              <a:t>.</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To summarize this project in three sentences. The </a:t>
            </a:r>
            <a:r>
              <a:rPr lang="en-PH" sz="1200" kern="1200" dirty="0" err="1">
                <a:solidFill>
                  <a:schemeClr val="tx1"/>
                </a:solidFill>
                <a:effectLst/>
                <a:latin typeface="+mn-lt"/>
                <a:ea typeface="+mn-ea"/>
                <a:cs typeface="+mn-cs"/>
              </a:rPr>
              <a:t>XGBoost</a:t>
            </a:r>
            <a:r>
              <a:rPr lang="en-PH" sz="1200" kern="1200" dirty="0">
                <a:solidFill>
                  <a:schemeClr val="tx1"/>
                </a:solidFill>
                <a:effectLst/>
                <a:latin typeface="+mn-lt"/>
                <a:ea typeface="+mn-ea"/>
                <a:cs typeface="+mn-cs"/>
              </a:rPr>
              <a:t> model achieves an AUC-ROC of 0.9412 and catches 79% of fraudulent claims at the 0.5 threshold, exceeding all technical targets. The business case shows USD 150,000 in estimated annual savings against a USD 35,000 deployment investment, yielding a 304% first-year ROI. The model is designed with human oversight at every adverse decision point, passes all five fairness metrics, and is deployed as a </a:t>
            </a:r>
            <a:r>
              <a:rPr lang="en-PH" sz="1200" kern="1200" dirty="0" err="1">
                <a:solidFill>
                  <a:schemeClr val="tx1"/>
                </a:solidFill>
                <a:effectLst/>
                <a:latin typeface="+mn-lt"/>
                <a:ea typeface="+mn-ea"/>
                <a:cs typeface="+mn-cs"/>
              </a:rPr>
              <a:t>FastAPI</a:t>
            </a:r>
            <a:r>
              <a:rPr lang="en-PH" sz="1200" kern="1200" dirty="0">
                <a:solidFill>
                  <a:schemeClr val="tx1"/>
                </a:solidFill>
                <a:effectLst/>
                <a:latin typeface="+mn-lt"/>
                <a:ea typeface="+mn-ea"/>
                <a:cs typeface="+mn-cs"/>
              </a:rPr>
              <a:t> endpoint ready for integration into </a:t>
            </a:r>
            <a:r>
              <a:rPr lang="en-PH" sz="1200" kern="1200" dirty="0" err="1">
                <a:solidFill>
                  <a:schemeClr val="tx1"/>
                </a:solidFill>
                <a:effectLst/>
                <a:latin typeface="+mn-lt"/>
                <a:ea typeface="+mn-ea"/>
                <a:cs typeface="+mn-cs"/>
              </a:rPr>
              <a:t>ProTech's</a:t>
            </a:r>
            <a:r>
              <a:rPr lang="en-PH" sz="1200" kern="1200" dirty="0">
                <a:solidFill>
                  <a:schemeClr val="tx1"/>
                </a:solidFill>
                <a:effectLst/>
                <a:latin typeface="+mn-lt"/>
                <a:ea typeface="+mn-ea"/>
                <a:cs typeface="+mn-cs"/>
              </a:rPr>
              <a:t> existing claims management workflow. The complete code, notebooks, and documentation are available at </a:t>
            </a:r>
            <a:r>
              <a:rPr lang="en-PH" sz="1200" kern="1200" dirty="0" err="1">
                <a:solidFill>
                  <a:schemeClr val="tx1"/>
                </a:solidFill>
                <a:effectLst/>
                <a:latin typeface="+mn-lt"/>
                <a:ea typeface="+mn-ea"/>
                <a:cs typeface="+mn-cs"/>
              </a:rPr>
              <a:t>github.com</a:t>
            </a:r>
            <a:r>
              <a:rPr lang="en-PH" sz="1200" kern="1200" dirty="0">
                <a:solidFill>
                  <a:schemeClr val="tx1"/>
                </a:solidFill>
                <a:effectLst/>
                <a:latin typeface="+mn-lt"/>
                <a:ea typeface="+mn-ea"/>
                <a:cs typeface="+mn-cs"/>
              </a:rPr>
              <a:t>/mark-</a:t>
            </a:r>
            <a:r>
              <a:rPr lang="en-PH" sz="1200" kern="1200" dirty="0" err="1">
                <a:solidFill>
                  <a:schemeClr val="tx1"/>
                </a:solidFill>
                <a:effectLst/>
                <a:latin typeface="+mn-lt"/>
                <a:ea typeface="+mn-ea"/>
                <a:cs typeface="+mn-cs"/>
              </a:rPr>
              <a:t>villola</a:t>
            </a:r>
            <a:r>
              <a:rPr lang="en-PH" sz="1200" kern="1200" dirty="0">
                <a:solidFill>
                  <a:schemeClr val="tx1"/>
                </a:solidFill>
                <a:effectLst/>
                <a:latin typeface="+mn-lt"/>
                <a:ea typeface="+mn-ea"/>
                <a:cs typeface="+mn-cs"/>
              </a:rPr>
              <a:t>/</a:t>
            </a:r>
            <a:r>
              <a:rPr lang="en-PH" sz="1200" kern="1200" dirty="0" err="1">
                <a:solidFill>
                  <a:schemeClr val="tx1"/>
                </a:solidFill>
                <a:effectLst/>
                <a:latin typeface="+mn-lt"/>
                <a:ea typeface="+mn-ea"/>
                <a:cs typeface="+mn-cs"/>
              </a:rPr>
              <a:t>insurtech</a:t>
            </a:r>
            <a:r>
              <a:rPr lang="en-PH" sz="1200" kern="1200">
                <a:solidFill>
                  <a:schemeClr val="tx1"/>
                </a:solidFill>
                <a:effectLst/>
                <a:latin typeface="+mn-lt"/>
                <a:ea typeface="+mn-ea"/>
                <a:cs typeface="+mn-cs"/>
              </a:rPr>
              <a:t>-fraud-detection.</a:t>
            </a:r>
            <a:r>
              <a:rPr lang="en-PH">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52D54"/>
          </a:solidFill>
          <a:ln/>
        </p:spPr>
        <p:txBody>
          <a:bodyPr/>
          <a:lstStyle/>
          <a:p>
            <a:endParaRPr lang="en-US"/>
          </a:p>
        </p:txBody>
      </p:sp>
      <p:sp>
        <p:nvSpPr>
          <p:cNvPr id="3" name="Shape 1"/>
          <p:cNvSpPr/>
          <p:nvPr/>
        </p:nvSpPr>
        <p:spPr>
          <a:xfrm>
            <a:off x="0" y="3456432"/>
            <a:ext cx="9144000" cy="64008"/>
          </a:xfrm>
          <a:prstGeom prst="rect">
            <a:avLst/>
          </a:prstGeom>
          <a:solidFill>
            <a:srgbClr val="2563EB"/>
          </a:solidFill>
          <a:ln/>
        </p:spPr>
        <p:txBody>
          <a:bodyPr/>
          <a:lstStyle/>
          <a:p>
            <a:endParaRPr lang="en-US"/>
          </a:p>
        </p:txBody>
      </p:sp>
      <p:sp>
        <p:nvSpPr>
          <p:cNvPr id="4" name="Text 2"/>
          <p:cNvSpPr/>
          <p:nvPr/>
        </p:nvSpPr>
        <p:spPr>
          <a:xfrm>
            <a:off x="548640" y="640080"/>
            <a:ext cx="8046720" cy="640080"/>
          </a:xfrm>
          <a:prstGeom prst="rect">
            <a:avLst/>
          </a:prstGeom>
          <a:noFill/>
          <a:ln/>
        </p:spPr>
        <p:txBody>
          <a:bodyPr wrap="square" lIns="0" tIns="0" rIns="0" bIns="0" rtlCol="0" anchor="ctr"/>
          <a:lstStyle/>
          <a:p>
            <a:pPr marL="0" indent="0">
              <a:buNone/>
            </a:pPr>
            <a:r>
              <a:rPr lang="en-US" sz="3600" b="1" kern="0" spc="200" dirty="0">
                <a:solidFill>
                  <a:srgbClr val="FFFFFF"/>
                </a:solidFill>
              </a:rPr>
              <a:t>DETECTING THE INVISIBLE</a:t>
            </a:r>
            <a:endParaRPr lang="en-US" sz="3600" dirty="0"/>
          </a:p>
        </p:txBody>
      </p:sp>
      <p:sp>
        <p:nvSpPr>
          <p:cNvPr id="5" name="Text 3"/>
          <p:cNvSpPr/>
          <p:nvPr/>
        </p:nvSpPr>
        <p:spPr>
          <a:xfrm>
            <a:off x="548640" y="1325880"/>
            <a:ext cx="8046720" cy="502920"/>
          </a:xfrm>
          <a:prstGeom prst="rect">
            <a:avLst/>
          </a:prstGeom>
          <a:noFill/>
          <a:ln/>
        </p:spPr>
        <p:txBody>
          <a:bodyPr wrap="square" lIns="0" tIns="0" rIns="0" bIns="0" rtlCol="0" anchor="ctr"/>
          <a:lstStyle/>
          <a:p>
            <a:pPr marL="0" indent="0">
              <a:buNone/>
            </a:pPr>
            <a:r>
              <a:rPr lang="en-US" sz="1800" dirty="0">
                <a:solidFill>
                  <a:srgbClr val="BFDBFE"/>
                </a:solidFill>
              </a:rPr>
              <a:t>AI-Powered Fraud Detection for Device Protection Insurance</a:t>
            </a:r>
            <a:endParaRPr lang="en-US" sz="1800" dirty="0"/>
          </a:p>
        </p:txBody>
      </p:sp>
      <p:sp>
        <p:nvSpPr>
          <p:cNvPr id="6" name="Text 4"/>
          <p:cNvSpPr/>
          <p:nvPr/>
        </p:nvSpPr>
        <p:spPr>
          <a:xfrm>
            <a:off x="548640" y="1920240"/>
            <a:ext cx="2926080" cy="320040"/>
          </a:xfrm>
          <a:prstGeom prst="rect">
            <a:avLst/>
          </a:prstGeom>
          <a:noFill/>
          <a:ln/>
        </p:spPr>
        <p:txBody>
          <a:bodyPr wrap="square" lIns="0" tIns="0" rIns="0" bIns="0" rtlCol="0" anchor="ctr"/>
          <a:lstStyle/>
          <a:p>
            <a:pPr marL="0" indent="0">
              <a:buNone/>
            </a:pPr>
            <a:r>
              <a:rPr lang="en-US" sz="1000" b="1" kern="0" spc="300" dirty="0">
                <a:solidFill>
                  <a:srgbClr val="2563EB"/>
                </a:solidFill>
              </a:rPr>
              <a:t>TECHNICAL PRESENTATION</a:t>
            </a:r>
            <a:endParaRPr lang="en-US" sz="1000" dirty="0"/>
          </a:p>
        </p:txBody>
      </p:sp>
      <p:sp>
        <p:nvSpPr>
          <p:cNvPr id="7" name="Shape 5"/>
          <p:cNvSpPr/>
          <p:nvPr/>
        </p:nvSpPr>
        <p:spPr>
          <a:xfrm>
            <a:off x="548640" y="2423160"/>
            <a:ext cx="1737360" cy="777240"/>
          </a:xfrm>
          <a:prstGeom prst="rect">
            <a:avLst/>
          </a:prstGeom>
          <a:solidFill>
            <a:srgbClr val="0F2547"/>
          </a:solidFill>
          <a:ln/>
        </p:spPr>
        <p:txBody>
          <a:bodyPr/>
          <a:lstStyle/>
          <a:p>
            <a:endParaRPr lang="en-US"/>
          </a:p>
        </p:txBody>
      </p:sp>
      <p:sp>
        <p:nvSpPr>
          <p:cNvPr id="8" name="Shape 6"/>
          <p:cNvSpPr/>
          <p:nvPr/>
        </p:nvSpPr>
        <p:spPr>
          <a:xfrm>
            <a:off x="548640" y="2423160"/>
            <a:ext cx="1737360" cy="54864"/>
          </a:xfrm>
          <a:prstGeom prst="rect">
            <a:avLst/>
          </a:prstGeom>
          <a:solidFill>
            <a:srgbClr val="2563EB"/>
          </a:solidFill>
          <a:ln/>
        </p:spPr>
        <p:txBody>
          <a:bodyPr/>
          <a:lstStyle/>
          <a:p>
            <a:endParaRPr lang="en-US"/>
          </a:p>
        </p:txBody>
      </p:sp>
      <p:sp>
        <p:nvSpPr>
          <p:cNvPr id="9" name="Text 7"/>
          <p:cNvSpPr/>
          <p:nvPr/>
        </p:nvSpPr>
        <p:spPr>
          <a:xfrm>
            <a:off x="548640" y="2478024"/>
            <a:ext cx="1737360" cy="438912"/>
          </a:xfrm>
          <a:prstGeom prst="rect">
            <a:avLst/>
          </a:prstGeom>
          <a:noFill/>
          <a:ln/>
        </p:spPr>
        <p:txBody>
          <a:bodyPr wrap="square" lIns="0" tIns="0" rIns="0" bIns="0" rtlCol="0" anchor="ctr"/>
          <a:lstStyle/>
          <a:p>
            <a:pPr marL="0" indent="0" algn="ctr">
              <a:buNone/>
            </a:pPr>
            <a:r>
              <a:rPr lang="en-US" sz="2400" b="1" dirty="0">
                <a:solidFill>
                  <a:srgbClr val="2563EB"/>
                </a:solidFill>
              </a:rPr>
              <a:t>0.9412</a:t>
            </a:r>
            <a:endParaRPr lang="en-US" sz="2400" dirty="0"/>
          </a:p>
        </p:txBody>
      </p:sp>
      <p:sp>
        <p:nvSpPr>
          <p:cNvPr id="10" name="Text 8"/>
          <p:cNvSpPr/>
          <p:nvPr/>
        </p:nvSpPr>
        <p:spPr>
          <a:xfrm>
            <a:off x="548640" y="2916936"/>
            <a:ext cx="1737360" cy="274320"/>
          </a:xfrm>
          <a:prstGeom prst="rect">
            <a:avLst/>
          </a:prstGeom>
          <a:noFill/>
          <a:ln/>
        </p:spPr>
        <p:txBody>
          <a:bodyPr wrap="square" lIns="0" tIns="0" rIns="0" bIns="0" rtlCol="0" anchor="ctr"/>
          <a:lstStyle/>
          <a:p>
            <a:pPr marL="0" indent="0" algn="ctr">
              <a:buNone/>
            </a:pPr>
            <a:r>
              <a:rPr lang="en-US" sz="850" dirty="0">
                <a:solidFill>
                  <a:srgbClr val="64748B"/>
                </a:solidFill>
              </a:rPr>
              <a:t>AUC-ROC</a:t>
            </a:r>
            <a:endParaRPr lang="en-US" sz="850" dirty="0"/>
          </a:p>
        </p:txBody>
      </p:sp>
      <p:sp>
        <p:nvSpPr>
          <p:cNvPr id="11" name="Shape 9"/>
          <p:cNvSpPr/>
          <p:nvPr/>
        </p:nvSpPr>
        <p:spPr>
          <a:xfrm>
            <a:off x="2560320" y="2423160"/>
            <a:ext cx="1737360" cy="777240"/>
          </a:xfrm>
          <a:prstGeom prst="rect">
            <a:avLst/>
          </a:prstGeom>
          <a:solidFill>
            <a:srgbClr val="0F2547"/>
          </a:solidFill>
          <a:ln/>
        </p:spPr>
        <p:txBody>
          <a:bodyPr/>
          <a:lstStyle/>
          <a:p>
            <a:endParaRPr lang="en-US"/>
          </a:p>
        </p:txBody>
      </p:sp>
      <p:sp>
        <p:nvSpPr>
          <p:cNvPr id="12" name="Shape 10"/>
          <p:cNvSpPr/>
          <p:nvPr/>
        </p:nvSpPr>
        <p:spPr>
          <a:xfrm>
            <a:off x="2560320" y="2423160"/>
            <a:ext cx="1737360" cy="54864"/>
          </a:xfrm>
          <a:prstGeom prst="rect">
            <a:avLst/>
          </a:prstGeom>
          <a:solidFill>
            <a:srgbClr val="2563EB"/>
          </a:solidFill>
          <a:ln/>
        </p:spPr>
        <p:txBody>
          <a:bodyPr/>
          <a:lstStyle/>
          <a:p>
            <a:endParaRPr lang="en-US"/>
          </a:p>
        </p:txBody>
      </p:sp>
      <p:sp>
        <p:nvSpPr>
          <p:cNvPr id="13" name="Text 11"/>
          <p:cNvSpPr/>
          <p:nvPr/>
        </p:nvSpPr>
        <p:spPr>
          <a:xfrm>
            <a:off x="2560320" y="2478024"/>
            <a:ext cx="1737360" cy="438912"/>
          </a:xfrm>
          <a:prstGeom prst="rect">
            <a:avLst/>
          </a:prstGeom>
          <a:noFill/>
          <a:ln/>
        </p:spPr>
        <p:txBody>
          <a:bodyPr wrap="square" lIns="0" tIns="0" rIns="0" bIns="0" rtlCol="0" anchor="ctr"/>
          <a:lstStyle/>
          <a:p>
            <a:pPr marL="0" indent="0" algn="ctr">
              <a:buNone/>
            </a:pPr>
            <a:r>
              <a:rPr lang="en-US" sz="2400" b="1" dirty="0">
                <a:solidFill>
                  <a:srgbClr val="2563EB"/>
                </a:solidFill>
              </a:rPr>
              <a:t>0.7318</a:t>
            </a:r>
            <a:endParaRPr lang="en-US" sz="2400" dirty="0"/>
          </a:p>
        </p:txBody>
      </p:sp>
      <p:sp>
        <p:nvSpPr>
          <p:cNvPr id="14" name="Text 12"/>
          <p:cNvSpPr/>
          <p:nvPr/>
        </p:nvSpPr>
        <p:spPr>
          <a:xfrm>
            <a:off x="2560320" y="2916936"/>
            <a:ext cx="1737360" cy="274320"/>
          </a:xfrm>
          <a:prstGeom prst="rect">
            <a:avLst/>
          </a:prstGeom>
          <a:noFill/>
          <a:ln/>
        </p:spPr>
        <p:txBody>
          <a:bodyPr wrap="square" lIns="0" tIns="0" rIns="0" bIns="0" rtlCol="0" anchor="ctr"/>
          <a:lstStyle/>
          <a:p>
            <a:pPr marL="0" indent="0" algn="ctr">
              <a:buNone/>
            </a:pPr>
            <a:r>
              <a:rPr lang="en-US" sz="850" dirty="0">
                <a:solidFill>
                  <a:srgbClr val="64748B"/>
                </a:solidFill>
              </a:rPr>
              <a:t>PR-AUC</a:t>
            </a:r>
            <a:endParaRPr lang="en-US" sz="850" dirty="0"/>
          </a:p>
        </p:txBody>
      </p:sp>
      <p:sp>
        <p:nvSpPr>
          <p:cNvPr id="15" name="Shape 13"/>
          <p:cNvSpPr/>
          <p:nvPr/>
        </p:nvSpPr>
        <p:spPr>
          <a:xfrm>
            <a:off x="4572000" y="2423160"/>
            <a:ext cx="1737360" cy="777240"/>
          </a:xfrm>
          <a:prstGeom prst="rect">
            <a:avLst/>
          </a:prstGeom>
          <a:solidFill>
            <a:srgbClr val="0F2547"/>
          </a:solidFill>
          <a:ln/>
        </p:spPr>
        <p:txBody>
          <a:bodyPr/>
          <a:lstStyle/>
          <a:p>
            <a:endParaRPr lang="en-US"/>
          </a:p>
        </p:txBody>
      </p:sp>
      <p:sp>
        <p:nvSpPr>
          <p:cNvPr id="16" name="Shape 14"/>
          <p:cNvSpPr/>
          <p:nvPr/>
        </p:nvSpPr>
        <p:spPr>
          <a:xfrm>
            <a:off x="4572000" y="2423160"/>
            <a:ext cx="1737360" cy="54864"/>
          </a:xfrm>
          <a:prstGeom prst="rect">
            <a:avLst/>
          </a:prstGeom>
          <a:solidFill>
            <a:srgbClr val="2563EB"/>
          </a:solidFill>
          <a:ln/>
        </p:spPr>
        <p:txBody>
          <a:bodyPr/>
          <a:lstStyle/>
          <a:p>
            <a:endParaRPr lang="en-US"/>
          </a:p>
        </p:txBody>
      </p:sp>
      <p:sp>
        <p:nvSpPr>
          <p:cNvPr id="17" name="Text 15"/>
          <p:cNvSpPr/>
          <p:nvPr/>
        </p:nvSpPr>
        <p:spPr>
          <a:xfrm>
            <a:off x="4572000" y="2478024"/>
            <a:ext cx="1737360" cy="438912"/>
          </a:xfrm>
          <a:prstGeom prst="rect">
            <a:avLst/>
          </a:prstGeom>
          <a:noFill/>
          <a:ln/>
        </p:spPr>
        <p:txBody>
          <a:bodyPr wrap="square" lIns="0" tIns="0" rIns="0" bIns="0" rtlCol="0" anchor="ctr"/>
          <a:lstStyle/>
          <a:p>
            <a:pPr marL="0" indent="0" algn="ctr">
              <a:buNone/>
            </a:pPr>
            <a:r>
              <a:rPr lang="en-US" sz="2400" b="1" dirty="0">
                <a:solidFill>
                  <a:srgbClr val="2563EB"/>
                </a:solidFill>
              </a:rPr>
              <a:t>79%</a:t>
            </a:r>
            <a:endParaRPr lang="en-US" sz="2400" dirty="0"/>
          </a:p>
        </p:txBody>
      </p:sp>
      <p:sp>
        <p:nvSpPr>
          <p:cNvPr id="18" name="Text 16"/>
          <p:cNvSpPr/>
          <p:nvPr/>
        </p:nvSpPr>
        <p:spPr>
          <a:xfrm>
            <a:off x="4572000" y="2916936"/>
            <a:ext cx="1737360" cy="274320"/>
          </a:xfrm>
          <a:prstGeom prst="rect">
            <a:avLst/>
          </a:prstGeom>
          <a:noFill/>
          <a:ln/>
        </p:spPr>
        <p:txBody>
          <a:bodyPr wrap="square" lIns="0" tIns="0" rIns="0" bIns="0" rtlCol="0" anchor="ctr"/>
          <a:lstStyle/>
          <a:p>
            <a:pPr marL="0" indent="0" algn="ctr">
              <a:buNone/>
            </a:pPr>
            <a:r>
              <a:rPr lang="en-US" sz="850" dirty="0">
                <a:solidFill>
                  <a:srgbClr val="64748B"/>
                </a:solidFill>
              </a:rPr>
              <a:t>Fraud Recall</a:t>
            </a:r>
            <a:endParaRPr lang="en-US" sz="850" dirty="0"/>
          </a:p>
        </p:txBody>
      </p:sp>
      <p:sp>
        <p:nvSpPr>
          <p:cNvPr id="19" name="Shape 17"/>
          <p:cNvSpPr/>
          <p:nvPr/>
        </p:nvSpPr>
        <p:spPr>
          <a:xfrm>
            <a:off x="6583680" y="2423160"/>
            <a:ext cx="1737360" cy="777240"/>
          </a:xfrm>
          <a:prstGeom prst="rect">
            <a:avLst/>
          </a:prstGeom>
          <a:solidFill>
            <a:srgbClr val="0F2547"/>
          </a:solidFill>
          <a:ln/>
        </p:spPr>
        <p:txBody>
          <a:bodyPr/>
          <a:lstStyle/>
          <a:p>
            <a:endParaRPr lang="en-US"/>
          </a:p>
        </p:txBody>
      </p:sp>
      <p:sp>
        <p:nvSpPr>
          <p:cNvPr id="20" name="Shape 18"/>
          <p:cNvSpPr/>
          <p:nvPr/>
        </p:nvSpPr>
        <p:spPr>
          <a:xfrm>
            <a:off x="6583680" y="2423160"/>
            <a:ext cx="1737360" cy="54864"/>
          </a:xfrm>
          <a:prstGeom prst="rect">
            <a:avLst/>
          </a:prstGeom>
          <a:solidFill>
            <a:srgbClr val="2563EB"/>
          </a:solidFill>
          <a:ln/>
        </p:spPr>
        <p:txBody>
          <a:bodyPr/>
          <a:lstStyle/>
          <a:p>
            <a:endParaRPr lang="en-US"/>
          </a:p>
        </p:txBody>
      </p:sp>
      <p:sp>
        <p:nvSpPr>
          <p:cNvPr id="21" name="Text 19"/>
          <p:cNvSpPr/>
          <p:nvPr/>
        </p:nvSpPr>
        <p:spPr>
          <a:xfrm>
            <a:off x="6583680" y="2478024"/>
            <a:ext cx="1737360" cy="438912"/>
          </a:xfrm>
          <a:prstGeom prst="rect">
            <a:avLst/>
          </a:prstGeom>
          <a:noFill/>
          <a:ln/>
        </p:spPr>
        <p:txBody>
          <a:bodyPr wrap="square" lIns="0" tIns="0" rIns="0" bIns="0" rtlCol="0" anchor="ctr"/>
          <a:lstStyle/>
          <a:p>
            <a:pPr marL="0" indent="0" algn="ctr">
              <a:buNone/>
            </a:pPr>
            <a:r>
              <a:rPr lang="en-US" sz="2400" b="1" dirty="0">
                <a:solidFill>
                  <a:srgbClr val="2563EB"/>
                </a:solidFill>
              </a:rPr>
              <a:t>55</a:t>
            </a:r>
            <a:endParaRPr lang="en-US" sz="2400" dirty="0"/>
          </a:p>
        </p:txBody>
      </p:sp>
      <p:sp>
        <p:nvSpPr>
          <p:cNvPr id="22" name="Text 20"/>
          <p:cNvSpPr/>
          <p:nvPr/>
        </p:nvSpPr>
        <p:spPr>
          <a:xfrm>
            <a:off x="6583680" y="2916936"/>
            <a:ext cx="1737360" cy="274320"/>
          </a:xfrm>
          <a:prstGeom prst="rect">
            <a:avLst/>
          </a:prstGeom>
          <a:noFill/>
          <a:ln/>
        </p:spPr>
        <p:txBody>
          <a:bodyPr wrap="square" lIns="0" tIns="0" rIns="0" bIns="0" rtlCol="0" anchor="ctr"/>
          <a:lstStyle/>
          <a:p>
            <a:pPr marL="0" indent="0" algn="ctr">
              <a:buNone/>
            </a:pPr>
            <a:r>
              <a:rPr lang="en-US" sz="850" dirty="0">
                <a:solidFill>
                  <a:srgbClr val="64748B"/>
                </a:solidFill>
              </a:rPr>
              <a:t>Features Used</a:t>
            </a:r>
            <a:endParaRPr lang="en-US" sz="850" dirty="0"/>
          </a:p>
        </p:txBody>
      </p:sp>
      <p:sp>
        <p:nvSpPr>
          <p:cNvPr id="23" name="Text 21"/>
          <p:cNvSpPr/>
          <p:nvPr/>
        </p:nvSpPr>
        <p:spPr>
          <a:xfrm>
            <a:off x="548640" y="3566160"/>
            <a:ext cx="8046720" cy="1371600"/>
          </a:xfrm>
          <a:prstGeom prst="rect">
            <a:avLst/>
          </a:prstGeom>
          <a:noFill/>
          <a:ln/>
        </p:spPr>
        <p:txBody>
          <a:bodyPr wrap="square" lIns="0" tIns="0" rIns="0" bIns="0" rtlCol="0" anchor="ctr"/>
          <a:lstStyle/>
          <a:p>
            <a:pPr marL="0" indent="0">
              <a:buNone/>
            </a:pPr>
            <a:r>
              <a:rPr lang="en-US" sz="1000" b="1" dirty="0">
                <a:solidFill>
                  <a:srgbClr val="BFDBFE"/>
                </a:solidFill>
              </a:rPr>
              <a:t>Mark Eliezer M. Villola</a:t>
            </a:r>
            <a:endParaRPr lang="en-US" sz="1000" dirty="0"/>
          </a:p>
          <a:p>
            <a:pPr marL="0" indent="0">
              <a:buNone/>
            </a:pPr>
            <a:r>
              <a:rPr lang="en-US" sz="1000" dirty="0">
                <a:solidFill>
                  <a:srgbClr val="BFDBFE"/>
                </a:solidFill>
              </a:rPr>
              <a:t>Country General Manager, ProTech Devices Philippines</a:t>
            </a:r>
            <a:endParaRPr lang="en-US" sz="1000" dirty="0"/>
          </a:p>
          <a:p>
            <a:pPr marL="0" indent="0">
              <a:buNone/>
            </a:pPr>
            <a:r>
              <a:rPr lang="en-US" sz="1000" dirty="0">
                <a:solidFill>
                  <a:srgbClr val="BFDBFE"/>
                </a:solidFill>
              </a:rPr>
              <a:t>AIM Postgraduate Diploma in AI &amp; ML  |  Pillar 5 Capstone  |  March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A6B"/>
          </a:solidFill>
          <a:ln/>
        </p:spPr>
        <p:txBody>
          <a:bodyPr/>
          <a:lstStyle/>
          <a:p>
            <a:endParaRPr lang="en-US"/>
          </a:p>
        </p:txBody>
      </p:sp>
      <p:sp>
        <p:nvSpPr>
          <p:cNvPr id="3" name="Shape 1"/>
          <p:cNvSpPr/>
          <p:nvPr/>
        </p:nvSpPr>
        <p:spPr>
          <a:xfrm>
            <a:off x="109728" y="0"/>
            <a:ext cx="9034272" cy="502920"/>
          </a:xfrm>
          <a:prstGeom prst="rect">
            <a:avLst/>
          </a:prstGeom>
          <a:solidFill>
            <a:srgbClr val="1E293B"/>
          </a:solidFill>
          <a:ln/>
        </p:spPr>
        <p:txBody>
          <a:bodyPr/>
          <a:lstStyle/>
          <a:p>
            <a:endParaRPr lang="en-US"/>
          </a:p>
        </p:txBody>
      </p:sp>
      <p:sp>
        <p:nvSpPr>
          <p:cNvPr id="4" name="Shape 2"/>
          <p:cNvSpPr/>
          <p:nvPr/>
        </p:nvSpPr>
        <p:spPr>
          <a:xfrm>
            <a:off x="228600" y="91440"/>
            <a:ext cx="1005840" cy="320040"/>
          </a:xfrm>
          <a:prstGeom prst="rect">
            <a:avLst/>
          </a:prstGeom>
          <a:solidFill>
            <a:srgbClr val="2563EB"/>
          </a:solidFill>
          <a:ln/>
        </p:spPr>
        <p:txBody>
          <a:bodyPr/>
          <a:lstStyle/>
          <a:p>
            <a:endParaRPr lang="en-US"/>
          </a:p>
        </p:txBody>
      </p:sp>
      <p:sp>
        <p:nvSpPr>
          <p:cNvPr id="5" name="Text 3"/>
          <p:cNvSpPr/>
          <p:nvPr/>
        </p:nvSpPr>
        <p:spPr>
          <a:xfrm>
            <a:off x="228600" y="91440"/>
            <a:ext cx="1005840" cy="320040"/>
          </a:xfrm>
          <a:prstGeom prst="rect">
            <a:avLst/>
          </a:prstGeom>
          <a:noFill/>
          <a:ln/>
        </p:spPr>
        <p:txBody>
          <a:bodyPr wrap="square" lIns="0" tIns="0" rIns="0" bIns="0" rtlCol="0" anchor="ctr"/>
          <a:lstStyle/>
          <a:p>
            <a:pPr marL="0" indent="0" algn="ctr">
              <a:buNone/>
            </a:pPr>
            <a:r>
              <a:rPr lang="en-US" sz="900" b="1" dirty="0">
                <a:solidFill>
                  <a:srgbClr val="FFFFFF"/>
                </a:solidFill>
              </a:rPr>
              <a:t>STEP 1</a:t>
            </a:r>
            <a:endParaRPr lang="en-US" sz="900" dirty="0"/>
          </a:p>
        </p:txBody>
      </p:sp>
      <p:sp>
        <p:nvSpPr>
          <p:cNvPr id="6" name="Text 4"/>
          <p:cNvSpPr/>
          <p:nvPr/>
        </p:nvSpPr>
        <p:spPr>
          <a:xfrm>
            <a:off x="1371600" y="82296"/>
            <a:ext cx="7498080" cy="347472"/>
          </a:xfrm>
          <a:prstGeom prst="rect">
            <a:avLst/>
          </a:prstGeom>
          <a:noFill/>
          <a:ln/>
        </p:spPr>
        <p:txBody>
          <a:bodyPr wrap="square" lIns="0" tIns="0" rIns="0" bIns="0" rtlCol="0" anchor="ctr"/>
          <a:lstStyle/>
          <a:p>
            <a:pPr marL="0" indent="0">
              <a:buNone/>
            </a:pPr>
            <a:r>
              <a:rPr lang="en-US" sz="1500" b="1" dirty="0">
                <a:solidFill>
                  <a:srgbClr val="FFFFFF"/>
                </a:solidFill>
              </a:rPr>
              <a:t>The Problem, Fraud in Device Protection Insurance</a:t>
            </a:r>
            <a:endParaRPr lang="en-US" sz="1500" dirty="0"/>
          </a:p>
        </p:txBody>
      </p:sp>
      <p:sp>
        <p:nvSpPr>
          <p:cNvPr id="7" name="Text 5"/>
          <p:cNvSpPr/>
          <p:nvPr/>
        </p:nvSpPr>
        <p:spPr>
          <a:xfrm>
            <a:off x="109728" y="4800600"/>
            <a:ext cx="9034272" cy="320040"/>
          </a:xfrm>
          <a:prstGeom prst="rect">
            <a:avLst/>
          </a:prstGeom>
          <a:noFill/>
          <a:ln/>
        </p:spPr>
        <p:txBody>
          <a:bodyPr wrap="square" lIns="0" tIns="0" rIns="0" bIns="0" rtlCol="0" anchor="ctr"/>
          <a:lstStyle/>
          <a:p>
            <a:pPr marL="0" indent="0" algn="r">
              <a:buNone/>
            </a:pPr>
            <a:r>
              <a:rPr lang="en-US" sz="800" dirty="0">
                <a:solidFill>
                  <a:srgbClr val="64748B"/>
                </a:solidFill>
              </a:rPr>
              <a:t>ProTech Devices Asia  |  AIM Capstone 2025</a:t>
            </a:r>
            <a:endParaRPr lang="en-US" sz="800" dirty="0"/>
          </a:p>
        </p:txBody>
      </p:sp>
      <p:sp>
        <p:nvSpPr>
          <p:cNvPr id="8" name="Shape 6"/>
          <p:cNvSpPr/>
          <p:nvPr/>
        </p:nvSpPr>
        <p:spPr>
          <a:xfrm>
            <a:off x="201168" y="685800"/>
            <a:ext cx="3931920" cy="4114800"/>
          </a:xfrm>
          <a:prstGeom prst="rect">
            <a:avLst/>
          </a:prstGeom>
          <a:solidFill>
            <a:srgbClr val="F1F5F9"/>
          </a:solidFill>
          <a:ln/>
        </p:spPr>
        <p:txBody>
          <a:bodyPr/>
          <a:lstStyle/>
          <a:p>
            <a:endParaRPr lang="en-US"/>
          </a:p>
        </p:txBody>
      </p:sp>
      <p:sp>
        <p:nvSpPr>
          <p:cNvPr id="9" name="Text 7"/>
          <p:cNvSpPr/>
          <p:nvPr/>
        </p:nvSpPr>
        <p:spPr>
          <a:xfrm>
            <a:off x="292608" y="749808"/>
            <a:ext cx="3749040" cy="274320"/>
          </a:xfrm>
          <a:prstGeom prst="rect">
            <a:avLst/>
          </a:prstGeom>
          <a:noFill/>
          <a:ln/>
        </p:spPr>
        <p:txBody>
          <a:bodyPr wrap="square" lIns="0" tIns="0" rIns="0" bIns="0" rtlCol="0" anchor="ctr"/>
          <a:lstStyle/>
          <a:p>
            <a:pPr marL="0" indent="0">
              <a:buNone/>
            </a:pPr>
            <a:r>
              <a:rPr lang="en-US" sz="900" b="1" kern="0" spc="100" dirty="0">
                <a:solidFill>
                  <a:srgbClr val="1B3A6B"/>
                </a:solidFill>
              </a:rPr>
              <a:t>THREE DOMINANT FRAUD PATTERNS</a:t>
            </a:r>
            <a:endParaRPr lang="en-US" sz="900" dirty="0"/>
          </a:p>
        </p:txBody>
      </p:sp>
      <p:sp>
        <p:nvSpPr>
          <p:cNvPr id="10" name="Shape 8"/>
          <p:cNvSpPr/>
          <p:nvPr/>
        </p:nvSpPr>
        <p:spPr>
          <a:xfrm>
            <a:off x="292608" y="1097280"/>
            <a:ext cx="3749040" cy="9601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292608" y="1097280"/>
            <a:ext cx="320040" cy="960120"/>
          </a:xfrm>
          <a:prstGeom prst="rect">
            <a:avLst/>
          </a:prstGeom>
          <a:solidFill>
            <a:srgbClr val="DC2626"/>
          </a:solidFill>
          <a:ln/>
        </p:spPr>
        <p:txBody>
          <a:bodyPr/>
          <a:lstStyle/>
          <a:p>
            <a:endParaRPr lang="en-US"/>
          </a:p>
        </p:txBody>
      </p:sp>
      <p:sp>
        <p:nvSpPr>
          <p:cNvPr id="12" name="Text 10"/>
          <p:cNvSpPr/>
          <p:nvPr/>
        </p:nvSpPr>
        <p:spPr>
          <a:xfrm>
            <a:off x="292608" y="1353312"/>
            <a:ext cx="320040" cy="411480"/>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13" name="Text 11"/>
          <p:cNvSpPr/>
          <p:nvPr/>
        </p:nvSpPr>
        <p:spPr>
          <a:xfrm>
            <a:off x="658368" y="1143000"/>
            <a:ext cx="3246120" cy="256032"/>
          </a:xfrm>
          <a:prstGeom prst="rect">
            <a:avLst/>
          </a:prstGeom>
          <a:noFill/>
          <a:ln/>
        </p:spPr>
        <p:txBody>
          <a:bodyPr wrap="square" lIns="0" tIns="0" rIns="0" bIns="0" rtlCol="0" anchor="ctr"/>
          <a:lstStyle/>
          <a:p>
            <a:pPr marL="0" indent="0">
              <a:buNone/>
            </a:pPr>
            <a:r>
              <a:rPr lang="en-US" sz="1000" b="1" dirty="0">
                <a:solidFill>
                  <a:srgbClr val="1B3A6B"/>
                </a:solidFill>
              </a:rPr>
              <a:t>Timing Manipulation</a:t>
            </a:r>
            <a:endParaRPr lang="en-US" sz="1000" dirty="0"/>
          </a:p>
        </p:txBody>
      </p:sp>
      <p:sp>
        <p:nvSpPr>
          <p:cNvPr id="14" name="Text 12"/>
          <p:cNvSpPr/>
          <p:nvPr/>
        </p:nvSpPr>
        <p:spPr>
          <a:xfrm>
            <a:off x="658368" y="1399032"/>
            <a:ext cx="3246120" cy="594360"/>
          </a:xfrm>
          <a:prstGeom prst="rect">
            <a:avLst/>
          </a:prstGeom>
          <a:noFill/>
          <a:ln/>
        </p:spPr>
        <p:txBody>
          <a:bodyPr wrap="square" lIns="0" tIns="0" rIns="0" bIns="0" rtlCol="0" anchor="ctr"/>
          <a:lstStyle/>
          <a:p>
            <a:pPr marL="0" indent="0">
              <a:buNone/>
            </a:pPr>
            <a:r>
              <a:rPr lang="en-US" sz="850" dirty="0">
                <a:solidFill>
                  <a:srgbClr val="1E293B"/>
                </a:solidFill>
              </a:rPr>
              <a:t>Claims filed within 14 days of policy activation are 4 times more likely to be fraudulent. Fraudsters exploit the initial coverage window before risk controls activate.</a:t>
            </a:r>
            <a:endParaRPr lang="en-US" sz="850" dirty="0"/>
          </a:p>
        </p:txBody>
      </p:sp>
      <p:sp>
        <p:nvSpPr>
          <p:cNvPr id="15" name="Shape 13"/>
          <p:cNvSpPr/>
          <p:nvPr/>
        </p:nvSpPr>
        <p:spPr>
          <a:xfrm>
            <a:off x="292608" y="2148840"/>
            <a:ext cx="3749040" cy="9601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292608" y="2148840"/>
            <a:ext cx="320040" cy="960120"/>
          </a:xfrm>
          <a:prstGeom prst="rect">
            <a:avLst/>
          </a:prstGeom>
          <a:solidFill>
            <a:srgbClr val="D97706"/>
          </a:solidFill>
          <a:ln/>
        </p:spPr>
        <p:txBody>
          <a:bodyPr/>
          <a:lstStyle/>
          <a:p>
            <a:endParaRPr lang="en-US"/>
          </a:p>
        </p:txBody>
      </p:sp>
      <p:sp>
        <p:nvSpPr>
          <p:cNvPr id="17" name="Text 15"/>
          <p:cNvSpPr/>
          <p:nvPr/>
        </p:nvSpPr>
        <p:spPr>
          <a:xfrm>
            <a:off x="292608" y="2404872"/>
            <a:ext cx="320040" cy="411480"/>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8" name="Text 16"/>
          <p:cNvSpPr/>
          <p:nvPr/>
        </p:nvSpPr>
        <p:spPr>
          <a:xfrm>
            <a:off x="658368" y="2194560"/>
            <a:ext cx="3246120" cy="256032"/>
          </a:xfrm>
          <a:prstGeom prst="rect">
            <a:avLst/>
          </a:prstGeom>
          <a:noFill/>
          <a:ln/>
        </p:spPr>
        <p:txBody>
          <a:bodyPr wrap="square" lIns="0" tIns="0" rIns="0" bIns="0" rtlCol="0" anchor="ctr"/>
          <a:lstStyle/>
          <a:p>
            <a:pPr marL="0" indent="0">
              <a:buNone/>
            </a:pPr>
            <a:r>
              <a:rPr lang="en-US" sz="1000" b="1" dirty="0">
                <a:solidFill>
                  <a:srgbClr val="1B3A6B"/>
                </a:solidFill>
              </a:rPr>
              <a:t>Retail Channel Abuse</a:t>
            </a:r>
            <a:endParaRPr lang="en-US" sz="1000" dirty="0"/>
          </a:p>
        </p:txBody>
      </p:sp>
      <p:sp>
        <p:nvSpPr>
          <p:cNvPr id="19" name="Text 17"/>
          <p:cNvSpPr/>
          <p:nvPr/>
        </p:nvSpPr>
        <p:spPr>
          <a:xfrm>
            <a:off x="658368" y="2450592"/>
            <a:ext cx="3246120" cy="594360"/>
          </a:xfrm>
          <a:prstGeom prst="rect">
            <a:avLst/>
          </a:prstGeom>
          <a:noFill/>
          <a:ln/>
        </p:spPr>
        <p:txBody>
          <a:bodyPr wrap="square" lIns="0" tIns="0" rIns="0" bIns="0" rtlCol="0" anchor="ctr"/>
          <a:lstStyle/>
          <a:p>
            <a:pPr marL="0" indent="0">
              <a:buNone/>
            </a:pPr>
            <a:r>
              <a:rPr lang="en-US" sz="850" dirty="0">
                <a:solidFill>
                  <a:srgbClr val="1E293B"/>
                </a:solidFill>
              </a:rPr>
              <a:t>Rogue retail partner staff file fraudulent claims on behalf of phantom customers using devices never sold. In ProTech's B2B2C model, the retailer is both the distribution channel and a potential fraud vector.</a:t>
            </a:r>
            <a:endParaRPr lang="en-US" sz="850" dirty="0"/>
          </a:p>
        </p:txBody>
      </p:sp>
      <p:sp>
        <p:nvSpPr>
          <p:cNvPr id="20" name="Shape 18"/>
          <p:cNvSpPr/>
          <p:nvPr/>
        </p:nvSpPr>
        <p:spPr>
          <a:xfrm>
            <a:off x="292608" y="3200400"/>
            <a:ext cx="3749040" cy="9601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292608" y="3200400"/>
            <a:ext cx="320040" cy="960120"/>
          </a:xfrm>
          <a:prstGeom prst="rect">
            <a:avLst/>
          </a:prstGeom>
          <a:solidFill>
            <a:srgbClr val="7C3AED"/>
          </a:solidFill>
          <a:ln/>
        </p:spPr>
        <p:txBody>
          <a:bodyPr/>
          <a:lstStyle/>
          <a:p>
            <a:endParaRPr lang="en-US"/>
          </a:p>
        </p:txBody>
      </p:sp>
      <p:sp>
        <p:nvSpPr>
          <p:cNvPr id="22" name="Text 20"/>
          <p:cNvSpPr/>
          <p:nvPr/>
        </p:nvSpPr>
        <p:spPr>
          <a:xfrm>
            <a:off x="292608" y="3456432"/>
            <a:ext cx="320040" cy="411480"/>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3" name="Text 21"/>
          <p:cNvSpPr/>
          <p:nvPr/>
        </p:nvSpPr>
        <p:spPr>
          <a:xfrm>
            <a:off x="658368" y="3246120"/>
            <a:ext cx="3246120" cy="256032"/>
          </a:xfrm>
          <a:prstGeom prst="rect">
            <a:avLst/>
          </a:prstGeom>
          <a:noFill/>
          <a:ln/>
        </p:spPr>
        <p:txBody>
          <a:bodyPr wrap="square" lIns="0" tIns="0" rIns="0" bIns="0" rtlCol="0" anchor="ctr"/>
          <a:lstStyle/>
          <a:p>
            <a:pPr marL="0" indent="0">
              <a:buNone/>
            </a:pPr>
            <a:r>
              <a:rPr lang="en-US" sz="1000" b="1" dirty="0">
                <a:solidFill>
                  <a:srgbClr val="1B3A6B"/>
                </a:solidFill>
              </a:rPr>
              <a:t>Device Value Arbitrage</a:t>
            </a:r>
            <a:endParaRPr lang="en-US" sz="1000" dirty="0"/>
          </a:p>
        </p:txBody>
      </p:sp>
      <p:sp>
        <p:nvSpPr>
          <p:cNvPr id="24" name="Text 22"/>
          <p:cNvSpPr/>
          <p:nvPr/>
        </p:nvSpPr>
        <p:spPr>
          <a:xfrm>
            <a:off x="658368" y="3502152"/>
            <a:ext cx="3246120" cy="594360"/>
          </a:xfrm>
          <a:prstGeom prst="rect">
            <a:avLst/>
          </a:prstGeom>
          <a:noFill/>
          <a:ln/>
        </p:spPr>
        <p:txBody>
          <a:bodyPr wrap="square" lIns="0" tIns="0" rIns="0" bIns="0" rtlCol="0" anchor="ctr"/>
          <a:lstStyle/>
          <a:p>
            <a:pPr marL="0" indent="0">
              <a:buNone/>
            </a:pPr>
            <a:r>
              <a:rPr lang="en-US" sz="850" dirty="0">
                <a:solidFill>
                  <a:srgbClr val="1E293B"/>
                </a:solidFill>
              </a:rPr>
              <a:t>High-value devices insured, damage claimed shortly after policy inception, settlement near device market value. Device resold post-repair, net profit from insurance.</a:t>
            </a:r>
            <a:endParaRPr lang="en-US" sz="850" dirty="0"/>
          </a:p>
        </p:txBody>
      </p:sp>
      <p:sp>
        <p:nvSpPr>
          <p:cNvPr id="25" name="Shape 23"/>
          <p:cNvSpPr/>
          <p:nvPr/>
        </p:nvSpPr>
        <p:spPr>
          <a:xfrm>
            <a:off x="4297680" y="685800"/>
            <a:ext cx="4663440" cy="4114800"/>
          </a:xfrm>
          <a:prstGeom prst="rect">
            <a:avLst/>
          </a:prstGeom>
          <a:solidFill>
            <a:srgbClr val="1B3A6B"/>
          </a:solidFill>
          <a:ln/>
        </p:spPr>
        <p:txBody>
          <a:bodyPr/>
          <a:lstStyle/>
          <a:p>
            <a:endParaRPr lang="en-US"/>
          </a:p>
        </p:txBody>
      </p:sp>
      <p:sp>
        <p:nvSpPr>
          <p:cNvPr id="26" name="Text 24"/>
          <p:cNvSpPr/>
          <p:nvPr/>
        </p:nvSpPr>
        <p:spPr>
          <a:xfrm>
            <a:off x="4434840" y="822960"/>
            <a:ext cx="4389120" cy="274320"/>
          </a:xfrm>
          <a:prstGeom prst="rect">
            <a:avLst/>
          </a:prstGeom>
          <a:noFill/>
          <a:ln/>
        </p:spPr>
        <p:txBody>
          <a:bodyPr wrap="square" lIns="0" tIns="0" rIns="0" bIns="0" rtlCol="0" anchor="ctr"/>
          <a:lstStyle/>
          <a:p>
            <a:pPr marL="0" indent="0">
              <a:buNone/>
            </a:pPr>
            <a:r>
              <a:rPr lang="en-US" sz="900" b="1" kern="0" spc="100" dirty="0">
                <a:solidFill>
                  <a:srgbClr val="BFDBFE"/>
                </a:solidFill>
              </a:rPr>
              <a:t>THE FINANCIAL EXPOSURE</a:t>
            </a:r>
            <a:endParaRPr lang="en-US" sz="900" dirty="0"/>
          </a:p>
        </p:txBody>
      </p:sp>
      <p:sp>
        <p:nvSpPr>
          <p:cNvPr id="27" name="Shape 25"/>
          <p:cNvSpPr/>
          <p:nvPr/>
        </p:nvSpPr>
        <p:spPr>
          <a:xfrm>
            <a:off x="4434840" y="1234440"/>
            <a:ext cx="2057400" cy="1371600"/>
          </a:xfrm>
          <a:prstGeom prst="rect">
            <a:avLst/>
          </a:prstGeom>
          <a:solidFill>
            <a:srgbClr val="152D54"/>
          </a:solidFill>
          <a:ln/>
        </p:spPr>
        <p:txBody>
          <a:bodyPr/>
          <a:lstStyle/>
          <a:p>
            <a:endParaRPr lang="en-US"/>
          </a:p>
        </p:txBody>
      </p:sp>
      <p:sp>
        <p:nvSpPr>
          <p:cNvPr id="28" name="Shape 26"/>
          <p:cNvSpPr/>
          <p:nvPr/>
        </p:nvSpPr>
        <p:spPr>
          <a:xfrm>
            <a:off x="4434840" y="1234440"/>
            <a:ext cx="2057400" cy="54864"/>
          </a:xfrm>
          <a:prstGeom prst="rect">
            <a:avLst/>
          </a:prstGeom>
          <a:solidFill>
            <a:srgbClr val="DC2626"/>
          </a:solidFill>
          <a:ln/>
        </p:spPr>
        <p:txBody>
          <a:bodyPr/>
          <a:lstStyle/>
          <a:p>
            <a:endParaRPr lang="en-US"/>
          </a:p>
        </p:txBody>
      </p:sp>
      <p:sp>
        <p:nvSpPr>
          <p:cNvPr id="29" name="Text 27"/>
          <p:cNvSpPr/>
          <p:nvPr/>
        </p:nvSpPr>
        <p:spPr>
          <a:xfrm>
            <a:off x="4434840" y="1325880"/>
            <a:ext cx="2057400" cy="640080"/>
          </a:xfrm>
          <a:prstGeom prst="rect">
            <a:avLst/>
          </a:prstGeom>
          <a:noFill/>
          <a:ln/>
        </p:spPr>
        <p:txBody>
          <a:bodyPr wrap="square" lIns="0" tIns="0" rIns="0" bIns="0" rtlCol="0" anchor="ctr"/>
          <a:lstStyle/>
          <a:p>
            <a:pPr marL="0" indent="0" algn="ctr">
              <a:buNone/>
            </a:pPr>
            <a:r>
              <a:rPr lang="en-US" sz="2200" b="1" dirty="0">
                <a:solidFill>
                  <a:srgbClr val="DC2626"/>
                </a:solidFill>
              </a:rPr>
              <a:t>8%</a:t>
            </a:r>
            <a:endParaRPr lang="en-US" sz="2200" dirty="0"/>
          </a:p>
        </p:txBody>
      </p:sp>
      <p:sp>
        <p:nvSpPr>
          <p:cNvPr id="30" name="Text 28"/>
          <p:cNvSpPr/>
          <p:nvPr/>
        </p:nvSpPr>
        <p:spPr>
          <a:xfrm>
            <a:off x="4434840" y="1984248"/>
            <a:ext cx="2057400" cy="548640"/>
          </a:xfrm>
          <a:prstGeom prst="rect">
            <a:avLst/>
          </a:prstGeom>
          <a:noFill/>
          <a:ln/>
        </p:spPr>
        <p:txBody>
          <a:bodyPr wrap="square" lIns="38100" tIns="38100" rIns="38100" bIns="38100" rtlCol="0" anchor="ctr"/>
          <a:lstStyle/>
          <a:p>
            <a:pPr marL="0" indent="0" algn="ctr">
              <a:buNone/>
            </a:pPr>
            <a:r>
              <a:rPr lang="en-US" sz="850" dirty="0">
                <a:solidFill>
                  <a:srgbClr val="BFDBFE"/>
                </a:solidFill>
              </a:rPr>
              <a:t>Estimated annual fraud rate</a:t>
            </a:r>
            <a:endParaRPr lang="en-US" sz="850" dirty="0"/>
          </a:p>
          <a:p>
            <a:pPr marL="0" indent="0" algn="ctr">
              <a:buNone/>
            </a:pPr>
            <a:r>
              <a:rPr lang="en-US" sz="850" dirty="0">
                <a:solidFill>
                  <a:srgbClr val="BFDBFE"/>
                </a:solidFill>
              </a:rPr>
              <a:t>(industry range: 6–12%)</a:t>
            </a:r>
            <a:endParaRPr lang="en-US" sz="850" dirty="0"/>
          </a:p>
        </p:txBody>
      </p:sp>
      <p:sp>
        <p:nvSpPr>
          <p:cNvPr id="31" name="Shape 29"/>
          <p:cNvSpPr/>
          <p:nvPr/>
        </p:nvSpPr>
        <p:spPr>
          <a:xfrm>
            <a:off x="6675120" y="1234440"/>
            <a:ext cx="2057400" cy="1371600"/>
          </a:xfrm>
          <a:prstGeom prst="rect">
            <a:avLst/>
          </a:prstGeom>
          <a:solidFill>
            <a:srgbClr val="152D54"/>
          </a:solidFill>
          <a:ln/>
        </p:spPr>
        <p:txBody>
          <a:bodyPr/>
          <a:lstStyle/>
          <a:p>
            <a:endParaRPr lang="en-US"/>
          </a:p>
        </p:txBody>
      </p:sp>
      <p:sp>
        <p:nvSpPr>
          <p:cNvPr id="32" name="Shape 30"/>
          <p:cNvSpPr/>
          <p:nvPr/>
        </p:nvSpPr>
        <p:spPr>
          <a:xfrm>
            <a:off x="6675120" y="1234440"/>
            <a:ext cx="2057400" cy="54864"/>
          </a:xfrm>
          <a:prstGeom prst="rect">
            <a:avLst/>
          </a:prstGeom>
          <a:solidFill>
            <a:srgbClr val="D97706"/>
          </a:solidFill>
          <a:ln/>
        </p:spPr>
        <p:txBody>
          <a:bodyPr/>
          <a:lstStyle/>
          <a:p>
            <a:endParaRPr lang="en-US"/>
          </a:p>
        </p:txBody>
      </p:sp>
      <p:sp>
        <p:nvSpPr>
          <p:cNvPr id="33" name="Text 31"/>
          <p:cNvSpPr/>
          <p:nvPr/>
        </p:nvSpPr>
        <p:spPr>
          <a:xfrm>
            <a:off x="6675120" y="1325880"/>
            <a:ext cx="2057400" cy="640080"/>
          </a:xfrm>
          <a:prstGeom prst="rect">
            <a:avLst/>
          </a:prstGeom>
          <a:noFill/>
          <a:ln/>
        </p:spPr>
        <p:txBody>
          <a:bodyPr wrap="square" lIns="0" tIns="0" rIns="0" bIns="0" rtlCol="0" anchor="ctr"/>
          <a:lstStyle/>
          <a:p>
            <a:pPr marL="0" indent="0" algn="ctr">
              <a:buNone/>
            </a:pPr>
            <a:r>
              <a:rPr lang="en-US" sz="2200" b="1" dirty="0">
                <a:solidFill>
                  <a:srgbClr val="D97706"/>
                </a:solidFill>
              </a:rPr>
              <a:t>USD 193K</a:t>
            </a:r>
            <a:endParaRPr lang="en-US" sz="2200" dirty="0"/>
          </a:p>
        </p:txBody>
      </p:sp>
      <p:sp>
        <p:nvSpPr>
          <p:cNvPr id="34" name="Text 32"/>
          <p:cNvSpPr/>
          <p:nvPr/>
        </p:nvSpPr>
        <p:spPr>
          <a:xfrm>
            <a:off x="6675120" y="1984248"/>
            <a:ext cx="2057400" cy="548640"/>
          </a:xfrm>
          <a:prstGeom prst="rect">
            <a:avLst/>
          </a:prstGeom>
          <a:noFill/>
          <a:ln/>
        </p:spPr>
        <p:txBody>
          <a:bodyPr wrap="square" lIns="38100" tIns="38100" rIns="38100" bIns="38100" rtlCol="0" anchor="ctr"/>
          <a:lstStyle/>
          <a:p>
            <a:pPr marL="0" indent="0" algn="ctr">
              <a:buNone/>
            </a:pPr>
            <a:r>
              <a:rPr lang="en-US" sz="850" dirty="0">
                <a:solidFill>
                  <a:srgbClr val="BFDBFE"/>
                </a:solidFill>
              </a:rPr>
              <a:t>Annual fraudulent</a:t>
            </a:r>
            <a:endParaRPr lang="en-US" sz="850" dirty="0"/>
          </a:p>
          <a:p>
            <a:pPr marL="0" indent="0" algn="ctr">
              <a:buNone/>
            </a:pPr>
            <a:r>
              <a:rPr lang="en-US" sz="850" dirty="0">
                <a:solidFill>
                  <a:srgbClr val="BFDBFE"/>
                </a:solidFill>
              </a:rPr>
              <a:t>payout exposure</a:t>
            </a:r>
            <a:endParaRPr lang="en-US" sz="850" dirty="0"/>
          </a:p>
        </p:txBody>
      </p:sp>
      <p:sp>
        <p:nvSpPr>
          <p:cNvPr id="35" name="Shape 33"/>
          <p:cNvSpPr/>
          <p:nvPr/>
        </p:nvSpPr>
        <p:spPr>
          <a:xfrm>
            <a:off x="4434840" y="2788920"/>
            <a:ext cx="2057400" cy="1371600"/>
          </a:xfrm>
          <a:prstGeom prst="rect">
            <a:avLst/>
          </a:prstGeom>
          <a:solidFill>
            <a:srgbClr val="152D54"/>
          </a:solidFill>
          <a:ln/>
        </p:spPr>
        <p:txBody>
          <a:bodyPr/>
          <a:lstStyle/>
          <a:p>
            <a:endParaRPr lang="en-US"/>
          </a:p>
        </p:txBody>
      </p:sp>
      <p:sp>
        <p:nvSpPr>
          <p:cNvPr id="36" name="Shape 34"/>
          <p:cNvSpPr/>
          <p:nvPr/>
        </p:nvSpPr>
        <p:spPr>
          <a:xfrm>
            <a:off x="4434840" y="2788920"/>
            <a:ext cx="2057400" cy="54864"/>
          </a:xfrm>
          <a:prstGeom prst="rect">
            <a:avLst/>
          </a:prstGeom>
          <a:solidFill>
            <a:srgbClr val="BFDBFE"/>
          </a:solidFill>
          <a:ln/>
        </p:spPr>
        <p:txBody>
          <a:bodyPr/>
          <a:lstStyle/>
          <a:p>
            <a:endParaRPr lang="en-US"/>
          </a:p>
        </p:txBody>
      </p:sp>
      <p:sp>
        <p:nvSpPr>
          <p:cNvPr id="37" name="Text 35"/>
          <p:cNvSpPr/>
          <p:nvPr/>
        </p:nvSpPr>
        <p:spPr>
          <a:xfrm>
            <a:off x="4434840" y="2880360"/>
            <a:ext cx="2057400" cy="640080"/>
          </a:xfrm>
          <a:prstGeom prst="rect">
            <a:avLst/>
          </a:prstGeom>
          <a:noFill/>
          <a:ln/>
        </p:spPr>
        <p:txBody>
          <a:bodyPr wrap="square" lIns="0" tIns="0" rIns="0" bIns="0" rtlCol="0" anchor="ctr"/>
          <a:lstStyle/>
          <a:p>
            <a:pPr marL="0" indent="0" algn="ctr">
              <a:buNone/>
            </a:pPr>
            <a:r>
              <a:rPr lang="en-US" sz="2200" b="1" dirty="0">
                <a:solidFill>
                  <a:srgbClr val="BFDBFE"/>
                </a:solidFill>
              </a:rPr>
              <a:t>3–5 days</a:t>
            </a:r>
            <a:endParaRPr lang="en-US" sz="2200" dirty="0"/>
          </a:p>
        </p:txBody>
      </p:sp>
      <p:sp>
        <p:nvSpPr>
          <p:cNvPr id="38" name="Text 36"/>
          <p:cNvSpPr/>
          <p:nvPr/>
        </p:nvSpPr>
        <p:spPr>
          <a:xfrm>
            <a:off x="4434840" y="3538728"/>
            <a:ext cx="2057400" cy="548640"/>
          </a:xfrm>
          <a:prstGeom prst="rect">
            <a:avLst/>
          </a:prstGeom>
          <a:noFill/>
          <a:ln/>
        </p:spPr>
        <p:txBody>
          <a:bodyPr wrap="square" lIns="38100" tIns="38100" rIns="38100" bIns="38100" rtlCol="0" anchor="ctr"/>
          <a:lstStyle/>
          <a:p>
            <a:pPr marL="0" indent="0" algn="ctr">
              <a:buNone/>
            </a:pPr>
            <a:r>
              <a:rPr lang="en-US" sz="850" dirty="0">
                <a:solidFill>
                  <a:srgbClr val="BFDBFE"/>
                </a:solidFill>
              </a:rPr>
              <a:t>Avg. claims processing</a:t>
            </a:r>
            <a:endParaRPr lang="en-US" sz="850" dirty="0"/>
          </a:p>
          <a:p>
            <a:pPr marL="0" indent="0" algn="ctr">
              <a:buNone/>
            </a:pPr>
            <a:r>
              <a:rPr lang="en-US" sz="850" dirty="0">
                <a:solidFill>
                  <a:srgbClr val="BFDBFE"/>
                </a:solidFill>
              </a:rPr>
              <a:t>with no AI scoring</a:t>
            </a:r>
            <a:endParaRPr lang="en-US" sz="850" dirty="0"/>
          </a:p>
        </p:txBody>
      </p:sp>
      <p:sp>
        <p:nvSpPr>
          <p:cNvPr id="39" name="Shape 37"/>
          <p:cNvSpPr/>
          <p:nvPr/>
        </p:nvSpPr>
        <p:spPr>
          <a:xfrm>
            <a:off x="6675120" y="2788920"/>
            <a:ext cx="2057400" cy="1371600"/>
          </a:xfrm>
          <a:prstGeom prst="rect">
            <a:avLst/>
          </a:prstGeom>
          <a:solidFill>
            <a:srgbClr val="152D54"/>
          </a:solidFill>
          <a:ln/>
        </p:spPr>
        <p:txBody>
          <a:bodyPr/>
          <a:lstStyle/>
          <a:p>
            <a:endParaRPr lang="en-US"/>
          </a:p>
        </p:txBody>
      </p:sp>
      <p:sp>
        <p:nvSpPr>
          <p:cNvPr id="40" name="Shape 38"/>
          <p:cNvSpPr/>
          <p:nvPr/>
        </p:nvSpPr>
        <p:spPr>
          <a:xfrm>
            <a:off x="6675120" y="2788920"/>
            <a:ext cx="2057400" cy="54864"/>
          </a:xfrm>
          <a:prstGeom prst="rect">
            <a:avLst/>
          </a:prstGeom>
          <a:solidFill>
            <a:srgbClr val="64748B"/>
          </a:solidFill>
          <a:ln/>
        </p:spPr>
        <p:txBody>
          <a:bodyPr/>
          <a:lstStyle/>
          <a:p>
            <a:endParaRPr lang="en-US"/>
          </a:p>
        </p:txBody>
      </p:sp>
      <p:sp>
        <p:nvSpPr>
          <p:cNvPr id="41" name="Text 39"/>
          <p:cNvSpPr/>
          <p:nvPr/>
        </p:nvSpPr>
        <p:spPr>
          <a:xfrm>
            <a:off x="6675120" y="2880360"/>
            <a:ext cx="2057400" cy="640080"/>
          </a:xfrm>
          <a:prstGeom prst="rect">
            <a:avLst/>
          </a:prstGeom>
          <a:noFill/>
          <a:ln/>
        </p:spPr>
        <p:txBody>
          <a:bodyPr wrap="square" lIns="0" tIns="0" rIns="0" bIns="0" rtlCol="0" anchor="ctr"/>
          <a:lstStyle/>
          <a:p>
            <a:pPr marL="0" indent="0" algn="ctr">
              <a:buNone/>
            </a:pPr>
            <a:r>
              <a:rPr lang="en-US" sz="2200" b="1" dirty="0">
                <a:solidFill>
                  <a:srgbClr val="64748B"/>
                </a:solidFill>
              </a:rPr>
              <a:t>0</a:t>
            </a:r>
            <a:endParaRPr lang="en-US" sz="2200" dirty="0"/>
          </a:p>
        </p:txBody>
      </p:sp>
      <p:sp>
        <p:nvSpPr>
          <p:cNvPr id="42" name="Text 40"/>
          <p:cNvSpPr/>
          <p:nvPr/>
        </p:nvSpPr>
        <p:spPr>
          <a:xfrm>
            <a:off x="6675120" y="3538728"/>
            <a:ext cx="2057400" cy="548640"/>
          </a:xfrm>
          <a:prstGeom prst="rect">
            <a:avLst/>
          </a:prstGeom>
          <a:noFill/>
          <a:ln/>
        </p:spPr>
        <p:txBody>
          <a:bodyPr wrap="square" lIns="38100" tIns="38100" rIns="38100" bIns="38100" rtlCol="0" anchor="ctr"/>
          <a:lstStyle/>
          <a:p>
            <a:pPr marL="0" indent="0" algn="ctr">
              <a:buNone/>
            </a:pPr>
            <a:r>
              <a:rPr lang="en-US" sz="850" dirty="0">
                <a:solidFill>
                  <a:srgbClr val="BFDBFE"/>
                </a:solidFill>
              </a:rPr>
              <a:t>Systematic fraud scoring</a:t>
            </a:r>
            <a:endParaRPr lang="en-US" sz="850" dirty="0"/>
          </a:p>
          <a:p>
            <a:pPr marL="0" indent="0" algn="ctr">
              <a:buNone/>
            </a:pPr>
            <a:r>
              <a:rPr lang="en-US" sz="850" dirty="0">
                <a:solidFill>
                  <a:srgbClr val="BFDBFE"/>
                </a:solidFill>
              </a:rPr>
              <a:t>currently in place</a:t>
            </a:r>
            <a:endParaRPr lang="en-US" sz="850" dirty="0"/>
          </a:p>
        </p:txBody>
      </p:sp>
      <p:sp>
        <p:nvSpPr>
          <p:cNvPr id="43" name="Text 41"/>
          <p:cNvSpPr/>
          <p:nvPr/>
        </p:nvSpPr>
        <p:spPr>
          <a:xfrm>
            <a:off x="4434840" y="4544568"/>
            <a:ext cx="4389120" cy="182880"/>
          </a:xfrm>
          <a:prstGeom prst="rect">
            <a:avLst/>
          </a:prstGeom>
          <a:noFill/>
          <a:ln/>
        </p:spPr>
        <p:txBody>
          <a:bodyPr wrap="square" lIns="0" tIns="0" rIns="0" bIns="0" rtlCol="0" anchor="ctr"/>
          <a:lstStyle/>
          <a:p>
            <a:pPr marL="0" indent="0">
              <a:buNone/>
            </a:pPr>
            <a:r>
              <a:rPr lang="en-US" sz="700" dirty="0">
                <a:solidFill>
                  <a:srgbClr val="64748B"/>
                </a:solidFill>
              </a:rPr>
              <a:t>Source: Insurance industry benchmarks; ProTech internal estimates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A6B"/>
          </a:solidFill>
          <a:ln/>
        </p:spPr>
        <p:txBody>
          <a:bodyPr/>
          <a:lstStyle/>
          <a:p>
            <a:endParaRPr lang="en-US"/>
          </a:p>
        </p:txBody>
      </p:sp>
      <p:sp>
        <p:nvSpPr>
          <p:cNvPr id="3" name="Shape 1"/>
          <p:cNvSpPr/>
          <p:nvPr/>
        </p:nvSpPr>
        <p:spPr>
          <a:xfrm>
            <a:off x="109728" y="0"/>
            <a:ext cx="9034272" cy="502920"/>
          </a:xfrm>
          <a:prstGeom prst="rect">
            <a:avLst/>
          </a:prstGeom>
          <a:solidFill>
            <a:srgbClr val="1E293B"/>
          </a:solidFill>
          <a:ln/>
        </p:spPr>
        <p:txBody>
          <a:bodyPr/>
          <a:lstStyle/>
          <a:p>
            <a:endParaRPr lang="en-US"/>
          </a:p>
        </p:txBody>
      </p:sp>
      <p:sp>
        <p:nvSpPr>
          <p:cNvPr id="4" name="Shape 2"/>
          <p:cNvSpPr/>
          <p:nvPr/>
        </p:nvSpPr>
        <p:spPr>
          <a:xfrm>
            <a:off x="228600" y="91440"/>
            <a:ext cx="1005840" cy="320040"/>
          </a:xfrm>
          <a:prstGeom prst="rect">
            <a:avLst/>
          </a:prstGeom>
          <a:solidFill>
            <a:srgbClr val="2563EB"/>
          </a:solidFill>
          <a:ln/>
        </p:spPr>
        <p:txBody>
          <a:bodyPr/>
          <a:lstStyle/>
          <a:p>
            <a:endParaRPr lang="en-US"/>
          </a:p>
        </p:txBody>
      </p:sp>
      <p:sp>
        <p:nvSpPr>
          <p:cNvPr id="5" name="Text 3"/>
          <p:cNvSpPr/>
          <p:nvPr/>
        </p:nvSpPr>
        <p:spPr>
          <a:xfrm>
            <a:off x="228600" y="91440"/>
            <a:ext cx="1005840" cy="320040"/>
          </a:xfrm>
          <a:prstGeom prst="rect">
            <a:avLst/>
          </a:prstGeom>
          <a:noFill/>
          <a:ln/>
        </p:spPr>
        <p:txBody>
          <a:bodyPr wrap="square" lIns="0" tIns="0" rIns="0" bIns="0" rtlCol="0" anchor="ctr"/>
          <a:lstStyle/>
          <a:p>
            <a:pPr marL="0" indent="0" algn="ctr">
              <a:buNone/>
            </a:pPr>
            <a:r>
              <a:rPr lang="en-US" sz="900" b="1" dirty="0">
                <a:solidFill>
                  <a:srgbClr val="FFFFFF"/>
                </a:solidFill>
              </a:rPr>
              <a:t>STEP 2</a:t>
            </a:r>
            <a:endParaRPr lang="en-US" sz="900" dirty="0"/>
          </a:p>
        </p:txBody>
      </p:sp>
      <p:sp>
        <p:nvSpPr>
          <p:cNvPr id="6" name="Text 4"/>
          <p:cNvSpPr/>
          <p:nvPr/>
        </p:nvSpPr>
        <p:spPr>
          <a:xfrm>
            <a:off x="1371600" y="82296"/>
            <a:ext cx="7498080" cy="347472"/>
          </a:xfrm>
          <a:prstGeom prst="rect">
            <a:avLst/>
          </a:prstGeom>
          <a:noFill/>
          <a:ln/>
        </p:spPr>
        <p:txBody>
          <a:bodyPr wrap="square" lIns="0" tIns="0" rIns="0" bIns="0" rtlCol="0" anchor="ctr"/>
          <a:lstStyle/>
          <a:p>
            <a:pPr marL="0" indent="0">
              <a:buNone/>
            </a:pPr>
            <a:r>
              <a:rPr lang="en-US" sz="1500" b="1" dirty="0">
                <a:solidFill>
                  <a:srgbClr val="FFFFFF"/>
                </a:solidFill>
              </a:rPr>
              <a:t>Dataset Selection &amp; InsurTech Adaptation</a:t>
            </a:r>
            <a:endParaRPr lang="en-US" sz="1500" dirty="0"/>
          </a:p>
        </p:txBody>
      </p:sp>
      <p:sp>
        <p:nvSpPr>
          <p:cNvPr id="7" name="Text 5"/>
          <p:cNvSpPr/>
          <p:nvPr/>
        </p:nvSpPr>
        <p:spPr>
          <a:xfrm>
            <a:off x="109728" y="4800600"/>
            <a:ext cx="9034272" cy="320040"/>
          </a:xfrm>
          <a:prstGeom prst="rect">
            <a:avLst/>
          </a:prstGeom>
          <a:noFill/>
          <a:ln/>
        </p:spPr>
        <p:txBody>
          <a:bodyPr wrap="square" lIns="0" tIns="0" rIns="0" bIns="0" rtlCol="0" anchor="ctr"/>
          <a:lstStyle/>
          <a:p>
            <a:pPr marL="0" indent="0" algn="r">
              <a:buNone/>
            </a:pPr>
            <a:r>
              <a:rPr lang="en-US" sz="800" dirty="0">
                <a:solidFill>
                  <a:srgbClr val="64748B"/>
                </a:solidFill>
              </a:rPr>
              <a:t>ProTech Devices Asia  |  AIM Capstone 2025</a:t>
            </a:r>
            <a:endParaRPr lang="en-US" sz="800" dirty="0"/>
          </a:p>
        </p:txBody>
      </p:sp>
      <p:sp>
        <p:nvSpPr>
          <p:cNvPr id="8" name="Shape 6"/>
          <p:cNvSpPr/>
          <p:nvPr/>
        </p:nvSpPr>
        <p:spPr>
          <a:xfrm>
            <a:off x="201168" y="658368"/>
            <a:ext cx="5120640" cy="1554480"/>
          </a:xfrm>
          <a:prstGeom prst="rect">
            <a:avLst/>
          </a:prstGeom>
          <a:solidFill>
            <a:srgbClr val="EFF6FF"/>
          </a:solidFill>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01168" y="658368"/>
            <a:ext cx="5120640" cy="64008"/>
          </a:xfrm>
          <a:prstGeom prst="rect">
            <a:avLst/>
          </a:prstGeom>
          <a:solidFill>
            <a:srgbClr val="2563EB"/>
          </a:solidFill>
          <a:ln/>
        </p:spPr>
        <p:txBody>
          <a:bodyPr/>
          <a:lstStyle/>
          <a:p>
            <a:endParaRPr lang="en-US"/>
          </a:p>
        </p:txBody>
      </p:sp>
      <p:sp>
        <p:nvSpPr>
          <p:cNvPr id="10" name="Text 8"/>
          <p:cNvSpPr/>
          <p:nvPr/>
        </p:nvSpPr>
        <p:spPr>
          <a:xfrm>
            <a:off x="320040" y="731520"/>
            <a:ext cx="4846320" cy="256032"/>
          </a:xfrm>
          <a:prstGeom prst="rect">
            <a:avLst/>
          </a:prstGeom>
          <a:noFill/>
          <a:ln/>
        </p:spPr>
        <p:txBody>
          <a:bodyPr wrap="square" lIns="0" tIns="0" rIns="0" bIns="0" rtlCol="0" anchor="ctr"/>
          <a:lstStyle/>
          <a:p>
            <a:pPr marL="0" indent="0">
              <a:buNone/>
            </a:pPr>
            <a:r>
              <a:rPr lang="en-US" sz="950" b="1" kern="0" spc="50" dirty="0">
                <a:solidFill>
                  <a:srgbClr val="1B3A6B"/>
                </a:solidFill>
              </a:rPr>
              <a:t>SELECTED DATASET: IEEE-CIS FRAUD DETECTION</a:t>
            </a:r>
            <a:endParaRPr lang="en-US" sz="950" dirty="0"/>
          </a:p>
        </p:txBody>
      </p:sp>
      <p:sp>
        <p:nvSpPr>
          <p:cNvPr id="11" name="Text 9"/>
          <p:cNvSpPr/>
          <p:nvPr/>
        </p:nvSpPr>
        <p:spPr>
          <a:xfrm>
            <a:off x="347472" y="1051560"/>
            <a:ext cx="1188720" cy="384048"/>
          </a:xfrm>
          <a:prstGeom prst="rect">
            <a:avLst/>
          </a:prstGeom>
          <a:noFill/>
          <a:ln/>
        </p:spPr>
        <p:txBody>
          <a:bodyPr wrap="square" lIns="0" tIns="0" rIns="0" bIns="0" rtlCol="0" anchor="ctr"/>
          <a:lstStyle/>
          <a:p>
            <a:pPr marL="0" indent="0" algn="ctr">
              <a:buNone/>
            </a:pPr>
            <a:r>
              <a:rPr lang="en-US" sz="1800" b="1" dirty="0">
                <a:solidFill>
                  <a:srgbClr val="2563EB"/>
                </a:solidFill>
              </a:rPr>
              <a:t>590,540</a:t>
            </a:r>
            <a:endParaRPr lang="en-US" sz="1800" dirty="0"/>
          </a:p>
        </p:txBody>
      </p:sp>
      <p:sp>
        <p:nvSpPr>
          <p:cNvPr id="12" name="Text 10"/>
          <p:cNvSpPr/>
          <p:nvPr/>
        </p:nvSpPr>
        <p:spPr>
          <a:xfrm>
            <a:off x="347472" y="1435608"/>
            <a:ext cx="1188720" cy="228600"/>
          </a:xfrm>
          <a:prstGeom prst="rect">
            <a:avLst/>
          </a:prstGeom>
          <a:noFill/>
          <a:ln/>
        </p:spPr>
        <p:txBody>
          <a:bodyPr wrap="square" lIns="0" tIns="0" rIns="0" bIns="0" rtlCol="0" anchor="ctr"/>
          <a:lstStyle/>
          <a:p>
            <a:pPr marL="0" indent="0" algn="ctr">
              <a:buNone/>
            </a:pPr>
            <a:r>
              <a:rPr lang="en-US" sz="750" dirty="0">
                <a:solidFill>
                  <a:srgbClr val="64748B"/>
                </a:solidFill>
              </a:rPr>
              <a:t>Transaction records</a:t>
            </a:r>
            <a:endParaRPr lang="en-US" sz="750" dirty="0"/>
          </a:p>
        </p:txBody>
      </p:sp>
      <p:sp>
        <p:nvSpPr>
          <p:cNvPr id="13" name="Text 11"/>
          <p:cNvSpPr/>
          <p:nvPr/>
        </p:nvSpPr>
        <p:spPr>
          <a:xfrm>
            <a:off x="1581912" y="1051560"/>
            <a:ext cx="1188720" cy="384048"/>
          </a:xfrm>
          <a:prstGeom prst="rect">
            <a:avLst/>
          </a:prstGeom>
          <a:noFill/>
          <a:ln/>
        </p:spPr>
        <p:txBody>
          <a:bodyPr wrap="square" lIns="0" tIns="0" rIns="0" bIns="0" rtlCol="0" anchor="ctr"/>
          <a:lstStyle/>
          <a:p>
            <a:pPr marL="0" indent="0" algn="ctr">
              <a:buNone/>
            </a:pPr>
            <a:r>
              <a:rPr lang="en-US" sz="1800" b="1" dirty="0">
                <a:solidFill>
                  <a:srgbClr val="2563EB"/>
                </a:solidFill>
              </a:rPr>
              <a:t>394</a:t>
            </a:r>
            <a:endParaRPr lang="en-US" sz="1800" dirty="0"/>
          </a:p>
        </p:txBody>
      </p:sp>
      <p:sp>
        <p:nvSpPr>
          <p:cNvPr id="14" name="Text 12"/>
          <p:cNvSpPr/>
          <p:nvPr/>
        </p:nvSpPr>
        <p:spPr>
          <a:xfrm>
            <a:off x="1581912" y="1435608"/>
            <a:ext cx="1188720" cy="228600"/>
          </a:xfrm>
          <a:prstGeom prst="rect">
            <a:avLst/>
          </a:prstGeom>
          <a:noFill/>
          <a:ln/>
        </p:spPr>
        <p:txBody>
          <a:bodyPr wrap="square" lIns="0" tIns="0" rIns="0" bIns="0" rtlCol="0" anchor="ctr"/>
          <a:lstStyle/>
          <a:p>
            <a:pPr marL="0" indent="0" algn="ctr">
              <a:buNone/>
            </a:pPr>
            <a:r>
              <a:rPr lang="en-US" sz="750" dirty="0">
                <a:solidFill>
                  <a:srgbClr val="64748B"/>
                </a:solidFill>
              </a:rPr>
              <a:t>Raw features</a:t>
            </a:r>
            <a:endParaRPr lang="en-US" sz="750" dirty="0"/>
          </a:p>
        </p:txBody>
      </p:sp>
      <p:sp>
        <p:nvSpPr>
          <p:cNvPr id="15" name="Text 13"/>
          <p:cNvSpPr/>
          <p:nvPr/>
        </p:nvSpPr>
        <p:spPr>
          <a:xfrm>
            <a:off x="2816352" y="1051560"/>
            <a:ext cx="1188720" cy="384048"/>
          </a:xfrm>
          <a:prstGeom prst="rect">
            <a:avLst/>
          </a:prstGeom>
          <a:noFill/>
          <a:ln/>
        </p:spPr>
        <p:txBody>
          <a:bodyPr wrap="square" lIns="0" tIns="0" rIns="0" bIns="0" rtlCol="0" anchor="ctr"/>
          <a:lstStyle/>
          <a:p>
            <a:pPr marL="0" indent="0" algn="ctr">
              <a:buNone/>
            </a:pPr>
            <a:r>
              <a:rPr lang="en-US" sz="1800" b="1" dirty="0">
                <a:solidFill>
                  <a:srgbClr val="2563EB"/>
                </a:solidFill>
              </a:rPr>
              <a:t>3.5%</a:t>
            </a:r>
            <a:endParaRPr lang="en-US" sz="1800" dirty="0"/>
          </a:p>
        </p:txBody>
      </p:sp>
      <p:sp>
        <p:nvSpPr>
          <p:cNvPr id="16" name="Text 14"/>
          <p:cNvSpPr/>
          <p:nvPr/>
        </p:nvSpPr>
        <p:spPr>
          <a:xfrm>
            <a:off x="2816352" y="1435608"/>
            <a:ext cx="1188720" cy="228600"/>
          </a:xfrm>
          <a:prstGeom prst="rect">
            <a:avLst/>
          </a:prstGeom>
          <a:noFill/>
          <a:ln/>
        </p:spPr>
        <p:txBody>
          <a:bodyPr wrap="square" lIns="0" tIns="0" rIns="0" bIns="0" rtlCol="0" anchor="ctr"/>
          <a:lstStyle/>
          <a:p>
            <a:pPr marL="0" indent="0" algn="ctr">
              <a:buNone/>
            </a:pPr>
            <a:r>
              <a:rPr lang="en-US" sz="750" dirty="0">
                <a:solidFill>
                  <a:srgbClr val="64748B"/>
                </a:solidFill>
              </a:rPr>
              <a:t>Fraud rate</a:t>
            </a:r>
            <a:endParaRPr lang="en-US" sz="750" dirty="0"/>
          </a:p>
        </p:txBody>
      </p:sp>
      <p:sp>
        <p:nvSpPr>
          <p:cNvPr id="17" name="Text 15"/>
          <p:cNvSpPr/>
          <p:nvPr/>
        </p:nvSpPr>
        <p:spPr>
          <a:xfrm>
            <a:off x="4050792" y="1051560"/>
            <a:ext cx="1188720" cy="384048"/>
          </a:xfrm>
          <a:prstGeom prst="rect">
            <a:avLst/>
          </a:prstGeom>
          <a:noFill/>
          <a:ln/>
        </p:spPr>
        <p:txBody>
          <a:bodyPr wrap="square" lIns="0" tIns="0" rIns="0" bIns="0" rtlCol="0" anchor="ctr"/>
          <a:lstStyle/>
          <a:p>
            <a:pPr marL="0" indent="0" algn="ctr">
              <a:buNone/>
            </a:pPr>
            <a:r>
              <a:rPr lang="en-US" sz="1800" b="1" dirty="0">
                <a:solidFill>
                  <a:srgbClr val="2563EB"/>
                </a:solidFill>
              </a:rPr>
              <a:t>6 months</a:t>
            </a:r>
            <a:endParaRPr lang="en-US" sz="1800" dirty="0"/>
          </a:p>
        </p:txBody>
      </p:sp>
      <p:sp>
        <p:nvSpPr>
          <p:cNvPr id="18" name="Text 16"/>
          <p:cNvSpPr/>
          <p:nvPr/>
        </p:nvSpPr>
        <p:spPr>
          <a:xfrm>
            <a:off x="4050792" y="1435608"/>
            <a:ext cx="1188720" cy="228600"/>
          </a:xfrm>
          <a:prstGeom prst="rect">
            <a:avLst/>
          </a:prstGeom>
          <a:noFill/>
          <a:ln/>
        </p:spPr>
        <p:txBody>
          <a:bodyPr wrap="square" lIns="0" tIns="0" rIns="0" bIns="0" rtlCol="0" anchor="ctr"/>
          <a:lstStyle/>
          <a:p>
            <a:pPr marL="0" indent="0" algn="ctr">
              <a:buNone/>
            </a:pPr>
            <a:r>
              <a:rPr lang="en-US" sz="750" dirty="0">
                <a:solidFill>
                  <a:srgbClr val="64748B"/>
                </a:solidFill>
              </a:rPr>
              <a:t>Data window</a:t>
            </a:r>
            <a:endParaRPr lang="en-US" sz="750" dirty="0"/>
          </a:p>
        </p:txBody>
      </p:sp>
      <p:sp>
        <p:nvSpPr>
          <p:cNvPr id="19" name="Text 17"/>
          <p:cNvSpPr/>
          <p:nvPr/>
        </p:nvSpPr>
        <p:spPr>
          <a:xfrm>
            <a:off x="5486400" y="685800"/>
            <a:ext cx="3383280" cy="256032"/>
          </a:xfrm>
          <a:prstGeom prst="rect">
            <a:avLst/>
          </a:prstGeom>
          <a:noFill/>
          <a:ln/>
        </p:spPr>
        <p:txBody>
          <a:bodyPr wrap="square" lIns="0" tIns="0" rIns="0" bIns="0" rtlCol="0" anchor="ctr"/>
          <a:lstStyle/>
          <a:p>
            <a:pPr marL="0" indent="0">
              <a:buNone/>
            </a:pPr>
            <a:r>
              <a:rPr lang="en-US" sz="900" b="1" kern="0" spc="50" dirty="0">
                <a:solidFill>
                  <a:srgbClr val="1B3A6B"/>
                </a:solidFill>
              </a:rPr>
              <a:t>REJECTED ALTERNATIVES</a:t>
            </a:r>
            <a:endParaRPr lang="en-US" sz="900" dirty="0"/>
          </a:p>
        </p:txBody>
      </p:sp>
      <p:sp>
        <p:nvSpPr>
          <p:cNvPr id="20" name="Shape 18"/>
          <p:cNvSpPr/>
          <p:nvPr/>
        </p:nvSpPr>
        <p:spPr>
          <a:xfrm>
            <a:off x="5440680" y="1005840"/>
            <a:ext cx="3474720" cy="685800"/>
          </a:xfrm>
          <a:prstGeom prst="rect">
            <a:avLst/>
          </a:prstGeom>
          <a:solidFill>
            <a:srgbClr val="F1F5F9"/>
          </a:solidFill>
          <a:ln/>
        </p:spPr>
        <p:txBody>
          <a:bodyPr/>
          <a:lstStyle/>
          <a:p>
            <a:endParaRPr lang="en-US"/>
          </a:p>
        </p:txBody>
      </p:sp>
      <p:sp>
        <p:nvSpPr>
          <p:cNvPr id="21" name="Shape 19"/>
          <p:cNvSpPr/>
          <p:nvPr/>
        </p:nvSpPr>
        <p:spPr>
          <a:xfrm>
            <a:off x="5440680" y="1005840"/>
            <a:ext cx="54864" cy="685800"/>
          </a:xfrm>
          <a:prstGeom prst="rect">
            <a:avLst/>
          </a:prstGeom>
          <a:solidFill>
            <a:srgbClr val="DC2626"/>
          </a:solidFill>
          <a:ln/>
        </p:spPr>
        <p:txBody>
          <a:bodyPr/>
          <a:lstStyle/>
          <a:p>
            <a:endParaRPr lang="en-US"/>
          </a:p>
        </p:txBody>
      </p:sp>
      <p:sp>
        <p:nvSpPr>
          <p:cNvPr id="22" name="Text 20"/>
          <p:cNvSpPr/>
          <p:nvPr/>
        </p:nvSpPr>
        <p:spPr>
          <a:xfrm>
            <a:off x="5559552" y="1042416"/>
            <a:ext cx="3291840" cy="228600"/>
          </a:xfrm>
          <a:prstGeom prst="rect">
            <a:avLst/>
          </a:prstGeom>
          <a:noFill/>
          <a:ln/>
        </p:spPr>
        <p:txBody>
          <a:bodyPr wrap="square" lIns="0" tIns="0" rIns="0" bIns="0" rtlCol="0" anchor="ctr"/>
          <a:lstStyle/>
          <a:p>
            <a:pPr marL="0" indent="0">
              <a:buNone/>
            </a:pPr>
            <a:r>
              <a:rPr lang="en-US" sz="900" b="1" dirty="0">
                <a:solidFill>
                  <a:srgbClr val="1E293B"/>
                </a:solidFill>
              </a:rPr>
              <a:t>✕  PaySim (Synthetic)</a:t>
            </a:r>
            <a:endParaRPr lang="en-US" sz="900" dirty="0"/>
          </a:p>
        </p:txBody>
      </p:sp>
      <p:sp>
        <p:nvSpPr>
          <p:cNvPr id="23" name="Text 21"/>
          <p:cNvSpPr/>
          <p:nvPr/>
        </p:nvSpPr>
        <p:spPr>
          <a:xfrm>
            <a:off x="5559552" y="1298448"/>
            <a:ext cx="3291840" cy="329184"/>
          </a:xfrm>
          <a:prstGeom prst="rect">
            <a:avLst/>
          </a:prstGeom>
          <a:noFill/>
          <a:ln/>
        </p:spPr>
        <p:txBody>
          <a:bodyPr wrap="square" lIns="0" tIns="0" rIns="0" bIns="0" rtlCol="0" anchor="ctr"/>
          <a:lstStyle/>
          <a:p>
            <a:pPr marL="0" indent="0">
              <a:buNone/>
            </a:pPr>
            <a:r>
              <a:rPr lang="en-US" sz="850" dirty="0">
                <a:solidFill>
                  <a:srgbClr val="64748B"/>
                </a:solidFill>
              </a:rPr>
              <a:t>Only 11 features, insufficient for InsurTech signal engineering</a:t>
            </a:r>
            <a:endParaRPr lang="en-US" sz="850" dirty="0"/>
          </a:p>
        </p:txBody>
      </p:sp>
      <p:sp>
        <p:nvSpPr>
          <p:cNvPr id="24" name="Shape 22"/>
          <p:cNvSpPr/>
          <p:nvPr/>
        </p:nvSpPr>
        <p:spPr>
          <a:xfrm>
            <a:off x="5440680" y="1783080"/>
            <a:ext cx="3474720" cy="685800"/>
          </a:xfrm>
          <a:prstGeom prst="rect">
            <a:avLst/>
          </a:prstGeom>
          <a:solidFill>
            <a:srgbClr val="F1F5F9"/>
          </a:solidFill>
          <a:ln/>
        </p:spPr>
        <p:txBody>
          <a:bodyPr/>
          <a:lstStyle/>
          <a:p>
            <a:endParaRPr lang="en-US"/>
          </a:p>
        </p:txBody>
      </p:sp>
      <p:sp>
        <p:nvSpPr>
          <p:cNvPr id="25" name="Shape 23"/>
          <p:cNvSpPr/>
          <p:nvPr/>
        </p:nvSpPr>
        <p:spPr>
          <a:xfrm>
            <a:off x="5440680" y="1783080"/>
            <a:ext cx="54864" cy="685800"/>
          </a:xfrm>
          <a:prstGeom prst="rect">
            <a:avLst/>
          </a:prstGeom>
          <a:solidFill>
            <a:srgbClr val="DC2626"/>
          </a:solidFill>
          <a:ln/>
        </p:spPr>
        <p:txBody>
          <a:bodyPr/>
          <a:lstStyle/>
          <a:p>
            <a:endParaRPr lang="en-US"/>
          </a:p>
        </p:txBody>
      </p:sp>
      <p:sp>
        <p:nvSpPr>
          <p:cNvPr id="26" name="Text 24"/>
          <p:cNvSpPr/>
          <p:nvPr/>
        </p:nvSpPr>
        <p:spPr>
          <a:xfrm>
            <a:off x="5559552" y="1819656"/>
            <a:ext cx="3291840" cy="228600"/>
          </a:xfrm>
          <a:prstGeom prst="rect">
            <a:avLst/>
          </a:prstGeom>
          <a:noFill/>
          <a:ln/>
        </p:spPr>
        <p:txBody>
          <a:bodyPr wrap="square" lIns="0" tIns="0" rIns="0" bIns="0" rtlCol="0" anchor="ctr"/>
          <a:lstStyle/>
          <a:p>
            <a:pPr marL="0" indent="0">
              <a:buNone/>
            </a:pPr>
            <a:r>
              <a:rPr lang="en-US" sz="900" b="1" dirty="0">
                <a:solidFill>
                  <a:srgbClr val="1E293B"/>
                </a:solidFill>
              </a:rPr>
              <a:t>✕  ULB Credit Card Fraud</a:t>
            </a:r>
            <a:endParaRPr lang="en-US" sz="900" dirty="0"/>
          </a:p>
        </p:txBody>
      </p:sp>
      <p:sp>
        <p:nvSpPr>
          <p:cNvPr id="27" name="Text 25"/>
          <p:cNvSpPr/>
          <p:nvPr/>
        </p:nvSpPr>
        <p:spPr>
          <a:xfrm>
            <a:off x="5559552" y="2075688"/>
            <a:ext cx="3291840" cy="329184"/>
          </a:xfrm>
          <a:prstGeom prst="rect">
            <a:avLst/>
          </a:prstGeom>
          <a:noFill/>
          <a:ln/>
        </p:spPr>
        <p:txBody>
          <a:bodyPr wrap="square" lIns="0" tIns="0" rIns="0" bIns="0" rtlCol="0" anchor="ctr"/>
          <a:lstStyle/>
          <a:p>
            <a:pPr marL="0" indent="0">
              <a:buNone/>
            </a:pPr>
            <a:r>
              <a:rPr lang="en-US" sz="850" dirty="0">
                <a:solidFill>
                  <a:srgbClr val="64748B"/>
                </a:solidFill>
              </a:rPr>
              <a:t>All features PCA-anonymised, cannot map to insurance domain</a:t>
            </a:r>
            <a:endParaRPr lang="en-US" sz="850" dirty="0"/>
          </a:p>
        </p:txBody>
      </p:sp>
      <p:sp>
        <p:nvSpPr>
          <p:cNvPr id="28" name="Text 26"/>
          <p:cNvSpPr/>
          <p:nvPr/>
        </p:nvSpPr>
        <p:spPr>
          <a:xfrm>
            <a:off x="201168" y="2377440"/>
            <a:ext cx="8686800" cy="228600"/>
          </a:xfrm>
          <a:prstGeom prst="rect">
            <a:avLst/>
          </a:prstGeom>
          <a:noFill/>
          <a:ln/>
        </p:spPr>
        <p:txBody>
          <a:bodyPr wrap="square" lIns="0" tIns="0" rIns="0" bIns="0" rtlCol="0" anchor="ctr"/>
          <a:lstStyle/>
          <a:p>
            <a:pPr marL="0" indent="0">
              <a:buNone/>
            </a:pPr>
            <a:r>
              <a:rPr lang="en-US" sz="850" b="1" kern="0" spc="50" dirty="0">
                <a:solidFill>
                  <a:srgbClr val="1B3A6B"/>
                </a:solidFill>
              </a:rPr>
              <a:t>INSURTECH FEATURE ADAPTATION, HOW IEEE-CIS MAPS TO DEVICE INSURANCE</a:t>
            </a:r>
            <a:endParaRPr lang="en-US" sz="850" dirty="0"/>
          </a:p>
        </p:txBody>
      </p:sp>
      <p:sp>
        <p:nvSpPr>
          <p:cNvPr id="29" name="Shape 27"/>
          <p:cNvSpPr/>
          <p:nvPr/>
        </p:nvSpPr>
        <p:spPr>
          <a:xfrm>
            <a:off x="201168" y="2651760"/>
            <a:ext cx="2011680" cy="274320"/>
          </a:xfrm>
          <a:prstGeom prst="rect">
            <a:avLst/>
          </a:prstGeom>
          <a:solidFill>
            <a:srgbClr val="1B3A6B"/>
          </a:solidFill>
          <a:ln/>
        </p:spPr>
        <p:txBody>
          <a:bodyPr/>
          <a:lstStyle/>
          <a:p>
            <a:endParaRPr lang="en-US"/>
          </a:p>
        </p:txBody>
      </p:sp>
      <p:sp>
        <p:nvSpPr>
          <p:cNvPr id="30" name="Text 28"/>
          <p:cNvSpPr/>
          <p:nvPr/>
        </p:nvSpPr>
        <p:spPr>
          <a:xfrm>
            <a:off x="246888" y="2651760"/>
            <a:ext cx="1920240" cy="274320"/>
          </a:xfrm>
          <a:prstGeom prst="rect">
            <a:avLst/>
          </a:prstGeom>
          <a:noFill/>
          <a:ln/>
        </p:spPr>
        <p:txBody>
          <a:bodyPr wrap="square" lIns="0" tIns="0" rIns="0" bIns="0" rtlCol="0" anchor="ctr"/>
          <a:lstStyle/>
          <a:p>
            <a:pPr marL="0" indent="0">
              <a:buNone/>
            </a:pPr>
            <a:r>
              <a:rPr lang="en-US" sz="800" b="1" dirty="0">
                <a:solidFill>
                  <a:srgbClr val="FFFFFF"/>
                </a:solidFill>
              </a:rPr>
              <a:t>IEEE-CIS Feature</a:t>
            </a:r>
            <a:endParaRPr lang="en-US" sz="800" dirty="0"/>
          </a:p>
        </p:txBody>
      </p:sp>
      <p:sp>
        <p:nvSpPr>
          <p:cNvPr id="31" name="Shape 29"/>
          <p:cNvSpPr/>
          <p:nvPr/>
        </p:nvSpPr>
        <p:spPr>
          <a:xfrm>
            <a:off x="2212848" y="2651760"/>
            <a:ext cx="2286000" cy="274320"/>
          </a:xfrm>
          <a:prstGeom prst="rect">
            <a:avLst/>
          </a:prstGeom>
          <a:solidFill>
            <a:srgbClr val="1B3A6B"/>
          </a:solidFill>
          <a:ln/>
        </p:spPr>
        <p:txBody>
          <a:bodyPr/>
          <a:lstStyle/>
          <a:p>
            <a:endParaRPr lang="en-US"/>
          </a:p>
        </p:txBody>
      </p:sp>
      <p:sp>
        <p:nvSpPr>
          <p:cNvPr id="32" name="Text 30"/>
          <p:cNvSpPr/>
          <p:nvPr/>
        </p:nvSpPr>
        <p:spPr>
          <a:xfrm>
            <a:off x="2258568" y="2651760"/>
            <a:ext cx="2194560" cy="274320"/>
          </a:xfrm>
          <a:prstGeom prst="rect">
            <a:avLst/>
          </a:prstGeom>
          <a:noFill/>
          <a:ln/>
        </p:spPr>
        <p:txBody>
          <a:bodyPr wrap="square" lIns="0" tIns="0" rIns="0" bIns="0" rtlCol="0" anchor="ctr"/>
          <a:lstStyle/>
          <a:p>
            <a:pPr marL="0" indent="0">
              <a:buNone/>
            </a:pPr>
            <a:r>
              <a:rPr lang="en-US" sz="800" b="1" dirty="0">
                <a:solidFill>
                  <a:srgbClr val="FFFFFF"/>
                </a:solidFill>
              </a:rPr>
              <a:t>Insurance Interpretation</a:t>
            </a:r>
            <a:endParaRPr lang="en-US" sz="800" dirty="0"/>
          </a:p>
        </p:txBody>
      </p:sp>
      <p:sp>
        <p:nvSpPr>
          <p:cNvPr id="33" name="Shape 31"/>
          <p:cNvSpPr/>
          <p:nvPr/>
        </p:nvSpPr>
        <p:spPr>
          <a:xfrm>
            <a:off x="4498848" y="2651760"/>
            <a:ext cx="4389120" cy="274320"/>
          </a:xfrm>
          <a:prstGeom prst="rect">
            <a:avLst/>
          </a:prstGeom>
          <a:solidFill>
            <a:srgbClr val="1B3A6B"/>
          </a:solidFill>
          <a:ln/>
        </p:spPr>
        <p:txBody>
          <a:bodyPr/>
          <a:lstStyle/>
          <a:p>
            <a:endParaRPr lang="en-US"/>
          </a:p>
        </p:txBody>
      </p:sp>
      <p:sp>
        <p:nvSpPr>
          <p:cNvPr id="34" name="Text 32"/>
          <p:cNvSpPr/>
          <p:nvPr/>
        </p:nvSpPr>
        <p:spPr>
          <a:xfrm>
            <a:off x="4544568" y="2651760"/>
            <a:ext cx="4297680" cy="274320"/>
          </a:xfrm>
          <a:prstGeom prst="rect">
            <a:avLst/>
          </a:prstGeom>
          <a:noFill/>
          <a:ln/>
        </p:spPr>
        <p:txBody>
          <a:bodyPr wrap="square" lIns="0" tIns="0" rIns="0" bIns="0" rtlCol="0" anchor="ctr"/>
          <a:lstStyle/>
          <a:p>
            <a:pPr marL="0" indent="0">
              <a:buNone/>
            </a:pPr>
            <a:r>
              <a:rPr lang="en-US" sz="800" b="1" dirty="0">
                <a:solidFill>
                  <a:srgbClr val="FFFFFF"/>
                </a:solidFill>
              </a:rPr>
              <a:t>Fraud Signal Logic</a:t>
            </a:r>
            <a:endParaRPr lang="en-US" sz="800" dirty="0"/>
          </a:p>
        </p:txBody>
      </p:sp>
      <p:sp>
        <p:nvSpPr>
          <p:cNvPr id="35" name="Shape 33"/>
          <p:cNvSpPr/>
          <p:nvPr/>
        </p:nvSpPr>
        <p:spPr>
          <a:xfrm>
            <a:off x="201168" y="2944368"/>
            <a:ext cx="2011680" cy="292608"/>
          </a:xfrm>
          <a:prstGeom prst="rect">
            <a:avLst/>
          </a:prstGeom>
          <a:solidFill>
            <a:srgbClr val="FFFFFF"/>
          </a:solidFill>
          <a:ln/>
        </p:spPr>
        <p:txBody>
          <a:bodyPr/>
          <a:lstStyle/>
          <a:p>
            <a:endParaRPr lang="en-US"/>
          </a:p>
        </p:txBody>
      </p:sp>
      <p:sp>
        <p:nvSpPr>
          <p:cNvPr id="36" name="Text 34"/>
          <p:cNvSpPr/>
          <p:nvPr/>
        </p:nvSpPr>
        <p:spPr>
          <a:xfrm>
            <a:off x="246888" y="2944368"/>
            <a:ext cx="1920240" cy="292608"/>
          </a:xfrm>
          <a:prstGeom prst="rect">
            <a:avLst/>
          </a:prstGeom>
          <a:noFill/>
          <a:ln/>
        </p:spPr>
        <p:txBody>
          <a:bodyPr wrap="square" lIns="0" tIns="0" rIns="0" bIns="0" rtlCol="0" anchor="ctr"/>
          <a:lstStyle/>
          <a:p>
            <a:pPr marL="0" indent="0">
              <a:buNone/>
            </a:pPr>
            <a:r>
              <a:rPr lang="en-US" sz="750" dirty="0">
                <a:solidFill>
                  <a:srgbClr val="1E293B"/>
                </a:solidFill>
              </a:rPr>
              <a:t>TransactionAmt</a:t>
            </a:r>
            <a:endParaRPr lang="en-US" sz="750" dirty="0"/>
          </a:p>
        </p:txBody>
      </p:sp>
      <p:sp>
        <p:nvSpPr>
          <p:cNvPr id="37" name="Shape 35"/>
          <p:cNvSpPr/>
          <p:nvPr/>
        </p:nvSpPr>
        <p:spPr>
          <a:xfrm>
            <a:off x="2212848" y="2944368"/>
            <a:ext cx="2286000" cy="292608"/>
          </a:xfrm>
          <a:prstGeom prst="rect">
            <a:avLst/>
          </a:prstGeom>
          <a:solidFill>
            <a:srgbClr val="FFFFFF"/>
          </a:solidFill>
          <a:ln/>
        </p:spPr>
        <p:txBody>
          <a:bodyPr/>
          <a:lstStyle/>
          <a:p>
            <a:endParaRPr lang="en-US"/>
          </a:p>
        </p:txBody>
      </p:sp>
      <p:sp>
        <p:nvSpPr>
          <p:cNvPr id="38" name="Text 36"/>
          <p:cNvSpPr/>
          <p:nvPr/>
        </p:nvSpPr>
        <p:spPr>
          <a:xfrm>
            <a:off x="2258568" y="2944368"/>
            <a:ext cx="2194560" cy="292608"/>
          </a:xfrm>
          <a:prstGeom prst="rect">
            <a:avLst/>
          </a:prstGeom>
          <a:noFill/>
          <a:ln/>
        </p:spPr>
        <p:txBody>
          <a:bodyPr wrap="square" lIns="0" tIns="0" rIns="0" bIns="0" rtlCol="0" anchor="ctr"/>
          <a:lstStyle/>
          <a:p>
            <a:pPr marL="0" indent="0">
              <a:buNone/>
            </a:pPr>
            <a:r>
              <a:rPr lang="en-US" sz="750" dirty="0">
                <a:solidFill>
                  <a:srgbClr val="1E293B"/>
                </a:solidFill>
              </a:rPr>
              <a:t>Claim Amount (USD)</a:t>
            </a:r>
            <a:endParaRPr lang="en-US" sz="750" dirty="0"/>
          </a:p>
        </p:txBody>
      </p:sp>
      <p:sp>
        <p:nvSpPr>
          <p:cNvPr id="39" name="Shape 37"/>
          <p:cNvSpPr/>
          <p:nvPr/>
        </p:nvSpPr>
        <p:spPr>
          <a:xfrm>
            <a:off x="4498848" y="2944368"/>
            <a:ext cx="4389120" cy="292608"/>
          </a:xfrm>
          <a:prstGeom prst="rect">
            <a:avLst/>
          </a:prstGeom>
          <a:solidFill>
            <a:srgbClr val="FFFFFF"/>
          </a:solidFill>
          <a:ln/>
        </p:spPr>
        <p:txBody>
          <a:bodyPr/>
          <a:lstStyle/>
          <a:p>
            <a:endParaRPr lang="en-US"/>
          </a:p>
        </p:txBody>
      </p:sp>
      <p:sp>
        <p:nvSpPr>
          <p:cNvPr id="40" name="Text 38"/>
          <p:cNvSpPr/>
          <p:nvPr/>
        </p:nvSpPr>
        <p:spPr>
          <a:xfrm>
            <a:off x="4544568" y="2944368"/>
            <a:ext cx="4297680" cy="292608"/>
          </a:xfrm>
          <a:prstGeom prst="rect">
            <a:avLst/>
          </a:prstGeom>
          <a:noFill/>
          <a:ln/>
        </p:spPr>
        <p:txBody>
          <a:bodyPr wrap="square" lIns="0" tIns="0" rIns="0" bIns="0" rtlCol="0" anchor="ctr"/>
          <a:lstStyle/>
          <a:p>
            <a:pPr marL="0" indent="0">
              <a:buNone/>
            </a:pPr>
            <a:r>
              <a:rPr lang="en-US" sz="750" dirty="0">
                <a:solidFill>
                  <a:srgbClr val="1E293B"/>
                </a:solidFill>
              </a:rPr>
              <a:t>High values relative to device category → value arbitrage signal</a:t>
            </a:r>
            <a:endParaRPr lang="en-US" sz="750" dirty="0"/>
          </a:p>
        </p:txBody>
      </p:sp>
      <p:sp>
        <p:nvSpPr>
          <p:cNvPr id="41" name="Shape 39"/>
          <p:cNvSpPr/>
          <p:nvPr/>
        </p:nvSpPr>
        <p:spPr>
          <a:xfrm>
            <a:off x="201168" y="3236976"/>
            <a:ext cx="2011680" cy="292608"/>
          </a:xfrm>
          <a:prstGeom prst="rect">
            <a:avLst/>
          </a:prstGeom>
          <a:solidFill>
            <a:srgbClr val="F1F5F9"/>
          </a:solidFill>
          <a:ln/>
        </p:spPr>
        <p:txBody>
          <a:bodyPr/>
          <a:lstStyle/>
          <a:p>
            <a:endParaRPr lang="en-US"/>
          </a:p>
        </p:txBody>
      </p:sp>
      <p:sp>
        <p:nvSpPr>
          <p:cNvPr id="42" name="Text 40"/>
          <p:cNvSpPr/>
          <p:nvPr/>
        </p:nvSpPr>
        <p:spPr>
          <a:xfrm>
            <a:off x="246888" y="3236976"/>
            <a:ext cx="1920240" cy="292608"/>
          </a:xfrm>
          <a:prstGeom prst="rect">
            <a:avLst/>
          </a:prstGeom>
          <a:noFill/>
          <a:ln/>
        </p:spPr>
        <p:txBody>
          <a:bodyPr wrap="square" lIns="0" tIns="0" rIns="0" bIns="0" rtlCol="0" anchor="ctr"/>
          <a:lstStyle/>
          <a:p>
            <a:pPr marL="0" indent="0">
              <a:buNone/>
            </a:pPr>
            <a:r>
              <a:rPr lang="en-US" sz="750" dirty="0">
                <a:solidFill>
                  <a:srgbClr val="1E293B"/>
                </a:solidFill>
              </a:rPr>
              <a:t>TransactionDT</a:t>
            </a:r>
            <a:endParaRPr lang="en-US" sz="750" dirty="0"/>
          </a:p>
        </p:txBody>
      </p:sp>
      <p:sp>
        <p:nvSpPr>
          <p:cNvPr id="43" name="Shape 41"/>
          <p:cNvSpPr/>
          <p:nvPr/>
        </p:nvSpPr>
        <p:spPr>
          <a:xfrm>
            <a:off x="2212848" y="3236976"/>
            <a:ext cx="2286000" cy="292608"/>
          </a:xfrm>
          <a:prstGeom prst="rect">
            <a:avLst/>
          </a:prstGeom>
          <a:solidFill>
            <a:srgbClr val="F1F5F9"/>
          </a:solidFill>
          <a:ln/>
        </p:spPr>
        <p:txBody>
          <a:bodyPr/>
          <a:lstStyle/>
          <a:p>
            <a:endParaRPr lang="en-US"/>
          </a:p>
        </p:txBody>
      </p:sp>
      <p:sp>
        <p:nvSpPr>
          <p:cNvPr id="44" name="Text 42"/>
          <p:cNvSpPr/>
          <p:nvPr/>
        </p:nvSpPr>
        <p:spPr>
          <a:xfrm>
            <a:off x="2258568" y="3236976"/>
            <a:ext cx="2194560" cy="292608"/>
          </a:xfrm>
          <a:prstGeom prst="rect">
            <a:avLst/>
          </a:prstGeom>
          <a:noFill/>
          <a:ln/>
        </p:spPr>
        <p:txBody>
          <a:bodyPr wrap="square" lIns="0" tIns="0" rIns="0" bIns="0" rtlCol="0" anchor="ctr"/>
          <a:lstStyle/>
          <a:p>
            <a:pPr marL="0" indent="0">
              <a:buNone/>
            </a:pPr>
            <a:r>
              <a:rPr lang="en-US" sz="750" dirty="0">
                <a:solidFill>
                  <a:srgbClr val="1E293B"/>
                </a:solidFill>
              </a:rPr>
              <a:t>Days since policy inception</a:t>
            </a:r>
            <a:endParaRPr lang="en-US" sz="750" dirty="0"/>
          </a:p>
        </p:txBody>
      </p:sp>
      <p:sp>
        <p:nvSpPr>
          <p:cNvPr id="45" name="Shape 43"/>
          <p:cNvSpPr/>
          <p:nvPr/>
        </p:nvSpPr>
        <p:spPr>
          <a:xfrm>
            <a:off x="4498848" y="3236976"/>
            <a:ext cx="4389120" cy="292608"/>
          </a:xfrm>
          <a:prstGeom prst="rect">
            <a:avLst/>
          </a:prstGeom>
          <a:solidFill>
            <a:srgbClr val="F1F5F9"/>
          </a:solidFill>
          <a:ln/>
        </p:spPr>
        <p:txBody>
          <a:bodyPr/>
          <a:lstStyle/>
          <a:p>
            <a:endParaRPr lang="en-US"/>
          </a:p>
        </p:txBody>
      </p:sp>
      <p:sp>
        <p:nvSpPr>
          <p:cNvPr id="46" name="Text 44"/>
          <p:cNvSpPr/>
          <p:nvPr/>
        </p:nvSpPr>
        <p:spPr>
          <a:xfrm>
            <a:off x="4544568" y="3236976"/>
            <a:ext cx="4297680" cy="292608"/>
          </a:xfrm>
          <a:prstGeom prst="rect">
            <a:avLst/>
          </a:prstGeom>
          <a:noFill/>
          <a:ln/>
        </p:spPr>
        <p:txBody>
          <a:bodyPr wrap="square" lIns="0" tIns="0" rIns="0" bIns="0" rtlCol="0" anchor="ctr"/>
          <a:lstStyle/>
          <a:p>
            <a:pPr marL="0" indent="0">
              <a:buNone/>
            </a:pPr>
            <a:r>
              <a:rPr lang="en-US" sz="750" dirty="0">
                <a:solidFill>
                  <a:srgbClr val="1E293B"/>
                </a:solidFill>
              </a:rPr>
              <a:t>&lt; 14 days = timing manipulation flag, primary fraud signal</a:t>
            </a:r>
            <a:endParaRPr lang="en-US" sz="750" dirty="0"/>
          </a:p>
        </p:txBody>
      </p:sp>
      <p:sp>
        <p:nvSpPr>
          <p:cNvPr id="47" name="Shape 45"/>
          <p:cNvSpPr/>
          <p:nvPr/>
        </p:nvSpPr>
        <p:spPr>
          <a:xfrm>
            <a:off x="201168" y="3529584"/>
            <a:ext cx="2011680" cy="292608"/>
          </a:xfrm>
          <a:prstGeom prst="rect">
            <a:avLst/>
          </a:prstGeom>
          <a:solidFill>
            <a:srgbClr val="FFFFFF"/>
          </a:solidFill>
          <a:ln/>
        </p:spPr>
        <p:txBody>
          <a:bodyPr/>
          <a:lstStyle/>
          <a:p>
            <a:endParaRPr lang="en-US"/>
          </a:p>
        </p:txBody>
      </p:sp>
      <p:sp>
        <p:nvSpPr>
          <p:cNvPr id="48" name="Text 46"/>
          <p:cNvSpPr/>
          <p:nvPr/>
        </p:nvSpPr>
        <p:spPr>
          <a:xfrm>
            <a:off x="246888" y="3529584"/>
            <a:ext cx="1920240" cy="292608"/>
          </a:xfrm>
          <a:prstGeom prst="rect">
            <a:avLst/>
          </a:prstGeom>
          <a:noFill/>
          <a:ln/>
        </p:spPr>
        <p:txBody>
          <a:bodyPr wrap="square" lIns="0" tIns="0" rIns="0" bIns="0" rtlCol="0" anchor="ctr"/>
          <a:lstStyle/>
          <a:p>
            <a:pPr marL="0" indent="0">
              <a:buNone/>
            </a:pPr>
            <a:r>
              <a:rPr lang="en-US" sz="750" dirty="0">
                <a:solidFill>
                  <a:srgbClr val="1E293B"/>
                </a:solidFill>
              </a:rPr>
              <a:t>ProductCD (W/H/C/S/R)</a:t>
            </a:r>
            <a:endParaRPr lang="en-US" sz="750" dirty="0"/>
          </a:p>
        </p:txBody>
      </p:sp>
      <p:sp>
        <p:nvSpPr>
          <p:cNvPr id="49" name="Shape 47"/>
          <p:cNvSpPr/>
          <p:nvPr/>
        </p:nvSpPr>
        <p:spPr>
          <a:xfrm>
            <a:off x="2212848" y="3529584"/>
            <a:ext cx="2286000" cy="292608"/>
          </a:xfrm>
          <a:prstGeom prst="rect">
            <a:avLst/>
          </a:prstGeom>
          <a:solidFill>
            <a:srgbClr val="FFFFFF"/>
          </a:solidFill>
          <a:ln/>
        </p:spPr>
        <p:txBody>
          <a:bodyPr/>
          <a:lstStyle/>
          <a:p>
            <a:endParaRPr lang="en-US"/>
          </a:p>
        </p:txBody>
      </p:sp>
      <p:sp>
        <p:nvSpPr>
          <p:cNvPr id="50" name="Text 48"/>
          <p:cNvSpPr/>
          <p:nvPr/>
        </p:nvSpPr>
        <p:spPr>
          <a:xfrm>
            <a:off x="2258568" y="3529584"/>
            <a:ext cx="2194560" cy="292608"/>
          </a:xfrm>
          <a:prstGeom prst="rect">
            <a:avLst/>
          </a:prstGeom>
          <a:noFill/>
          <a:ln/>
        </p:spPr>
        <p:txBody>
          <a:bodyPr wrap="square" lIns="0" tIns="0" rIns="0" bIns="0" rtlCol="0" anchor="ctr"/>
          <a:lstStyle/>
          <a:p>
            <a:pPr marL="0" indent="0">
              <a:buNone/>
            </a:pPr>
            <a:r>
              <a:rPr lang="en-US" sz="750" dirty="0">
                <a:solidFill>
                  <a:srgbClr val="1E293B"/>
                </a:solidFill>
              </a:rPr>
              <a:t>Claim type (Water/Hardware/Screen/Theft/Repair)</a:t>
            </a:r>
            <a:endParaRPr lang="en-US" sz="750" dirty="0"/>
          </a:p>
        </p:txBody>
      </p:sp>
      <p:sp>
        <p:nvSpPr>
          <p:cNvPr id="51" name="Shape 49"/>
          <p:cNvSpPr/>
          <p:nvPr/>
        </p:nvSpPr>
        <p:spPr>
          <a:xfrm>
            <a:off x="4498848" y="3529584"/>
            <a:ext cx="4389120" cy="292608"/>
          </a:xfrm>
          <a:prstGeom prst="rect">
            <a:avLst/>
          </a:prstGeom>
          <a:solidFill>
            <a:srgbClr val="FFFFFF"/>
          </a:solidFill>
          <a:ln/>
        </p:spPr>
        <p:txBody>
          <a:bodyPr/>
          <a:lstStyle/>
          <a:p>
            <a:endParaRPr lang="en-US"/>
          </a:p>
        </p:txBody>
      </p:sp>
      <p:sp>
        <p:nvSpPr>
          <p:cNvPr id="52" name="Text 50"/>
          <p:cNvSpPr/>
          <p:nvPr/>
        </p:nvSpPr>
        <p:spPr>
          <a:xfrm>
            <a:off x="4544568" y="3529584"/>
            <a:ext cx="4297680" cy="292608"/>
          </a:xfrm>
          <a:prstGeom prst="rect">
            <a:avLst/>
          </a:prstGeom>
          <a:noFill/>
          <a:ln/>
        </p:spPr>
        <p:txBody>
          <a:bodyPr wrap="square" lIns="0" tIns="0" rIns="0" bIns="0" rtlCol="0" anchor="ctr"/>
          <a:lstStyle/>
          <a:p>
            <a:pPr marL="0" indent="0">
              <a:buNone/>
            </a:pPr>
            <a:r>
              <a:rPr lang="en-US" sz="750" dirty="0">
                <a:solidFill>
                  <a:srgbClr val="1E293B"/>
                </a:solidFill>
              </a:rPr>
              <a:t>Theft claims have highest fraud rate; screen claims highest volume</a:t>
            </a:r>
            <a:endParaRPr lang="en-US" sz="750" dirty="0"/>
          </a:p>
        </p:txBody>
      </p:sp>
      <p:sp>
        <p:nvSpPr>
          <p:cNvPr id="53" name="Shape 51"/>
          <p:cNvSpPr/>
          <p:nvPr/>
        </p:nvSpPr>
        <p:spPr>
          <a:xfrm>
            <a:off x="201168" y="3822192"/>
            <a:ext cx="2011680" cy="292608"/>
          </a:xfrm>
          <a:prstGeom prst="rect">
            <a:avLst/>
          </a:prstGeom>
          <a:solidFill>
            <a:srgbClr val="F1F5F9"/>
          </a:solidFill>
          <a:ln/>
        </p:spPr>
        <p:txBody>
          <a:bodyPr/>
          <a:lstStyle/>
          <a:p>
            <a:endParaRPr lang="en-US"/>
          </a:p>
        </p:txBody>
      </p:sp>
      <p:sp>
        <p:nvSpPr>
          <p:cNvPr id="54" name="Text 52"/>
          <p:cNvSpPr/>
          <p:nvPr/>
        </p:nvSpPr>
        <p:spPr>
          <a:xfrm>
            <a:off x="246888" y="3822192"/>
            <a:ext cx="1920240" cy="292608"/>
          </a:xfrm>
          <a:prstGeom prst="rect">
            <a:avLst/>
          </a:prstGeom>
          <a:noFill/>
          <a:ln/>
        </p:spPr>
        <p:txBody>
          <a:bodyPr wrap="square" lIns="0" tIns="0" rIns="0" bIns="0" rtlCol="0" anchor="ctr"/>
          <a:lstStyle/>
          <a:p>
            <a:pPr marL="0" indent="0">
              <a:buNone/>
            </a:pPr>
            <a:r>
              <a:rPr lang="en-US" sz="750" dirty="0">
                <a:solidFill>
                  <a:srgbClr val="1E293B"/>
                </a:solidFill>
              </a:rPr>
              <a:t>card1</a:t>
            </a:r>
            <a:endParaRPr lang="en-US" sz="750" dirty="0"/>
          </a:p>
        </p:txBody>
      </p:sp>
      <p:sp>
        <p:nvSpPr>
          <p:cNvPr id="55" name="Shape 53"/>
          <p:cNvSpPr/>
          <p:nvPr/>
        </p:nvSpPr>
        <p:spPr>
          <a:xfrm>
            <a:off x="2212848" y="3822192"/>
            <a:ext cx="2286000" cy="292608"/>
          </a:xfrm>
          <a:prstGeom prst="rect">
            <a:avLst/>
          </a:prstGeom>
          <a:solidFill>
            <a:srgbClr val="F1F5F9"/>
          </a:solidFill>
          <a:ln/>
        </p:spPr>
        <p:txBody>
          <a:bodyPr/>
          <a:lstStyle/>
          <a:p>
            <a:endParaRPr lang="en-US"/>
          </a:p>
        </p:txBody>
      </p:sp>
      <p:sp>
        <p:nvSpPr>
          <p:cNvPr id="56" name="Text 54"/>
          <p:cNvSpPr/>
          <p:nvPr/>
        </p:nvSpPr>
        <p:spPr>
          <a:xfrm>
            <a:off x="2258568" y="3822192"/>
            <a:ext cx="2194560" cy="292608"/>
          </a:xfrm>
          <a:prstGeom prst="rect">
            <a:avLst/>
          </a:prstGeom>
          <a:noFill/>
          <a:ln/>
        </p:spPr>
        <p:txBody>
          <a:bodyPr wrap="square" lIns="0" tIns="0" rIns="0" bIns="0" rtlCol="0" anchor="ctr"/>
          <a:lstStyle/>
          <a:p>
            <a:pPr marL="0" indent="0">
              <a:buNone/>
            </a:pPr>
            <a:r>
              <a:rPr lang="en-US" sz="750" dirty="0">
                <a:solidFill>
                  <a:srgbClr val="1E293B"/>
                </a:solidFill>
              </a:rPr>
              <a:t>Retail Partner ID</a:t>
            </a:r>
            <a:endParaRPr lang="en-US" sz="750" dirty="0"/>
          </a:p>
        </p:txBody>
      </p:sp>
      <p:sp>
        <p:nvSpPr>
          <p:cNvPr id="57" name="Shape 55"/>
          <p:cNvSpPr/>
          <p:nvPr/>
        </p:nvSpPr>
        <p:spPr>
          <a:xfrm>
            <a:off x="4498848" y="3822192"/>
            <a:ext cx="4389120" cy="292608"/>
          </a:xfrm>
          <a:prstGeom prst="rect">
            <a:avLst/>
          </a:prstGeom>
          <a:solidFill>
            <a:srgbClr val="F1F5F9"/>
          </a:solidFill>
          <a:ln/>
        </p:spPr>
        <p:txBody>
          <a:bodyPr/>
          <a:lstStyle/>
          <a:p>
            <a:endParaRPr lang="en-US"/>
          </a:p>
        </p:txBody>
      </p:sp>
      <p:sp>
        <p:nvSpPr>
          <p:cNvPr id="58" name="Text 56"/>
          <p:cNvSpPr/>
          <p:nvPr/>
        </p:nvSpPr>
        <p:spPr>
          <a:xfrm>
            <a:off x="4544568" y="3822192"/>
            <a:ext cx="4297680" cy="292608"/>
          </a:xfrm>
          <a:prstGeom prst="rect">
            <a:avLst/>
          </a:prstGeom>
          <a:noFill/>
          <a:ln/>
        </p:spPr>
        <p:txBody>
          <a:bodyPr wrap="square" lIns="0" tIns="0" rIns="0" bIns="0" rtlCol="0" anchor="ctr"/>
          <a:lstStyle/>
          <a:p>
            <a:pPr marL="0" indent="0">
              <a:buNone/>
            </a:pPr>
            <a:r>
              <a:rPr lang="en-US" sz="750" dirty="0">
                <a:solidFill>
                  <a:srgbClr val="1E293B"/>
                </a:solidFill>
              </a:rPr>
              <a:t>Partner-level fraud clustering → organized ring detection</a:t>
            </a:r>
            <a:endParaRPr lang="en-US" sz="750" dirty="0"/>
          </a:p>
        </p:txBody>
      </p:sp>
      <p:sp>
        <p:nvSpPr>
          <p:cNvPr id="59" name="Shape 57"/>
          <p:cNvSpPr/>
          <p:nvPr/>
        </p:nvSpPr>
        <p:spPr>
          <a:xfrm>
            <a:off x="201168" y="4114800"/>
            <a:ext cx="2011680" cy="292608"/>
          </a:xfrm>
          <a:prstGeom prst="rect">
            <a:avLst/>
          </a:prstGeom>
          <a:solidFill>
            <a:srgbClr val="FFFFFF"/>
          </a:solidFill>
          <a:ln/>
        </p:spPr>
        <p:txBody>
          <a:bodyPr/>
          <a:lstStyle/>
          <a:p>
            <a:endParaRPr lang="en-US"/>
          </a:p>
        </p:txBody>
      </p:sp>
      <p:sp>
        <p:nvSpPr>
          <p:cNvPr id="60" name="Text 58"/>
          <p:cNvSpPr/>
          <p:nvPr/>
        </p:nvSpPr>
        <p:spPr>
          <a:xfrm>
            <a:off x="246888" y="4114800"/>
            <a:ext cx="1920240" cy="292608"/>
          </a:xfrm>
          <a:prstGeom prst="rect">
            <a:avLst/>
          </a:prstGeom>
          <a:noFill/>
          <a:ln/>
        </p:spPr>
        <p:txBody>
          <a:bodyPr wrap="square" lIns="0" tIns="0" rIns="0" bIns="0" rtlCol="0" anchor="ctr"/>
          <a:lstStyle/>
          <a:p>
            <a:pPr marL="0" indent="0">
              <a:buNone/>
            </a:pPr>
            <a:r>
              <a:rPr lang="en-US" sz="750" dirty="0">
                <a:solidFill>
                  <a:srgbClr val="1E293B"/>
                </a:solidFill>
              </a:rPr>
              <a:t>P_emaildomain</a:t>
            </a:r>
            <a:endParaRPr lang="en-US" sz="750" dirty="0"/>
          </a:p>
        </p:txBody>
      </p:sp>
      <p:sp>
        <p:nvSpPr>
          <p:cNvPr id="61" name="Shape 59"/>
          <p:cNvSpPr/>
          <p:nvPr/>
        </p:nvSpPr>
        <p:spPr>
          <a:xfrm>
            <a:off x="2212848" y="4114800"/>
            <a:ext cx="2286000" cy="292608"/>
          </a:xfrm>
          <a:prstGeom prst="rect">
            <a:avLst/>
          </a:prstGeom>
          <a:solidFill>
            <a:srgbClr val="FFFFFF"/>
          </a:solidFill>
          <a:ln/>
        </p:spPr>
        <p:txBody>
          <a:bodyPr/>
          <a:lstStyle/>
          <a:p>
            <a:endParaRPr lang="en-US"/>
          </a:p>
        </p:txBody>
      </p:sp>
      <p:sp>
        <p:nvSpPr>
          <p:cNvPr id="62" name="Text 60"/>
          <p:cNvSpPr/>
          <p:nvPr/>
        </p:nvSpPr>
        <p:spPr>
          <a:xfrm>
            <a:off x="2258568" y="4114800"/>
            <a:ext cx="2194560" cy="292608"/>
          </a:xfrm>
          <a:prstGeom prst="rect">
            <a:avLst/>
          </a:prstGeom>
          <a:noFill/>
          <a:ln/>
        </p:spPr>
        <p:txBody>
          <a:bodyPr wrap="square" lIns="0" tIns="0" rIns="0" bIns="0" rtlCol="0" anchor="ctr"/>
          <a:lstStyle/>
          <a:p>
            <a:pPr marL="0" indent="0">
              <a:buNone/>
            </a:pPr>
            <a:r>
              <a:rPr lang="en-US" sz="750" dirty="0">
                <a:solidFill>
                  <a:srgbClr val="1E293B"/>
                </a:solidFill>
              </a:rPr>
              <a:t>Customer email risk score</a:t>
            </a:r>
            <a:endParaRPr lang="en-US" sz="750" dirty="0"/>
          </a:p>
        </p:txBody>
      </p:sp>
      <p:sp>
        <p:nvSpPr>
          <p:cNvPr id="63" name="Shape 61"/>
          <p:cNvSpPr/>
          <p:nvPr/>
        </p:nvSpPr>
        <p:spPr>
          <a:xfrm>
            <a:off x="4498848" y="4114800"/>
            <a:ext cx="4389120" cy="292608"/>
          </a:xfrm>
          <a:prstGeom prst="rect">
            <a:avLst/>
          </a:prstGeom>
          <a:solidFill>
            <a:srgbClr val="FFFFFF"/>
          </a:solidFill>
          <a:ln/>
        </p:spPr>
        <p:txBody>
          <a:bodyPr/>
          <a:lstStyle/>
          <a:p>
            <a:endParaRPr lang="en-US"/>
          </a:p>
        </p:txBody>
      </p:sp>
      <p:sp>
        <p:nvSpPr>
          <p:cNvPr id="64" name="Text 62"/>
          <p:cNvSpPr/>
          <p:nvPr/>
        </p:nvSpPr>
        <p:spPr>
          <a:xfrm>
            <a:off x="4544568" y="4114800"/>
            <a:ext cx="4297680" cy="292608"/>
          </a:xfrm>
          <a:prstGeom prst="rect">
            <a:avLst/>
          </a:prstGeom>
          <a:noFill/>
          <a:ln/>
        </p:spPr>
        <p:txBody>
          <a:bodyPr wrap="square" lIns="0" tIns="0" rIns="0" bIns="0" rtlCol="0" anchor="ctr"/>
          <a:lstStyle/>
          <a:p>
            <a:pPr marL="0" indent="0">
              <a:buNone/>
            </a:pPr>
            <a:r>
              <a:rPr lang="en-US" sz="750" dirty="0">
                <a:solidFill>
                  <a:srgbClr val="1E293B"/>
                </a:solidFill>
              </a:rPr>
              <a:t>Disposable domains at policy inception → identity fraud risk</a:t>
            </a:r>
            <a:endParaRPr lang="en-US" sz="750" dirty="0"/>
          </a:p>
        </p:txBody>
      </p:sp>
      <p:sp>
        <p:nvSpPr>
          <p:cNvPr id="65" name="Shape 63"/>
          <p:cNvSpPr/>
          <p:nvPr/>
        </p:nvSpPr>
        <p:spPr>
          <a:xfrm>
            <a:off x="201168" y="4407408"/>
            <a:ext cx="2011680" cy="292608"/>
          </a:xfrm>
          <a:prstGeom prst="rect">
            <a:avLst/>
          </a:prstGeom>
          <a:solidFill>
            <a:srgbClr val="F1F5F9"/>
          </a:solidFill>
          <a:ln/>
        </p:spPr>
        <p:txBody>
          <a:bodyPr/>
          <a:lstStyle/>
          <a:p>
            <a:endParaRPr lang="en-US"/>
          </a:p>
        </p:txBody>
      </p:sp>
      <p:sp>
        <p:nvSpPr>
          <p:cNvPr id="66" name="Text 64"/>
          <p:cNvSpPr/>
          <p:nvPr/>
        </p:nvSpPr>
        <p:spPr>
          <a:xfrm>
            <a:off x="246888" y="4407408"/>
            <a:ext cx="1920240" cy="292608"/>
          </a:xfrm>
          <a:prstGeom prst="rect">
            <a:avLst/>
          </a:prstGeom>
          <a:noFill/>
          <a:ln/>
        </p:spPr>
        <p:txBody>
          <a:bodyPr wrap="square" lIns="0" tIns="0" rIns="0" bIns="0" rtlCol="0" anchor="ctr"/>
          <a:lstStyle/>
          <a:p>
            <a:pPr marL="0" indent="0">
              <a:buNone/>
            </a:pPr>
            <a:r>
              <a:rPr lang="en-US" sz="750" dirty="0">
                <a:solidFill>
                  <a:srgbClr val="1E293B"/>
                </a:solidFill>
              </a:rPr>
              <a:t>V126, V130, V136</a:t>
            </a:r>
            <a:endParaRPr lang="en-US" sz="750" dirty="0"/>
          </a:p>
        </p:txBody>
      </p:sp>
      <p:sp>
        <p:nvSpPr>
          <p:cNvPr id="67" name="Shape 65"/>
          <p:cNvSpPr/>
          <p:nvPr/>
        </p:nvSpPr>
        <p:spPr>
          <a:xfrm>
            <a:off x="2212848" y="4407408"/>
            <a:ext cx="2286000" cy="292608"/>
          </a:xfrm>
          <a:prstGeom prst="rect">
            <a:avLst/>
          </a:prstGeom>
          <a:solidFill>
            <a:srgbClr val="F1F5F9"/>
          </a:solidFill>
          <a:ln/>
        </p:spPr>
        <p:txBody>
          <a:bodyPr/>
          <a:lstStyle/>
          <a:p>
            <a:endParaRPr lang="en-US"/>
          </a:p>
        </p:txBody>
      </p:sp>
      <p:sp>
        <p:nvSpPr>
          <p:cNvPr id="68" name="Text 66"/>
          <p:cNvSpPr/>
          <p:nvPr/>
        </p:nvSpPr>
        <p:spPr>
          <a:xfrm>
            <a:off x="2258568" y="4407408"/>
            <a:ext cx="2194560" cy="292608"/>
          </a:xfrm>
          <a:prstGeom prst="rect">
            <a:avLst/>
          </a:prstGeom>
          <a:noFill/>
          <a:ln/>
        </p:spPr>
        <p:txBody>
          <a:bodyPr wrap="square" lIns="0" tIns="0" rIns="0" bIns="0" rtlCol="0" anchor="ctr"/>
          <a:lstStyle/>
          <a:p>
            <a:pPr marL="0" indent="0">
              <a:buNone/>
            </a:pPr>
            <a:r>
              <a:rPr lang="en-US" sz="750" dirty="0">
                <a:solidFill>
                  <a:srgbClr val="1E293B"/>
                </a:solidFill>
              </a:rPr>
              <a:t>Device fingerprint + session signals</a:t>
            </a:r>
            <a:endParaRPr lang="en-US" sz="750" dirty="0"/>
          </a:p>
        </p:txBody>
      </p:sp>
      <p:sp>
        <p:nvSpPr>
          <p:cNvPr id="69" name="Shape 67"/>
          <p:cNvSpPr/>
          <p:nvPr/>
        </p:nvSpPr>
        <p:spPr>
          <a:xfrm>
            <a:off x="4498848" y="4407408"/>
            <a:ext cx="4389120" cy="292608"/>
          </a:xfrm>
          <a:prstGeom prst="rect">
            <a:avLst/>
          </a:prstGeom>
          <a:solidFill>
            <a:srgbClr val="F1F5F9"/>
          </a:solidFill>
          <a:ln/>
        </p:spPr>
        <p:txBody>
          <a:bodyPr/>
          <a:lstStyle/>
          <a:p>
            <a:endParaRPr lang="en-US"/>
          </a:p>
        </p:txBody>
      </p:sp>
      <p:sp>
        <p:nvSpPr>
          <p:cNvPr id="70" name="Text 68"/>
          <p:cNvSpPr/>
          <p:nvPr/>
        </p:nvSpPr>
        <p:spPr>
          <a:xfrm>
            <a:off x="4544568" y="4407408"/>
            <a:ext cx="4297680" cy="292608"/>
          </a:xfrm>
          <a:prstGeom prst="rect">
            <a:avLst/>
          </a:prstGeom>
          <a:noFill/>
          <a:ln/>
        </p:spPr>
        <p:txBody>
          <a:bodyPr wrap="square" lIns="0" tIns="0" rIns="0" bIns="0" rtlCol="0" anchor="ctr"/>
          <a:lstStyle/>
          <a:p>
            <a:pPr marL="0" indent="0">
              <a:buNone/>
            </a:pPr>
            <a:r>
              <a:rPr lang="en-US" sz="750" dirty="0">
                <a:solidFill>
                  <a:srgbClr val="1E293B"/>
                </a:solidFill>
              </a:rPr>
              <a:t>Top SHAP features, behavioral consistency of claim submitter</a:t>
            </a:r>
            <a:endParaRPr lang="en-US" sz="750" dirty="0"/>
          </a:p>
        </p:txBody>
      </p:sp>
      <p:sp>
        <p:nvSpPr>
          <p:cNvPr id="71" name="Shape 69"/>
          <p:cNvSpPr/>
          <p:nvPr/>
        </p:nvSpPr>
        <p:spPr>
          <a:xfrm>
            <a:off x="201168" y="4700016"/>
            <a:ext cx="2011680" cy="292608"/>
          </a:xfrm>
          <a:prstGeom prst="rect">
            <a:avLst/>
          </a:prstGeom>
          <a:solidFill>
            <a:srgbClr val="FFFFFF"/>
          </a:solidFill>
          <a:ln/>
        </p:spPr>
        <p:txBody>
          <a:bodyPr/>
          <a:lstStyle/>
          <a:p>
            <a:endParaRPr lang="en-US"/>
          </a:p>
        </p:txBody>
      </p:sp>
      <p:sp>
        <p:nvSpPr>
          <p:cNvPr id="72" name="Text 70"/>
          <p:cNvSpPr/>
          <p:nvPr/>
        </p:nvSpPr>
        <p:spPr>
          <a:xfrm>
            <a:off x="246888" y="4700016"/>
            <a:ext cx="1920240" cy="292608"/>
          </a:xfrm>
          <a:prstGeom prst="rect">
            <a:avLst/>
          </a:prstGeom>
          <a:noFill/>
          <a:ln/>
        </p:spPr>
        <p:txBody>
          <a:bodyPr wrap="square" lIns="0" tIns="0" rIns="0" bIns="0" rtlCol="0" anchor="ctr"/>
          <a:lstStyle/>
          <a:p>
            <a:pPr marL="0" indent="0">
              <a:buNone/>
            </a:pPr>
            <a:r>
              <a:rPr lang="en-US" sz="750" dirty="0">
                <a:solidFill>
                  <a:srgbClr val="1E293B"/>
                </a:solidFill>
              </a:rPr>
              <a:t>dist1</a:t>
            </a:r>
            <a:endParaRPr lang="en-US" sz="750" dirty="0"/>
          </a:p>
        </p:txBody>
      </p:sp>
      <p:sp>
        <p:nvSpPr>
          <p:cNvPr id="73" name="Shape 71"/>
          <p:cNvSpPr/>
          <p:nvPr/>
        </p:nvSpPr>
        <p:spPr>
          <a:xfrm>
            <a:off x="2212848" y="4700016"/>
            <a:ext cx="2286000" cy="292608"/>
          </a:xfrm>
          <a:prstGeom prst="rect">
            <a:avLst/>
          </a:prstGeom>
          <a:solidFill>
            <a:srgbClr val="FFFFFF"/>
          </a:solidFill>
          <a:ln/>
        </p:spPr>
        <p:txBody>
          <a:bodyPr/>
          <a:lstStyle/>
          <a:p>
            <a:endParaRPr lang="en-US"/>
          </a:p>
        </p:txBody>
      </p:sp>
      <p:sp>
        <p:nvSpPr>
          <p:cNvPr id="74" name="Text 72"/>
          <p:cNvSpPr/>
          <p:nvPr/>
        </p:nvSpPr>
        <p:spPr>
          <a:xfrm>
            <a:off x="2258568" y="4700016"/>
            <a:ext cx="2194560" cy="292608"/>
          </a:xfrm>
          <a:prstGeom prst="rect">
            <a:avLst/>
          </a:prstGeom>
          <a:noFill/>
          <a:ln/>
        </p:spPr>
        <p:txBody>
          <a:bodyPr wrap="square" lIns="0" tIns="0" rIns="0" bIns="0" rtlCol="0" anchor="ctr"/>
          <a:lstStyle/>
          <a:p>
            <a:pPr marL="0" indent="0">
              <a:buNone/>
            </a:pPr>
            <a:r>
              <a:rPr lang="en-US" sz="750" dirty="0">
                <a:solidFill>
                  <a:srgbClr val="1E293B"/>
                </a:solidFill>
              </a:rPr>
              <a:t>Claim velocity proxy</a:t>
            </a:r>
            <a:endParaRPr lang="en-US" sz="750" dirty="0"/>
          </a:p>
        </p:txBody>
      </p:sp>
      <p:sp>
        <p:nvSpPr>
          <p:cNvPr id="75" name="Shape 73"/>
          <p:cNvSpPr/>
          <p:nvPr/>
        </p:nvSpPr>
        <p:spPr>
          <a:xfrm>
            <a:off x="4498848" y="4700016"/>
            <a:ext cx="4389120" cy="292608"/>
          </a:xfrm>
          <a:prstGeom prst="rect">
            <a:avLst/>
          </a:prstGeom>
          <a:solidFill>
            <a:srgbClr val="FFFFFF"/>
          </a:solidFill>
          <a:ln/>
        </p:spPr>
        <p:txBody>
          <a:bodyPr/>
          <a:lstStyle/>
          <a:p>
            <a:endParaRPr lang="en-US"/>
          </a:p>
        </p:txBody>
      </p:sp>
      <p:sp>
        <p:nvSpPr>
          <p:cNvPr id="76" name="Text 74"/>
          <p:cNvSpPr/>
          <p:nvPr/>
        </p:nvSpPr>
        <p:spPr>
          <a:xfrm>
            <a:off x="4544568" y="4700016"/>
            <a:ext cx="4297680" cy="292608"/>
          </a:xfrm>
          <a:prstGeom prst="rect">
            <a:avLst/>
          </a:prstGeom>
          <a:noFill/>
          <a:ln/>
        </p:spPr>
        <p:txBody>
          <a:bodyPr wrap="square" lIns="0" tIns="0" rIns="0" bIns="0" rtlCol="0" anchor="ctr"/>
          <a:lstStyle/>
          <a:p>
            <a:pPr marL="0" indent="0">
              <a:buNone/>
            </a:pPr>
            <a:r>
              <a:rPr lang="en-US" sz="750" dirty="0">
                <a:solidFill>
                  <a:srgbClr val="1E293B"/>
                </a:solidFill>
              </a:rPr>
              <a:t>Engineered to: claims by same partner in prior 30 days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A6B"/>
          </a:solidFill>
          <a:ln/>
        </p:spPr>
        <p:txBody>
          <a:bodyPr/>
          <a:lstStyle/>
          <a:p>
            <a:endParaRPr lang="en-US"/>
          </a:p>
        </p:txBody>
      </p:sp>
      <p:sp>
        <p:nvSpPr>
          <p:cNvPr id="3" name="Shape 1"/>
          <p:cNvSpPr/>
          <p:nvPr/>
        </p:nvSpPr>
        <p:spPr>
          <a:xfrm>
            <a:off x="109728" y="0"/>
            <a:ext cx="9034272" cy="502920"/>
          </a:xfrm>
          <a:prstGeom prst="rect">
            <a:avLst/>
          </a:prstGeom>
          <a:solidFill>
            <a:srgbClr val="1E293B"/>
          </a:solidFill>
          <a:ln/>
        </p:spPr>
        <p:txBody>
          <a:bodyPr/>
          <a:lstStyle/>
          <a:p>
            <a:endParaRPr lang="en-US"/>
          </a:p>
        </p:txBody>
      </p:sp>
      <p:sp>
        <p:nvSpPr>
          <p:cNvPr id="4" name="Shape 2"/>
          <p:cNvSpPr/>
          <p:nvPr/>
        </p:nvSpPr>
        <p:spPr>
          <a:xfrm>
            <a:off x="228600" y="91440"/>
            <a:ext cx="1005840" cy="320040"/>
          </a:xfrm>
          <a:prstGeom prst="rect">
            <a:avLst/>
          </a:prstGeom>
          <a:solidFill>
            <a:srgbClr val="2563EB"/>
          </a:solidFill>
          <a:ln/>
        </p:spPr>
        <p:txBody>
          <a:bodyPr/>
          <a:lstStyle/>
          <a:p>
            <a:endParaRPr lang="en-US"/>
          </a:p>
        </p:txBody>
      </p:sp>
      <p:sp>
        <p:nvSpPr>
          <p:cNvPr id="5" name="Text 3"/>
          <p:cNvSpPr/>
          <p:nvPr/>
        </p:nvSpPr>
        <p:spPr>
          <a:xfrm>
            <a:off x="228600" y="91440"/>
            <a:ext cx="1005840" cy="320040"/>
          </a:xfrm>
          <a:prstGeom prst="rect">
            <a:avLst/>
          </a:prstGeom>
          <a:noFill/>
          <a:ln/>
        </p:spPr>
        <p:txBody>
          <a:bodyPr wrap="square" lIns="0" tIns="0" rIns="0" bIns="0" rtlCol="0" anchor="ctr"/>
          <a:lstStyle/>
          <a:p>
            <a:pPr marL="0" indent="0" algn="ctr">
              <a:buNone/>
            </a:pPr>
            <a:r>
              <a:rPr lang="en-US" sz="900" b="1" dirty="0">
                <a:solidFill>
                  <a:srgbClr val="FFFFFF"/>
                </a:solidFill>
              </a:rPr>
              <a:t>STEP 3</a:t>
            </a:r>
            <a:endParaRPr lang="en-US" sz="900" dirty="0"/>
          </a:p>
        </p:txBody>
      </p:sp>
      <p:sp>
        <p:nvSpPr>
          <p:cNvPr id="6" name="Text 4"/>
          <p:cNvSpPr/>
          <p:nvPr/>
        </p:nvSpPr>
        <p:spPr>
          <a:xfrm>
            <a:off x="1371600" y="82296"/>
            <a:ext cx="7498080" cy="347472"/>
          </a:xfrm>
          <a:prstGeom prst="rect">
            <a:avLst/>
          </a:prstGeom>
          <a:noFill/>
          <a:ln/>
        </p:spPr>
        <p:txBody>
          <a:bodyPr wrap="square" lIns="0" tIns="0" rIns="0" bIns="0" rtlCol="0" anchor="ctr"/>
          <a:lstStyle/>
          <a:p>
            <a:pPr marL="0" indent="0">
              <a:buNone/>
            </a:pPr>
            <a:r>
              <a:rPr lang="en-US" sz="1500" b="1" dirty="0">
                <a:solidFill>
                  <a:srgbClr val="FFFFFF"/>
                </a:solidFill>
              </a:rPr>
              <a:t>Exploratory Data Analysis, Key Findings</a:t>
            </a:r>
            <a:endParaRPr lang="en-US" sz="1500" dirty="0"/>
          </a:p>
        </p:txBody>
      </p:sp>
      <p:sp>
        <p:nvSpPr>
          <p:cNvPr id="7" name="Text 5"/>
          <p:cNvSpPr/>
          <p:nvPr/>
        </p:nvSpPr>
        <p:spPr>
          <a:xfrm>
            <a:off x="109728" y="4800600"/>
            <a:ext cx="9034272" cy="320040"/>
          </a:xfrm>
          <a:prstGeom prst="rect">
            <a:avLst/>
          </a:prstGeom>
          <a:noFill/>
          <a:ln/>
        </p:spPr>
        <p:txBody>
          <a:bodyPr wrap="square" lIns="0" tIns="0" rIns="0" bIns="0" rtlCol="0" anchor="ctr"/>
          <a:lstStyle/>
          <a:p>
            <a:pPr marL="0" indent="0" algn="r">
              <a:buNone/>
            </a:pPr>
            <a:r>
              <a:rPr lang="en-US" sz="800" dirty="0">
                <a:solidFill>
                  <a:srgbClr val="64748B"/>
                </a:solidFill>
              </a:rPr>
              <a:t>ProTech Devices Asia  |  AIM Capstone 2025</a:t>
            </a:r>
            <a:endParaRPr lang="en-US" sz="800" dirty="0"/>
          </a:p>
        </p:txBody>
      </p:sp>
      <p:sp>
        <p:nvSpPr>
          <p:cNvPr id="8" name="Shape 6"/>
          <p:cNvSpPr/>
          <p:nvPr/>
        </p:nvSpPr>
        <p:spPr>
          <a:xfrm>
            <a:off x="201168" y="658368"/>
            <a:ext cx="2816352" cy="19659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01168" y="658368"/>
            <a:ext cx="2816352" cy="54864"/>
          </a:xfrm>
          <a:prstGeom prst="rect">
            <a:avLst/>
          </a:prstGeom>
          <a:solidFill>
            <a:srgbClr val="DC2626"/>
          </a:solidFill>
          <a:ln/>
        </p:spPr>
        <p:txBody>
          <a:bodyPr/>
          <a:lstStyle/>
          <a:p>
            <a:endParaRPr lang="en-US"/>
          </a:p>
        </p:txBody>
      </p:sp>
      <p:sp>
        <p:nvSpPr>
          <p:cNvPr id="10" name="Shape 8"/>
          <p:cNvSpPr/>
          <p:nvPr/>
        </p:nvSpPr>
        <p:spPr>
          <a:xfrm>
            <a:off x="292608" y="768096"/>
            <a:ext cx="292608" cy="292608"/>
          </a:xfrm>
          <a:prstGeom prst="ellipse">
            <a:avLst/>
          </a:prstGeom>
          <a:solidFill>
            <a:srgbClr val="DC2626"/>
          </a:solidFill>
          <a:ln/>
        </p:spPr>
        <p:txBody>
          <a:bodyPr/>
          <a:lstStyle/>
          <a:p>
            <a:endParaRPr lang="en-US"/>
          </a:p>
        </p:txBody>
      </p:sp>
      <p:sp>
        <p:nvSpPr>
          <p:cNvPr id="11" name="Text 9"/>
          <p:cNvSpPr/>
          <p:nvPr/>
        </p:nvSpPr>
        <p:spPr>
          <a:xfrm>
            <a:off x="292608" y="768096"/>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rPr>
              <a:t>01</a:t>
            </a:r>
            <a:endParaRPr lang="en-US" sz="900" dirty="0"/>
          </a:p>
        </p:txBody>
      </p:sp>
      <p:sp>
        <p:nvSpPr>
          <p:cNvPr id="12" name="Text 10"/>
          <p:cNvSpPr/>
          <p:nvPr/>
        </p:nvSpPr>
        <p:spPr>
          <a:xfrm>
            <a:off x="658368" y="768096"/>
            <a:ext cx="2304288" cy="292608"/>
          </a:xfrm>
          <a:prstGeom prst="rect">
            <a:avLst/>
          </a:prstGeom>
          <a:noFill/>
          <a:ln/>
        </p:spPr>
        <p:txBody>
          <a:bodyPr wrap="square" lIns="0" tIns="0" rIns="0" bIns="0" rtlCol="0" anchor="ctr"/>
          <a:lstStyle/>
          <a:p>
            <a:pPr marL="0" indent="0">
              <a:buNone/>
            </a:pPr>
            <a:r>
              <a:rPr lang="en-US" sz="950" b="1" dirty="0">
                <a:solidFill>
                  <a:srgbClr val="1B3A6B"/>
                </a:solidFill>
              </a:rPr>
              <a:t>Claim Amount Distribution</a:t>
            </a:r>
            <a:endParaRPr lang="en-US" sz="950" dirty="0"/>
          </a:p>
        </p:txBody>
      </p:sp>
      <p:sp>
        <p:nvSpPr>
          <p:cNvPr id="13" name="Text 11"/>
          <p:cNvSpPr/>
          <p:nvPr/>
        </p:nvSpPr>
        <p:spPr>
          <a:xfrm>
            <a:off x="292608" y="1133856"/>
            <a:ext cx="2633472" cy="914400"/>
          </a:xfrm>
          <a:prstGeom prst="rect">
            <a:avLst/>
          </a:prstGeom>
          <a:noFill/>
          <a:ln/>
        </p:spPr>
        <p:txBody>
          <a:bodyPr wrap="square" lIns="0" tIns="0" rIns="0" bIns="0" rtlCol="0" anchor="ctr"/>
          <a:lstStyle/>
          <a:p>
            <a:pPr marL="0" indent="0">
              <a:buNone/>
            </a:pPr>
            <a:r>
              <a:rPr lang="en-US" sz="850" dirty="0">
                <a:solidFill>
                  <a:srgbClr val="1E293B"/>
                </a:solidFill>
              </a:rPr>
              <a:t>Median fraud claim: $182 vs. $75 for legitimate (2.4× premium). Claims above $500 have a fraud rate of 8.9% vs. 2.1% for sub-$100 claims. Log transformation applied to normalize skewness.</a:t>
            </a:r>
            <a:endParaRPr lang="en-US" sz="850" dirty="0"/>
          </a:p>
        </p:txBody>
      </p:sp>
      <p:sp>
        <p:nvSpPr>
          <p:cNvPr id="14" name="Shape 12"/>
          <p:cNvSpPr/>
          <p:nvPr/>
        </p:nvSpPr>
        <p:spPr>
          <a:xfrm>
            <a:off x="292608" y="2084832"/>
            <a:ext cx="2633472" cy="457200"/>
          </a:xfrm>
          <a:prstGeom prst="rect">
            <a:avLst/>
          </a:prstGeom>
          <a:solidFill>
            <a:srgbClr val="EFF6FF"/>
          </a:solidFill>
          <a:ln/>
        </p:spPr>
        <p:txBody>
          <a:bodyPr/>
          <a:lstStyle/>
          <a:p>
            <a:endParaRPr lang="en-US"/>
          </a:p>
        </p:txBody>
      </p:sp>
      <p:sp>
        <p:nvSpPr>
          <p:cNvPr id="15" name="Text 13"/>
          <p:cNvSpPr/>
          <p:nvPr/>
        </p:nvSpPr>
        <p:spPr>
          <a:xfrm>
            <a:off x="292608" y="2084832"/>
            <a:ext cx="822960" cy="457200"/>
          </a:xfrm>
          <a:prstGeom prst="rect">
            <a:avLst/>
          </a:prstGeom>
          <a:noFill/>
          <a:ln/>
        </p:spPr>
        <p:txBody>
          <a:bodyPr wrap="square" lIns="0" tIns="0" rIns="0" bIns="0" rtlCol="0" anchor="ctr"/>
          <a:lstStyle/>
          <a:p>
            <a:pPr marL="0" indent="0" algn="ctr">
              <a:buNone/>
            </a:pPr>
            <a:r>
              <a:rPr lang="en-US" sz="1800" b="1" dirty="0">
                <a:solidFill>
                  <a:srgbClr val="DC2626"/>
                </a:solidFill>
              </a:rPr>
              <a:t>2.4×</a:t>
            </a:r>
            <a:endParaRPr lang="en-US" sz="1800" dirty="0"/>
          </a:p>
        </p:txBody>
      </p:sp>
      <p:sp>
        <p:nvSpPr>
          <p:cNvPr id="16" name="Text 14"/>
          <p:cNvSpPr/>
          <p:nvPr/>
        </p:nvSpPr>
        <p:spPr>
          <a:xfrm>
            <a:off x="1161288" y="2121408"/>
            <a:ext cx="1719072" cy="384048"/>
          </a:xfrm>
          <a:prstGeom prst="rect">
            <a:avLst/>
          </a:prstGeom>
          <a:noFill/>
          <a:ln/>
        </p:spPr>
        <p:txBody>
          <a:bodyPr wrap="square" lIns="0" tIns="0" rIns="0" bIns="0" rtlCol="0" anchor="ctr"/>
          <a:lstStyle/>
          <a:p>
            <a:pPr marL="0" indent="0">
              <a:buNone/>
            </a:pPr>
            <a:r>
              <a:rPr lang="en-US" sz="800" dirty="0">
                <a:solidFill>
                  <a:srgbClr val="64748B"/>
                </a:solidFill>
              </a:rPr>
              <a:t>Fraud amount premium</a:t>
            </a:r>
            <a:endParaRPr lang="en-US" sz="800" dirty="0"/>
          </a:p>
        </p:txBody>
      </p:sp>
      <p:sp>
        <p:nvSpPr>
          <p:cNvPr id="17" name="Shape 15"/>
          <p:cNvSpPr/>
          <p:nvPr/>
        </p:nvSpPr>
        <p:spPr>
          <a:xfrm>
            <a:off x="3172968" y="658368"/>
            <a:ext cx="2816352" cy="19659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3172968" y="658368"/>
            <a:ext cx="2816352" cy="54864"/>
          </a:xfrm>
          <a:prstGeom prst="rect">
            <a:avLst/>
          </a:prstGeom>
          <a:solidFill>
            <a:srgbClr val="D97706"/>
          </a:solidFill>
          <a:ln/>
        </p:spPr>
        <p:txBody>
          <a:bodyPr/>
          <a:lstStyle/>
          <a:p>
            <a:endParaRPr lang="en-US"/>
          </a:p>
        </p:txBody>
      </p:sp>
      <p:sp>
        <p:nvSpPr>
          <p:cNvPr id="19" name="Shape 17"/>
          <p:cNvSpPr/>
          <p:nvPr/>
        </p:nvSpPr>
        <p:spPr>
          <a:xfrm>
            <a:off x="3264408" y="768096"/>
            <a:ext cx="292608" cy="292608"/>
          </a:xfrm>
          <a:prstGeom prst="ellipse">
            <a:avLst/>
          </a:prstGeom>
          <a:solidFill>
            <a:srgbClr val="D97706"/>
          </a:solidFill>
          <a:ln/>
        </p:spPr>
        <p:txBody>
          <a:bodyPr/>
          <a:lstStyle/>
          <a:p>
            <a:endParaRPr lang="en-US"/>
          </a:p>
        </p:txBody>
      </p:sp>
      <p:sp>
        <p:nvSpPr>
          <p:cNvPr id="20" name="Text 18"/>
          <p:cNvSpPr/>
          <p:nvPr/>
        </p:nvSpPr>
        <p:spPr>
          <a:xfrm>
            <a:off x="3264408" y="768096"/>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rPr>
              <a:t>02</a:t>
            </a:r>
            <a:endParaRPr lang="en-US" sz="900" dirty="0"/>
          </a:p>
        </p:txBody>
      </p:sp>
      <p:sp>
        <p:nvSpPr>
          <p:cNvPr id="21" name="Text 19"/>
          <p:cNvSpPr/>
          <p:nvPr/>
        </p:nvSpPr>
        <p:spPr>
          <a:xfrm>
            <a:off x="3630168" y="768096"/>
            <a:ext cx="2304288" cy="292608"/>
          </a:xfrm>
          <a:prstGeom prst="rect">
            <a:avLst/>
          </a:prstGeom>
          <a:noFill/>
          <a:ln/>
        </p:spPr>
        <p:txBody>
          <a:bodyPr wrap="square" lIns="0" tIns="0" rIns="0" bIns="0" rtlCol="0" anchor="ctr"/>
          <a:lstStyle/>
          <a:p>
            <a:pPr marL="0" indent="0">
              <a:buNone/>
            </a:pPr>
            <a:r>
              <a:rPr lang="en-US" sz="950" b="1" dirty="0">
                <a:solidFill>
                  <a:srgbClr val="1B3A6B"/>
                </a:solidFill>
              </a:rPr>
              <a:t>Time-to-Claim (Timing Signal)</a:t>
            </a:r>
            <a:endParaRPr lang="en-US" sz="950" dirty="0"/>
          </a:p>
        </p:txBody>
      </p:sp>
      <p:sp>
        <p:nvSpPr>
          <p:cNvPr id="22" name="Text 20"/>
          <p:cNvSpPr/>
          <p:nvPr/>
        </p:nvSpPr>
        <p:spPr>
          <a:xfrm>
            <a:off x="3264408" y="1133856"/>
            <a:ext cx="2633472" cy="914400"/>
          </a:xfrm>
          <a:prstGeom prst="rect">
            <a:avLst/>
          </a:prstGeom>
          <a:noFill/>
          <a:ln/>
        </p:spPr>
        <p:txBody>
          <a:bodyPr wrap="square" lIns="0" tIns="0" rIns="0" bIns="0" rtlCol="0" anchor="ctr"/>
          <a:lstStyle/>
          <a:p>
            <a:pPr marL="0" indent="0">
              <a:buNone/>
            </a:pPr>
            <a:r>
              <a:rPr lang="en-US" sz="850" dirty="0">
                <a:solidFill>
                  <a:srgbClr val="1E293B"/>
                </a:solidFill>
              </a:rPr>
              <a:t>28.4% of fraud claims occur within 14 days of policy activation vs. 7.1% for legitimate. This is the single most actionable business signal, implementable as a simple routing rule before any ML model.</a:t>
            </a:r>
            <a:endParaRPr lang="en-US" sz="850" dirty="0"/>
          </a:p>
        </p:txBody>
      </p:sp>
      <p:sp>
        <p:nvSpPr>
          <p:cNvPr id="23" name="Shape 21"/>
          <p:cNvSpPr/>
          <p:nvPr/>
        </p:nvSpPr>
        <p:spPr>
          <a:xfrm>
            <a:off x="3264408" y="2084832"/>
            <a:ext cx="2633472" cy="457200"/>
          </a:xfrm>
          <a:prstGeom prst="rect">
            <a:avLst/>
          </a:prstGeom>
          <a:solidFill>
            <a:srgbClr val="EFF6FF"/>
          </a:solidFill>
          <a:ln/>
        </p:spPr>
        <p:txBody>
          <a:bodyPr/>
          <a:lstStyle/>
          <a:p>
            <a:endParaRPr lang="en-US"/>
          </a:p>
        </p:txBody>
      </p:sp>
      <p:sp>
        <p:nvSpPr>
          <p:cNvPr id="24" name="Text 22"/>
          <p:cNvSpPr/>
          <p:nvPr/>
        </p:nvSpPr>
        <p:spPr>
          <a:xfrm>
            <a:off x="3264408" y="2084832"/>
            <a:ext cx="822960" cy="457200"/>
          </a:xfrm>
          <a:prstGeom prst="rect">
            <a:avLst/>
          </a:prstGeom>
          <a:noFill/>
          <a:ln/>
        </p:spPr>
        <p:txBody>
          <a:bodyPr wrap="square" lIns="0" tIns="0" rIns="0" bIns="0" rtlCol="0" anchor="ctr"/>
          <a:lstStyle/>
          <a:p>
            <a:pPr marL="0" indent="0" algn="ctr">
              <a:buNone/>
            </a:pPr>
            <a:r>
              <a:rPr lang="en-US" sz="1800" b="1" dirty="0">
                <a:solidFill>
                  <a:srgbClr val="D97706"/>
                </a:solidFill>
              </a:rPr>
              <a:t>4×</a:t>
            </a:r>
            <a:endParaRPr lang="en-US" sz="1800" dirty="0"/>
          </a:p>
        </p:txBody>
      </p:sp>
      <p:sp>
        <p:nvSpPr>
          <p:cNvPr id="25" name="Text 23"/>
          <p:cNvSpPr/>
          <p:nvPr/>
        </p:nvSpPr>
        <p:spPr>
          <a:xfrm>
            <a:off x="4133088" y="2121408"/>
            <a:ext cx="1719072" cy="384048"/>
          </a:xfrm>
          <a:prstGeom prst="rect">
            <a:avLst/>
          </a:prstGeom>
          <a:noFill/>
          <a:ln/>
        </p:spPr>
        <p:txBody>
          <a:bodyPr wrap="square" lIns="0" tIns="0" rIns="0" bIns="0" rtlCol="0" anchor="ctr"/>
          <a:lstStyle/>
          <a:p>
            <a:pPr marL="0" indent="0">
              <a:buNone/>
            </a:pPr>
            <a:r>
              <a:rPr lang="en-US" sz="800" dirty="0">
                <a:solidFill>
                  <a:srgbClr val="64748B"/>
                </a:solidFill>
              </a:rPr>
              <a:t>Early claim fraud rate</a:t>
            </a:r>
            <a:endParaRPr lang="en-US" sz="800" dirty="0"/>
          </a:p>
        </p:txBody>
      </p:sp>
      <p:sp>
        <p:nvSpPr>
          <p:cNvPr id="26" name="Shape 24"/>
          <p:cNvSpPr/>
          <p:nvPr/>
        </p:nvSpPr>
        <p:spPr>
          <a:xfrm>
            <a:off x="6144768" y="658368"/>
            <a:ext cx="2816352" cy="19659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6144768" y="658368"/>
            <a:ext cx="2816352" cy="54864"/>
          </a:xfrm>
          <a:prstGeom prst="rect">
            <a:avLst/>
          </a:prstGeom>
          <a:solidFill>
            <a:srgbClr val="7C3AED"/>
          </a:solidFill>
          <a:ln/>
        </p:spPr>
        <p:txBody>
          <a:bodyPr/>
          <a:lstStyle/>
          <a:p>
            <a:endParaRPr lang="en-US"/>
          </a:p>
        </p:txBody>
      </p:sp>
      <p:sp>
        <p:nvSpPr>
          <p:cNvPr id="28" name="Shape 26"/>
          <p:cNvSpPr/>
          <p:nvPr/>
        </p:nvSpPr>
        <p:spPr>
          <a:xfrm>
            <a:off x="6236208" y="768096"/>
            <a:ext cx="292608" cy="292608"/>
          </a:xfrm>
          <a:prstGeom prst="ellipse">
            <a:avLst/>
          </a:prstGeom>
          <a:solidFill>
            <a:srgbClr val="7C3AED"/>
          </a:solidFill>
          <a:ln/>
        </p:spPr>
        <p:txBody>
          <a:bodyPr/>
          <a:lstStyle/>
          <a:p>
            <a:endParaRPr lang="en-US"/>
          </a:p>
        </p:txBody>
      </p:sp>
      <p:sp>
        <p:nvSpPr>
          <p:cNvPr id="29" name="Text 27"/>
          <p:cNvSpPr/>
          <p:nvPr/>
        </p:nvSpPr>
        <p:spPr>
          <a:xfrm>
            <a:off x="6236208" y="768096"/>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rPr>
              <a:t>03</a:t>
            </a:r>
            <a:endParaRPr lang="en-US" sz="900" dirty="0"/>
          </a:p>
        </p:txBody>
      </p:sp>
      <p:sp>
        <p:nvSpPr>
          <p:cNvPr id="30" name="Text 28"/>
          <p:cNvSpPr/>
          <p:nvPr/>
        </p:nvSpPr>
        <p:spPr>
          <a:xfrm>
            <a:off x="6601968" y="768096"/>
            <a:ext cx="2304288" cy="292608"/>
          </a:xfrm>
          <a:prstGeom prst="rect">
            <a:avLst/>
          </a:prstGeom>
          <a:noFill/>
          <a:ln/>
        </p:spPr>
        <p:txBody>
          <a:bodyPr wrap="square" lIns="0" tIns="0" rIns="0" bIns="0" rtlCol="0" anchor="ctr"/>
          <a:lstStyle/>
          <a:p>
            <a:pPr marL="0" indent="0">
              <a:buNone/>
            </a:pPr>
            <a:r>
              <a:rPr lang="en-US" sz="950" b="1" dirty="0">
                <a:solidFill>
                  <a:srgbClr val="1B3A6B"/>
                </a:solidFill>
              </a:rPr>
              <a:t>Partner Channel Variance</a:t>
            </a:r>
            <a:endParaRPr lang="en-US" sz="950" dirty="0"/>
          </a:p>
        </p:txBody>
      </p:sp>
      <p:sp>
        <p:nvSpPr>
          <p:cNvPr id="31" name="Text 29"/>
          <p:cNvSpPr/>
          <p:nvPr/>
        </p:nvSpPr>
        <p:spPr>
          <a:xfrm>
            <a:off x="6236208" y="1133856"/>
            <a:ext cx="2633472" cy="914400"/>
          </a:xfrm>
          <a:prstGeom prst="rect">
            <a:avLst/>
          </a:prstGeom>
          <a:noFill/>
          <a:ln/>
        </p:spPr>
        <p:txBody>
          <a:bodyPr wrap="square" lIns="0" tIns="0" rIns="0" bIns="0" rtlCol="0" anchor="ctr"/>
          <a:lstStyle/>
          <a:p>
            <a:pPr marL="0" indent="0">
              <a:buNone/>
            </a:pPr>
            <a:r>
              <a:rPr lang="en-US" sz="850" dirty="0">
                <a:solidFill>
                  <a:srgbClr val="1E293B"/>
                </a:solidFill>
              </a:rPr>
              <a:t>Top 10 highest-fraud-rate partners account for 31% of all fraud events but only 8% of claim volume. Partner fraud rate is highly concentrated, a small number of outlier partners drive disproportionate fraud exposure.</a:t>
            </a:r>
            <a:endParaRPr lang="en-US" sz="850" dirty="0"/>
          </a:p>
        </p:txBody>
      </p:sp>
      <p:sp>
        <p:nvSpPr>
          <p:cNvPr id="32" name="Shape 30"/>
          <p:cNvSpPr/>
          <p:nvPr/>
        </p:nvSpPr>
        <p:spPr>
          <a:xfrm>
            <a:off x="6236208" y="2084832"/>
            <a:ext cx="2633472" cy="457200"/>
          </a:xfrm>
          <a:prstGeom prst="rect">
            <a:avLst/>
          </a:prstGeom>
          <a:solidFill>
            <a:srgbClr val="EFF6FF"/>
          </a:solidFill>
          <a:ln/>
        </p:spPr>
        <p:txBody>
          <a:bodyPr/>
          <a:lstStyle/>
          <a:p>
            <a:endParaRPr lang="en-US"/>
          </a:p>
        </p:txBody>
      </p:sp>
      <p:sp>
        <p:nvSpPr>
          <p:cNvPr id="33" name="Text 31"/>
          <p:cNvSpPr/>
          <p:nvPr/>
        </p:nvSpPr>
        <p:spPr>
          <a:xfrm>
            <a:off x="6236208" y="2084832"/>
            <a:ext cx="822960" cy="457200"/>
          </a:xfrm>
          <a:prstGeom prst="rect">
            <a:avLst/>
          </a:prstGeom>
          <a:noFill/>
          <a:ln/>
        </p:spPr>
        <p:txBody>
          <a:bodyPr wrap="square" lIns="0" tIns="0" rIns="0" bIns="0" rtlCol="0" anchor="ctr"/>
          <a:lstStyle/>
          <a:p>
            <a:pPr marL="0" indent="0" algn="ctr">
              <a:buNone/>
            </a:pPr>
            <a:r>
              <a:rPr lang="en-US" sz="1800" b="1" dirty="0">
                <a:solidFill>
                  <a:srgbClr val="7C3AED"/>
                </a:solidFill>
              </a:rPr>
              <a:t>31%</a:t>
            </a:r>
            <a:endParaRPr lang="en-US" sz="1800" dirty="0"/>
          </a:p>
        </p:txBody>
      </p:sp>
      <p:sp>
        <p:nvSpPr>
          <p:cNvPr id="34" name="Text 32"/>
          <p:cNvSpPr/>
          <p:nvPr/>
        </p:nvSpPr>
        <p:spPr>
          <a:xfrm>
            <a:off x="7104888" y="2121408"/>
            <a:ext cx="1719072" cy="384048"/>
          </a:xfrm>
          <a:prstGeom prst="rect">
            <a:avLst/>
          </a:prstGeom>
          <a:noFill/>
          <a:ln/>
        </p:spPr>
        <p:txBody>
          <a:bodyPr wrap="square" lIns="0" tIns="0" rIns="0" bIns="0" rtlCol="0" anchor="ctr"/>
          <a:lstStyle/>
          <a:p>
            <a:pPr marL="0" indent="0">
              <a:buNone/>
            </a:pPr>
            <a:r>
              <a:rPr lang="en-US" sz="800" dirty="0">
                <a:solidFill>
                  <a:srgbClr val="64748B"/>
                </a:solidFill>
              </a:rPr>
              <a:t>Fraud from 10 partners</a:t>
            </a:r>
            <a:endParaRPr lang="en-US" sz="800" dirty="0"/>
          </a:p>
        </p:txBody>
      </p:sp>
      <p:sp>
        <p:nvSpPr>
          <p:cNvPr id="35" name="Shape 33"/>
          <p:cNvSpPr/>
          <p:nvPr/>
        </p:nvSpPr>
        <p:spPr>
          <a:xfrm>
            <a:off x="201168" y="2743200"/>
            <a:ext cx="2816352" cy="19659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6" name="Shape 34"/>
          <p:cNvSpPr/>
          <p:nvPr/>
        </p:nvSpPr>
        <p:spPr>
          <a:xfrm>
            <a:off x="201168" y="2743200"/>
            <a:ext cx="2816352" cy="54864"/>
          </a:xfrm>
          <a:prstGeom prst="rect">
            <a:avLst/>
          </a:prstGeom>
          <a:solidFill>
            <a:srgbClr val="2563EB"/>
          </a:solidFill>
          <a:ln/>
        </p:spPr>
        <p:txBody>
          <a:bodyPr/>
          <a:lstStyle/>
          <a:p>
            <a:endParaRPr lang="en-US"/>
          </a:p>
        </p:txBody>
      </p:sp>
      <p:sp>
        <p:nvSpPr>
          <p:cNvPr id="37" name="Shape 35"/>
          <p:cNvSpPr/>
          <p:nvPr/>
        </p:nvSpPr>
        <p:spPr>
          <a:xfrm>
            <a:off x="292608" y="2852928"/>
            <a:ext cx="292608" cy="292608"/>
          </a:xfrm>
          <a:prstGeom prst="ellipse">
            <a:avLst/>
          </a:prstGeom>
          <a:solidFill>
            <a:srgbClr val="2563EB"/>
          </a:solidFill>
          <a:ln/>
        </p:spPr>
        <p:txBody>
          <a:bodyPr/>
          <a:lstStyle/>
          <a:p>
            <a:endParaRPr lang="en-US"/>
          </a:p>
        </p:txBody>
      </p:sp>
      <p:sp>
        <p:nvSpPr>
          <p:cNvPr id="38" name="Text 36"/>
          <p:cNvSpPr/>
          <p:nvPr/>
        </p:nvSpPr>
        <p:spPr>
          <a:xfrm>
            <a:off x="292608" y="2852928"/>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rPr>
              <a:t>04</a:t>
            </a:r>
            <a:endParaRPr lang="en-US" sz="900" dirty="0"/>
          </a:p>
        </p:txBody>
      </p:sp>
      <p:sp>
        <p:nvSpPr>
          <p:cNvPr id="39" name="Text 37"/>
          <p:cNvSpPr/>
          <p:nvPr/>
        </p:nvSpPr>
        <p:spPr>
          <a:xfrm>
            <a:off x="658368" y="2852928"/>
            <a:ext cx="2304288" cy="292608"/>
          </a:xfrm>
          <a:prstGeom prst="rect">
            <a:avLst/>
          </a:prstGeom>
          <a:noFill/>
          <a:ln/>
        </p:spPr>
        <p:txBody>
          <a:bodyPr wrap="square" lIns="0" tIns="0" rIns="0" bIns="0" rtlCol="0" anchor="ctr"/>
          <a:lstStyle/>
          <a:p>
            <a:pPr marL="0" indent="0">
              <a:buNone/>
            </a:pPr>
            <a:r>
              <a:rPr lang="en-US" sz="950" b="1" dirty="0">
                <a:solidFill>
                  <a:srgbClr val="1B3A6B"/>
                </a:solidFill>
              </a:rPr>
              <a:t>Email Domain Risk Signal</a:t>
            </a:r>
            <a:endParaRPr lang="en-US" sz="950" dirty="0"/>
          </a:p>
        </p:txBody>
      </p:sp>
      <p:sp>
        <p:nvSpPr>
          <p:cNvPr id="40" name="Text 38"/>
          <p:cNvSpPr/>
          <p:nvPr/>
        </p:nvSpPr>
        <p:spPr>
          <a:xfrm>
            <a:off x="292608" y="3218688"/>
            <a:ext cx="2633472" cy="914400"/>
          </a:xfrm>
          <a:prstGeom prst="rect">
            <a:avLst/>
          </a:prstGeom>
          <a:noFill/>
          <a:ln/>
        </p:spPr>
        <p:txBody>
          <a:bodyPr wrap="square" lIns="0" tIns="0" rIns="0" bIns="0" rtlCol="0" anchor="ctr"/>
          <a:lstStyle/>
          <a:p>
            <a:pPr marL="0" indent="0">
              <a:buNone/>
            </a:pPr>
            <a:r>
              <a:rPr lang="en-US" sz="850" dirty="0">
                <a:solidFill>
                  <a:srgbClr val="1E293B"/>
                </a:solidFill>
              </a:rPr>
              <a:t>Fraud rate for disposable/anonymous email domains: 11.2% vs. 2.8% for verified domains. Email risk score engineered as ordinal encoding: 0=trusted, 0.5=medium, 1.0=high-risk.</a:t>
            </a:r>
            <a:endParaRPr lang="en-US" sz="850" dirty="0"/>
          </a:p>
        </p:txBody>
      </p:sp>
      <p:sp>
        <p:nvSpPr>
          <p:cNvPr id="41" name="Shape 39"/>
          <p:cNvSpPr/>
          <p:nvPr/>
        </p:nvSpPr>
        <p:spPr>
          <a:xfrm>
            <a:off x="292608" y="4169664"/>
            <a:ext cx="2633472" cy="457200"/>
          </a:xfrm>
          <a:prstGeom prst="rect">
            <a:avLst/>
          </a:prstGeom>
          <a:solidFill>
            <a:srgbClr val="EFF6FF"/>
          </a:solidFill>
          <a:ln/>
        </p:spPr>
        <p:txBody>
          <a:bodyPr/>
          <a:lstStyle/>
          <a:p>
            <a:endParaRPr lang="en-US"/>
          </a:p>
        </p:txBody>
      </p:sp>
      <p:sp>
        <p:nvSpPr>
          <p:cNvPr id="42" name="Text 40"/>
          <p:cNvSpPr/>
          <p:nvPr/>
        </p:nvSpPr>
        <p:spPr>
          <a:xfrm>
            <a:off x="292608" y="4169664"/>
            <a:ext cx="822960" cy="457200"/>
          </a:xfrm>
          <a:prstGeom prst="rect">
            <a:avLst/>
          </a:prstGeom>
          <a:noFill/>
          <a:ln/>
        </p:spPr>
        <p:txBody>
          <a:bodyPr wrap="square" lIns="0" tIns="0" rIns="0" bIns="0" rtlCol="0" anchor="ctr"/>
          <a:lstStyle/>
          <a:p>
            <a:pPr marL="0" indent="0" algn="ctr">
              <a:buNone/>
            </a:pPr>
            <a:r>
              <a:rPr lang="en-US" sz="1800" b="1" dirty="0">
                <a:solidFill>
                  <a:srgbClr val="2563EB"/>
                </a:solidFill>
              </a:rPr>
              <a:t>4×</a:t>
            </a:r>
            <a:endParaRPr lang="en-US" sz="1800" dirty="0"/>
          </a:p>
        </p:txBody>
      </p:sp>
      <p:sp>
        <p:nvSpPr>
          <p:cNvPr id="43" name="Text 41"/>
          <p:cNvSpPr/>
          <p:nvPr/>
        </p:nvSpPr>
        <p:spPr>
          <a:xfrm>
            <a:off x="1161288" y="4206240"/>
            <a:ext cx="1719072" cy="384048"/>
          </a:xfrm>
          <a:prstGeom prst="rect">
            <a:avLst/>
          </a:prstGeom>
          <a:noFill/>
          <a:ln/>
        </p:spPr>
        <p:txBody>
          <a:bodyPr wrap="square" lIns="0" tIns="0" rIns="0" bIns="0" rtlCol="0" anchor="ctr"/>
          <a:lstStyle/>
          <a:p>
            <a:pPr marL="0" indent="0">
              <a:buNone/>
            </a:pPr>
            <a:r>
              <a:rPr lang="en-US" sz="800" dirty="0">
                <a:solidFill>
                  <a:srgbClr val="64748B"/>
                </a:solidFill>
              </a:rPr>
              <a:t>Fraud rate: anon vs. verified email</a:t>
            </a:r>
            <a:endParaRPr lang="en-US" sz="800" dirty="0"/>
          </a:p>
        </p:txBody>
      </p:sp>
      <p:sp>
        <p:nvSpPr>
          <p:cNvPr id="44" name="Shape 42"/>
          <p:cNvSpPr/>
          <p:nvPr/>
        </p:nvSpPr>
        <p:spPr>
          <a:xfrm>
            <a:off x="3172968" y="2743200"/>
            <a:ext cx="2816352" cy="19659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5" name="Shape 43"/>
          <p:cNvSpPr/>
          <p:nvPr/>
        </p:nvSpPr>
        <p:spPr>
          <a:xfrm>
            <a:off x="3172968" y="2743200"/>
            <a:ext cx="2816352" cy="54864"/>
          </a:xfrm>
          <a:prstGeom prst="rect">
            <a:avLst/>
          </a:prstGeom>
          <a:solidFill>
            <a:srgbClr val="059669"/>
          </a:solidFill>
          <a:ln/>
        </p:spPr>
        <p:txBody>
          <a:bodyPr/>
          <a:lstStyle/>
          <a:p>
            <a:endParaRPr lang="en-US"/>
          </a:p>
        </p:txBody>
      </p:sp>
      <p:sp>
        <p:nvSpPr>
          <p:cNvPr id="46" name="Shape 44"/>
          <p:cNvSpPr/>
          <p:nvPr/>
        </p:nvSpPr>
        <p:spPr>
          <a:xfrm>
            <a:off x="3264408" y="2852928"/>
            <a:ext cx="292608" cy="292608"/>
          </a:xfrm>
          <a:prstGeom prst="ellipse">
            <a:avLst/>
          </a:prstGeom>
          <a:solidFill>
            <a:srgbClr val="059669"/>
          </a:solidFill>
          <a:ln/>
        </p:spPr>
        <p:txBody>
          <a:bodyPr/>
          <a:lstStyle/>
          <a:p>
            <a:endParaRPr lang="en-US"/>
          </a:p>
        </p:txBody>
      </p:sp>
      <p:sp>
        <p:nvSpPr>
          <p:cNvPr id="47" name="Text 45"/>
          <p:cNvSpPr/>
          <p:nvPr/>
        </p:nvSpPr>
        <p:spPr>
          <a:xfrm>
            <a:off x="3264408" y="2852928"/>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rPr>
              <a:t>05</a:t>
            </a:r>
            <a:endParaRPr lang="en-US" sz="900" dirty="0"/>
          </a:p>
        </p:txBody>
      </p:sp>
      <p:sp>
        <p:nvSpPr>
          <p:cNvPr id="48" name="Text 46"/>
          <p:cNvSpPr/>
          <p:nvPr/>
        </p:nvSpPr>
        <p:spPr>
          <a:xfrm>
            <a:off x="3630168" y="2852928"/>
            <a:ext cx="2304288" cy="292608"/>
          </a:xfrm>
          <a:prstGeom prst="rect">
            <a:avLst/>
          </a:prstGeom>
          <a:noFill/>
          <a:ln/>
        </p:spPr>
        <p:txBody>
          <a:bodyPr wrap="square" lIns="0" tIns="0" rIns="0" bIns="0" rtlCol="0" anchor="ctr"/>
          <a:lstStyle/>
          <a:p>
            <a:pPr marL="0" indent="0">
              <a:buNone/>
            </a:pPr>
            <a:r>
              <a:rPr lang="en-US" sz="950" b="1" dirty="0">
                <a:solidFill>
                  <a:srgbClr val="1B3A6B"/>
                </a:solidFill>
              </a:rPr>
              <a:t>Behavioral V-Features (SHAP Top 3)</a:t>
            </a:r>
            <a:endParaRPr lang="en-US" sz="950" dirty="0"/>
          </a:p>
        </p:txBody>
      </p:sp>
      <p:sp>
        <p:nvSpPr>
          <p:cNvPr id="49" name="Text 47"/>
          <p:cNvSpPr/>
          <p:nvPr/>
        </p:nvSpPr>
        <p:spPr>
          <a:xfrm>
            <a:off x="3264408" y="3218688"/>
            <a:ext cx="2633472" cy="914400"/>
          </a:xfrm>
          <a:prstGeom prst="rect">
            <a:avLst/>
          </a:prstGeom>
          <a:noFill/>
          <a:ln/>
        </p:spPr>
        <p:txBody>
          <a:bodyPr wrap="square" lIns="0" tIns="0" rIns="0" bIns="0" rtlCol="0" anchor="ctr"/>
          <a:lstStyle/>
          <a:p>
            <a:pPr marL="0" indent="0">
              <a:buNone/>
            </a:pPr>
            <a:r>
              <a:rPr lang="en-US" sz="850" dirty="0">
                <a:solidFill>
                  <a:srgbClr val="1E293B"/>
                </a:solidFill>
              </a:rPr>
              <a:t>V126, V130, V136 show clear bimodal KDE separation between fraud and legitimate. Fraud clusters near 0 (anomalous device/session), legitimate clusters near 1. These capture device fingerprint consistency.</a:t>
            </a:r>
            <a:endParaRPr lang="en-US" sz="850" dirty="0"/>
          </a:p>
        </p:txBody>
      </p:sp>
      <p:sp>
        <p:nvSpPr>
          <p:cNvPr id="50" name="Shape 48"/>
          <p:cNvSpPr/>
          <p:nvPr/>
        </p:nvSpPr>
        <p:spPr>
          <a:xfrm>
            <a:off x="3264408" y="4169664"/>
            <a:ext cx="2633472" cy="457200"/>
          </a:xfrm>
          <a:prstGeom prst="rect">
            <a:avLst/>
          </a:prstGeom>
          <a:solidFill>
            <a:srgbClr val="EFF6FF"/>
          </a:solidFill>
          <a:ln/>
        </p:spPr>
        <p:txBody>
          <a:bodyPr/>
          <a:lstStyle/>
          <a:p>
            <a:endParaRPr lang="en-US"/>
          </a:p>
        </p:txBody>
      </p:sp>
      <p:sp>
        <p:nvSpPr>
          <p:cNvPr id="51" name="Text 49"/>
          <p:cNvSpPr/>
          <p:nvPr/>
        </p:nvSpPr>
        <p:spPr>
          <a:xfrm>
            <a:off x="3264408" y="4169664"/>
            <a:ext cx="822960" cy="457200"/>
          </a:xfrm>
          <a:prstGeom prst="rect">
            <a:avLst/>
          </a:prstGeom>
          <a:noFill/>
          <a:ln/>
        </p:spPr>
        <p:txBody>
          <a:bodyPr wrap="square" lIns="0" tIns="0" rIns="0" bIns="0" rtlCol="0" anchor="ctr"/>
          <a:lstStyle/>
          <a:p>
            <a:pPr marL="0" indent="0" algn="ctr">
              <a:buNone/>
            </a:pPr>
            <a:r>
              <a:rPr lang="en-US" sz="1800" b="1" dirty="0">
                <a:solidFill>
                  <a:srgbClr val="059669"/>
                </a:solidFill>
              </a:rPr>
              <a:t>87%</a:t>
            </a:r>
            <a:endParaRPr lang="en-US" sz="1800" dirty="0"/>
          </a:p>
        </p:txBody>
      </p:sp>
      <p:sp>
        <p:nvSpPr>
          <p:cNvPr id="52" name="Text 50"/>
          <p:cNvSpPr/>
          <p:nvPr/>
        </p:nvSpPr>
        <p:spPr>
          <a:xfrm>
            <a:off x="4133088" y="4206240"/>
            <a:ext cx="1719072" cy="384048"/>
          </a:xfrm>
          <a:prstGeom prst="rect">
            <a:avLst/>
          </a:prstGeom>
          <a:noFill/>
          <a:ln/>
        </p:spPr>
        <p:txBody>
          <a:bodyPr wrap="square" lIns="0" tIns="0" rIns="0" bIns="0" rtlCol="0" anchor="ctr"/>
          <a:lstStyle/>
          <a:p>
            <a:pPr marL="0" indent="0">
              <a:buNone/>
            </a:pPr>
            <a:r>
              <a:rPr lang="en-US" sz="800" dirty="0">
                <a:solidFill>
                  <a:srgbClr val="64748B"/>
                </a:solidFill>
              </a:rPr>
              <a:t>Variance explained by top 20 features</a:t>
            </a:r>
            <a:endParaRPr lang="en-US" sz="800" dirty="0"/>
          </a:p>
        </p:txBody>
      </p:sp>
      <p:sp>
        <p:nvSpPr>
          <p:cNvPr id="53" name="Shape 51"/>
          <p:cNvSpPr/>
          <p:nvPr/>
        </p:nvSpPr>
        <p:spPr>
          <a:xfrm>
            <a:off x="6144768" y="2743200"/>
            <a:ext cx="2816352" cy="19659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4" name="Shape 52"/>
          <p:cNvSpPr/>
          <p:nvPr/>
        </p:nvSpPr>
        <p:spPr>
          <a:xfrm>
            <a:off x="6144768" y="2743200"/>
            <a:ext cx="2816352" cy="54864"/>
          </a:xfrm>
          <a:prstGeom prst="rect">
            <a:avLst/>
          </a:prstGeom>
          <a:solidFill>
            <a:srgbClr val="0891B2"/>
          </a:solidFill>
          <a:ln/>
        </p:spPr>
        <p:txBody>
          <a:bodyPr/>
          <a:lstStyle/>
          <a:p>
            <a:endParaRPr lang="en-US"/>
          </a:p>
        </p:txBody>
      </p:sp>
      <p:sp>
        <p:nvSpPr>
          <p:cNvPr id="55" name="Shape 53"/>
          <p:cNvSpPr/>
          <p:nvPr/>
        </p:nvSpPr>
        <p:spPr>
          <a:xfrm>
            <a:off x="6236208" y="2852928"/>
            <a:ext cx="292608" cy="292608"/>
          </a:xfrm>
          <a:prstGeom prst="ellipse">
            <a:avLst/>
          </a:prstGeom>
          <a:solidFill>
            <a:srgbClr val="0891B2"/>
          </a:solidFill>
          <a:ln/>
        </p:spPr>
        <p:txBody>
          <a:bodyPr/>
          <a:lstStyle/>
          <a:p>
            <a:endParaRPr lang="en-US"/>
          </a:p>
        </p:txBody>
      </p:sp>
      <p:sp>
        <p:nvSpPr>
          <p:cNvPr id="56" name="Text 54"/>
          <p:cNvSpPr/>
          <p:nvPr/>
        </p:nvSpPr>
        <p:spPr>
          <a:xfrm>
            <a:off x="6236208" y="2852928"/>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rPr>
              <a:t>06</a:t>
            </a:r>
            <a:endParaRPr lang="en-US" sz="900" dirty="0"/>
          </a:p>
        </p:txBody>
      </p:sp>
      <p:sp>
        <p:nvSpPr>
          <p:cNvPr id="57" name="Text 55"/>
          <p:cNvSpPr/>
          <p:nvPr/>
        </p:nvSpPr>
        <p:spPr>
          <a:xfrm>
            <a:off x="6601968" y="2852928"/>
            <a:ext cx="2304288" cy="292608"/>
          </a:xfrm>
          <a:prstGeom prst="rect">
            <a:avLst/>
          </a:prstGeom>
          <a:noFill/>
          <a:ln/>
        </p:spPr>
        <p:txBody>
          <a:bodyPr wrap="square" lIns="0" tIns="0" rIns="0" bIns="0" rtlCol="0" anchor="ctr"/>
          <a:lstStyle/>
          <a:p>
            <a:pPr marL="0" indent="0">
              <a:buNone/>
            </a:pPr>
            <a:r>
              <a:rPr lang="en-US" sz="950" b="1" dirty="0">
                <a:solidFill>
                  <a:srgbClr val="1B3A6B"/>
                </a:solidFill>
              </a:rPr>
              <a:t>Identity Mismatch Score</a:t>
            </a:r>
            <a:endParaRPr lang="en-US" sz="950" dirty="0"/>
          </a:p>
        </p:txBody>
      </p:sp>
      <p:sp>
        <p:nvSpPr>
          <p:cNvPr id="58" name="Text 56"/>
          <p:cNvSpPr/>
          <p:nvPr/>
        </p:nvSpPr>
        <p:spPr>
          <a:xfrm>
            <a:off x="6236208" y="3218688"/>
            <a:ext cx="2633472" cy="914400"/>
          </a:xfrm>
          <a:prstGeom prst="rect">
            <a:avLst/>
          </a:prstGeom>
          <a:noFill/>
          <a:ln/>
        </p:spPr>
        <p:txBody>
          <a:bodyPr wrap="square" lIns="0" tIns="0" rIns="0" bIns="0" rtlCol="0" anchor="ctr"/>
          <a:lstStyle/>
          <a:p>
            <a:pPr marL="0" indent="0">
              <a:buNone/>
            </a:pPr>
            <a:r>
              <a:rPr lang="en-US" sz="850" dirty="0">
                <a:solidFill>
                  <a:srgbClr val="1E293B"/>
                </a:solidFill>
              </a:rPr>
              <a:t>Customers with all M-fields unverified (M4=M0) show fraud rate of 9.3% vs. 1.8% for fully verified. Mismatch score (count of non-verified M-fields) is a directly actionable underwriting signal.</a:t>
            </a:r>
            <a:endParaRPr lang="en-US" sz="850" dirty="0"/>
          </a:p>
        </p:txBody>
      </p:sp>
      <p:sp>
        <p:nvSpPr>
          <p:cNvPr id="59" name="Shape 57"/>
          <p:cNvSpPr/>
          <p:nvPr/>
        </p:nvSpPr>
        <p:spPr>
          <a:xfrm>
            <a:off x="6236208" y="4169664"/>
            <a:ext cx="2633472" cy="457200"/>
          </a:xfrm>
          <a:prstGeom prst="rect">
            <a:avLst/>
          </a:prstGeom>
          <a:solidFill>
            <a:srgbClr val="EFF6FF"/>
          </a:solidFill>
          <a:ln/>
        </p:spPr>
        <p:txBody>
          <a:bodyPr/>
          <a:lstStyle/>
          <a:p>
            <a:endParaRPr lang="en-US"/>
          </a:p>
        </p:txBody>
      </p:sp>
      <p:sp>
        <p:nvSpPr>
          <p:cNvPr id="60" name="Text 58"/>
          <p:cNvSpPr/>
          <p:nvPr/>
        </p:nvSpPr>
        <p:spPr>
          <a:xfrm>
            <a:off x="6236208" y="4169664"/>
            <a:ext cx="822960" cy="457200"/>
          </a:xfrm>
          <a:prstGeom prst="rect">
            <a:avLst/>
          </a:prstGeom>
          <a:noFill/>
          <a:ln/>
        </p:spPr>
        <p:txBody>
          <a:bodyPr wrap="square" lIns="0" tIns="0" rIns="0" bIns="0" rtlCol="0" anchor="ctr"/>
          <a:lstStyle/>
          <a:p>
            <a:pPr marL="0" indent="0" algn="ctr">
              <a:buNone/>
            </a:pPr>
            <a:r>
              <a:rPr lang="en-US" sz="1800" b="1" dirty="0">
                <a:solidFill>
                  <a:srgbClr val="0891B2"/>
                </a:solidFill>
              </a:rPr>
              <a:t>5.2×</a:t>
            </a:r>
            <a:endParaRPr lang="en-US" sz="1800" dirty="0"/>
          </a:p>
        </p:txBody>
      </p:sp>
      <p:sp>
        <p:nvSpPr>
          <p:cNvPr id="61" name="Text 59"/>
          <p:cNvSpPr/>
          <p:nvPr/>
        </p:nvSpPr>
        <p:spPr>
          <a:xfrm>
            <a:off x="7104888" y="4206240"/>
            <a:ext cx="1719072" cy="384048"/>
          </a:xfrm>
          <a:prstGeom prst="rect">
            <a:avLst/>
          </a:prstGeom>
          <a:noFill/>
          <a:ln/>
        </p:spPr>
        <p:txBody>
          <a:bodyPr wrap="square" lIns="0" tIns="0" rIns="0" bIns="0" rtlCol="0" anchor="ctr"/>
          <a:lstStyle/>
          <a:p>
            <a:pPr marL="0" indent="0">
              <a:buNone/>
            </a:pPr>
            <a:r>
              <a:rPr lang="en-US" sz="800" dirty="0">
                <a:solidFill>
                  <a:srgbClr val="64748B"/>
                </a:solidFill>
              </a:rPr>
              <a:t>Fraud rate: unverified vs. verified ID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A6B"/>
          </a:solidFill>
          <a:ln/>
        </p:spPr>
        <p:txBody>
          <a:bodyPr/>
          <a:lstStyle/>
          <a:p>
            <a:endParaRPr lang="en-US"/>
          </a:p>
        </p:txBody>
      </p:sp>
      <p:sp>
        <p:nvSpPr>
          <p:cNvPr id="3" name="Shape 1"/>
          <p:cNvSpPr/>
          <p:nvPr/>
        </p:nvSpPr>
        <p:spPr>
          <a:xfrm>
            <a:off x="109728" y="0"/>
            <a:ext cx="9034272" cy="502920"/>
          </a:xfrm>
          <a:prstGeom prst="rect">
            <a:avLst/>
          </a:prstGeom>
          <a:solidFill>
            <a:srgbClr val="1E293B"/>
          </a:solidFill>
          <a:ln/>
        </p:spPr>
        <p:txBody>
          <a:bodyPr/>
          <a:lstStyle/>
          <a:p>
            <a:endParaRPr lang="en-US"/>
          </a:p>
        </p:txBody>
      </p:sp>
      <p:sp>
        <p:nvSpPr>
          <p:cNvPr id="4" name="Shape 2"/>
          <p:cNvSpPr/>
          <p:nvPr/>
        </p:nvSpPr>
        <p:spPr>
          <a:xfrm>
            <a:off x="228600" y="91440"/>
            <a:ext cx="1005840" cy="320040"/>
          </a:xfrm>
          <a:prstGeom prst="rect">
            <a:avLst/>
          </a:prstGeom>
          <a:solidFill>
            <a:srgbClr val="2563EB"/>
          </a:solidFill>
          <a:ln/>
        </p:spPr>
        <p:txBody>
          <a:bodyPr/>
          <a:lstStyle/>
          <a:p>
            <a:endParaRPr lang="en-US"/>
          </a:p>
        </p:txBody>
      </p:sp>
      <p:sp>
        <p:nvSpPr>
          <p:cNvPr id="5" name="Text 3"/>
          <p:cNvSpPr/>
          <p:nvPr/>
        </p:nvSpPr>
        <p:spPr>
          <a:xfrm>
            <a:off x="228600" y="91440"/>
            <a:ext cx="1005840" cy="320040"/>
          </a:xfrm>
          <a:prstGeom prst="rect">
            <a:avLst/>
          </a:prstGeom>
          <a:noFill/>
          <a:ln/>
        </p:spPr>
        <p:txBody>
          <a:bodyPr wrap="square" lIns="0" tIns="0" rIns="0" bIns="0" rtlCol="0" anchor="ctr"/>
          <a:lstStyle/>
          <a:p>
            <a:pPr marL="0" indent="0" algn="ctr">
              <a:buNone/>
            </a:pPr>
            <a:r>
              <a:rPr lang="en-US" sz="900" b="1" dirty="0">
                <a:solidFill>
                  <a:srgbClr val="FFFFFF"/>
                </a:solidFill>
              </a:rPr>
              <a:t>STEP 3</a:t>
            </a:r>
            <a:endParaRPr lang="en-US" sz="900" dirty="0"/>
          </a:p>
        </p:txBody>
      </p:sp>
      <p:sp>
        <p:nvSpPr>
          <p:cNvPr id="6" name="Text 4"/>
          <p:cNvSpPr/>
          <p:nvPr/>
        </p:nvSpPr>
        <p:spPr>
          <a:xfrm>
            <a:off x="1371600" y="82296"/>
            <a:ext cx="7498080" cy="347472"/>
          </a:xfrm>
          <a:prstGeom prst="rect">
            <a:avLst/>
          </a:prstGeom>
          <a:noFill/>
          <a:ln/>
        </p:spPr>
        <p:txBody>
          <a:bodyPr wrap="square" lIns="0" tIns="0" rIns="0" bIns="0" rtlCol="0" anchor="ctr"/>
          <a:lstStyle/>
          <a:p>
            <a:pPr marL="0" indent="0">
              <a:buNone/>
            </a:pPr>
            <a:r>
              <a:rPr lang="en-US" sz="1500" b="1" dirty="0">
                <a:solidFill>
                  <a:srgbClr val="FFFFFF"/>
                </a:solidFill>
              </a:rPr>
              <a:t>Feature Engineering: 10 InsurTech-Specific Signals</a:t>
            </a:r>
            <a:endParaRPr lang="en-US" sz="1500" dirty="0"/>
          </a:p>
        </p:txBody>
      </p:sp>
      <p:sp>
        <p:nvSpPr>
          <p:cNvPr id="7" name="Text 5"/>
          <p:cNvSpPr/>
          <p:nvPr/>
        </p:nvSpPr>
        <p:spPr>
          <a:xfrm>
            <a:off x="109728" y="4800600"/>
            <a:ext cx="9034272" cy="320040"/>
          </a:xfrm>
          <a:prstGeom prst="rect">
            <a:avLst/>
          </a:prstGeom>
          <a:noFill/>
          <a:ln/>
        </p:spPr>
        <p:txBody>
          <a:bodyPr wrap="square" lIns="0" tIns="0" rIns="0" bIns="0" rtlCol="0" anchor="ctr"/>
          <a:lstStyle/>
          <a:p>
            <a:pPr marL="0" indent="0" algn="r">
              <a:buNone/>
            </a:pPr>
            <a:r>
              <a:rPr lang="en-US" sz="800" dirty="0">
                <a:solidFill>
                  <a:srgbClr val="64748B"/>
                </a:solidFill>
              </a:rPr>
              <a:t>ProTech Devices Asia  |  AIM Capstone 2025</a:t>
            </a:r>
            <a:endParaRPr lang="en-US" sz="800" dirty="0"/>
          </a:p>
        </p:txBody>
      </p:sp>
      <p:sp>
        <p:nvSpPr>
          <p:cNvPr id="8" name="Text 6"/>
          <p:cNvSpPr/>
          <p:nvPr/>
        </p:nvSpPr>
        <p:spPr>
          <a:xfrm>
            <a:off x="201168" y="603504"/>
            <a:ext cx="8686800" cy="274320"/>
          </a:xfrm>
          <a:prstGeom prst="rect">
            <a:avLst/>
          </a:prstGeom>
          <a:noFill/>
          <a:ln/>
        </p:spPr>
        <p:txBody>
          <a:bodyPr wrap="square" lIns="0" tIns="0" rIns="0" bIns="0" rtlCol="0" anchor="ctr"/>
          <a:lstStyle/>
          <a:p>
            <a:pPr marL="0" indent="0">
              <a:buNone/>
            </a:pPr>
            <a:r>
              <a:rPr lang="en-US" sz="900" b="1" dirty="0">
                <a:solidFill>
                  <a:srgbClr val="2563EB"/>
                </a:solidFill>
              </a:rPr>
              <a:t>Raw dataset → 394 features  →  VIF filter  →  XGBoost importance  →  55 selected features  →  10 engineered InsurTech features</a:t>
            </a:r>
            <a:endParaRPr lang="en-US" sz="900" dirty="0"/>
          </a:p>
        </p:txBody>
      </p:sp>
      <p:sp>
        <p:nvSpPr>
          <p:cNvPr id="9" name="Shape 7"/>
          <p:cNvSpPr/>
          <p:nvPr/>
        </p:nvSpPr>
        <p:spPr>
          <a:xfrm>
            <a:off x="201168" y="960120"/>
            <a:ext cx="4224528"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201168" y="960120"/>
            <a:ext cx="64008" cy="731520"/>
          </a:xfrm>
          <a:prstGeom prst="rect">
            <a:avLst/>
          </a:prstGeom>
          <a:solidFill>
            <a:srgbClr val="2563EB"/>
          </a:solidFill>
          <a:ln/>
        </p:spPr>
        <p:txBody>
          <a:bodyPr/>
          <a:lstStyle/>
          <a:p>
            <a:endParaRPr lang="en-US"/>
          </a:p>
        </p:txBody>
      </p:sp>
      <p:sp>
        <p:nvSpPr>
          <p:cNvPr id="11" name="Shape 9"/>
          <p:cNvSpPr/>
          <p:nvPr/>
        </p:nvSpPr>
        <p:spPr>
          <a:xfrm>
            <a:off x="3858768" y="1033272"/>
            <a:ext cx="502920" cy="201168"/>
          </a:xfrm>
          <a:prstGeom prst="rect">
            <a:avLst/>
          </a:prstGeom>
          <a:solidFill>
            <a:srgbClr val="2563EB"/>
          </a:solidFill>
          <a:ln/>
        </p:spPr>
        <p:txBody>
          <a:bodyPr/>
          <a:lstStyle/>
          <a:p>
            <a:endParaRPr lang="en-US"/>
          </a:p>
        </p:txBody>
      </p:sp>
      <p:sp>
        <p:nvSpPr>
          <p:cNvPr id="12" name="Text 10"/>
          <p:cNvSpPr/>
          <p:nvPr/>
        </p:nvSpPr>
        <p:spPr>
          <a:xfrm>
            <a:off x="3840480" y="1033272"/>
            <a:ext cx="521208" cy="201168"/>
          </a:xfrm>
          <a:prstGeom prst="rect">
            <a:avLst/>
          </a:prstGeom>
          <a:noFill/>
          <a:ln/>
        </p:spPr>
        <p:txBody>
          <a:bodyPr wrap="square" lIns="0" tIns="0" rIns="0" bIns="0" rtlCol="0" anchor="ctr"/>
          <a:lstStyle/>
          <a:p>
            <a:pPr marL="0" indent="0" algn="ctr">
              <a:buNone/>
            </a:pPr>
            <a:r>
              <a:rPr lang="en-US" sz="650" b="1" dirty="0">
                <a:solidFill>
                  <a:srgbClr val="FFFFFF"/>
                </a:solidFill>
              </a:rPr>
              <a:t>Transform</a:t>
            </a:r>
            <a:endParaRPr lang="en-US" sz="650" dirty="0"/>
          </a:p>
        </p:txBody>
      </p:sp>
      <p:sp>
        <p:nvSpPr>
          <p:cNvPr id="13" name="Text 11"/>
          <p:cNvSpPr/>
          <p:nvPr/>
        </p:nvSpPr>
        <p:spPr>
          <a:xfrm>
            <a:off x="338328" y="1014984"/>
            <a:ext cx="3383280" cy="256032"/>
          </a:xfrm>
          <a:prstGeom prst="rect">
            <a:avLst/>
          </a:prstGeom>
          <a:noFill/>
          <a:ln/>
        </p:spPr>
        <p:txBody>
          <a:bodyPr wrap="square" lIns="0" tIns="0" rIns="0" bIns="0" rtlCol="0" anchor="ctr"/>
          <a:lstStyle/>
          <a:p>
            <a:pPr marL="0" indent="0">
              <a:buNone/>
            </a:pPr>
            <a:r>
              <a:rPr lang="en-US" sz="950" b="1" dirty="0">
                <a:solidFill>
                  <a:srgbClr val="1B3A6B"/>
                </a:solidFill>
                <a:latin typeface="Courier New" pitchFamily="34" charset="0"/>
                <a:ea typeface="Courier New" pitchFamily="34" charset="-122"/>
                <a:cs typeface="Courier New" pitchFamily="34" charset="-120"/>
              </a:rPr>
              <a:t>log_claim_amt</a:t>
            </a:r>
            <a:endParaRPr lang="en-US" sz="950" dirty="0"/>
          </a:p>
        </p:txBody>
      </p:sp>
      <p:sp>
        <p:nvSpPr>
          <p:cNvPr id="14" name="Text 12"/>
          <p:cNvSpPr/>
          <p:nvPr/>
        </p:nvSpPr>
        <p:spPr>
          <a:xfrm>
            <a:off x="338328" y="1344168"/>
            <a:ext cx="3474720" cy="256032"/>
          </a:xfrm>
          <a:prstGeom prst="rect">
            <a:avLst/>
          </a:prstGeom>
          <a:noFill/>
          <a:ln/>
        </p:spPr>
        <p:txBody>
          <a:bodyPr wrap="square" lIns="0" tIns="0" rIns="0" bIns="0" rtlCol="0" anchor="ctr"/>
          <a:lstStyle/>
          <a:p>
            <a:pPr marL="0" indent="0">
              <a:buNone/>
            </a:pPr>
            <a:r>
              <a:rPr lang="en-US" sz="900" dirty="0">
                <a:solidFill>
                  <a:srgbClr val="1E293B"/>
                </a:solidFill>
              </a:rPr>
              <a:t>Claim amount (log-scaled)</a:t>
            </a:r>
            <a:endParaRPr lang="en-US" sz="900" dirty="0"/>
          </a:p>
        </p:txBody>
      </p:sp>
      <p:sp>
        <p:nvSpPr>
          <p:cNvPr id="15" name="Shape 13"/>
          <p:cNvSpPr/>
          <p:nvPr/>
        </p:nvSpPr>
        <p:spPr>
          <a:xfrm>
            <a:off x="4590288" y="960120"/>
            <a:ext cx="4224528"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590288" y="960120"/>
            <a:ext cx="64008" cy="731520"/>
          </a:xfrm>
          <a:prstGeom prst="rect">
            <a:avLst/>
          </a:prstGeom>
          <a:solidFill>
            <a:srgbClr val="DC2626"/>
          </a:solidFill>
          <a:ln/>
        </p:spPr>
        <p:txBody>
          <a:bodyPr/>
          <a:lstStyle/>
          <a:p>
            <a:endParaRPr lang="en-US"/>
          </a:p>
        </p:txBody>
      </p:sp>
      <p:sp>
        <p:nvSpPr>
          <p:cNvPr id="17" name="Shape 15"/>
          <p:cNvSpPr/>
          <p:nvPr/>
        </p:nvSpPr>
        <p:spPr>
          <a:xfrm>
            <a:off x="8247888" y="1033272"/>
            <a:ext cx="502920" cy="201168"/>
          </a:xfrm>
          <a:prstGeom prst="rect">
            <a:avLst/>
          </a:prstGeom>
          <a:solidFill>
            <a:srgbClr val="DC2626"/>
          </a:solidFill>
          <a:ln/>
        </p:spPr>
        <p:txBody>
          <a:bodyPr/>
          <a:lstStyle/>
          <a:p>
            <a:endParaRPr lang="en-US"/>
          </a:p>
        </p:txBody>
      </p:sp>
      <p:sp>
        <p:nvSpPr>
          <p:cNvPr id="18" name="Text 16"/>
          <p:cNvSpPr/>
          <p:nvPr/>
        </p:nvSpPr>
        <p:spPr>
          <a:xfrm>
            <a:off x="8229600" y="1033272"/>
            <a:ext cx="521208" cy="201168"/>
          </a:xfrm>
          <a:prstGeom prst="rect">
            <a:avLst/>
          </a:prstGeom>
          <a:noFill/>
          <a:ln/>
        </p:spPr>
        <p:txBody>
          <a:bodyPr wrap="square" lIns="0" tIns="0" rIns="0" bIns="0" rtlCol="0" anchor="ctr"/>
          <a:lstStyle/>
          <a:p>
            <a:pPr marL="0" indent="0" algn="ctr">
              <a:buNone/>
            </a:pPr>
            <a:r>
              <a:rPr lang="en-US" sz="650" b="1" dirty="0">
                <a:solidFill>
                  <a:srgbClr val="FFFFFF"/>
                </a:solidFill>
              </a:rPr>
              <a:t>Timing</a:t>
            </a:r>
            <a:endParaRPr lang="en-US" sz="650" dirty="0"/>
          </a:p>
        </p:txBody>
      </p:sp>
      <p:sp>
        <p:nvSpPr>
          <p:cNvPr id="19" name="Text 17"/>
          <p:cNvSpPr/>
          <p:nvPr/>
        </p:nvSpPr>
        <p:spPr>
          <a:xfrm>
            <a:off x="4727448" y="1014984"/>
            <a:ext cx="3383280" cy="256032"/>
          </a:xfrm>
          <a:prstGeom prst="rect">
            <a:avLst/>
          </a:prstGeom>
          <a:noFill/>
          <a:ln/>
        </p:spPr>
        <p:txBody>
          <a:bodyPr wrap="square" lIns="0" tIns="0" rIns="0" bIns="0" rtlCol="0" anchor="ctr"/>
          <a:lstStyle/>
          <a:p>
            <a:pPr marL="0" indent="0">
              <a:buNone/>
            </a:pPr>
            <a:r>
              <a:rPr lang="en-US" sz="950" b="1" dirty="0">
                <a:solidFill>
                  <a:srgbClr val="1B3A6B"/>
                </a:solidFill>
                <a:latin typeface="Courier New" pitchFamily="34" charset="0"/>
                <a:ea typeface="Courier New" pitchFamily="34" charset="-122"/>
                <a:cs typeface="Courier New" pitchFamily="34" charset="-120"/>
              </a:rPr>
              <a:t>days_since_policy</a:t>
            </a:r>
            <a:endParaRPr lang="en-US" sz="950" dirty="0"/>
          </a:p>
        </p:txBody>
      </p:sp>
      <p:sp>
        <p:nvSpPr>
          <p:cNvPr id="20" name="Text 18"/>
          <p:cNvSpPr/>
          <p:nvPr/>
        </p:nvSpPr>
        <p:spPr>
          <a:xfrm>
            <a:off x="4727448" y="1344168"/>
            <a:ext cx="3474720" cy="256032"/>
          </a:xfrm>
          <a:prstGeom prst="rect">
            <a:avLst/>
          </a:prstGeom>
          <a:noFill/>
          <a:ln/>
        </p:spPr>
        <p:txBody>
          <a:bodyPr wrap="square" lIns="0" tIns="0" rIns="0" bIns="0" rtlCol="0" anchor="ctr"/>
          <a:lstStyle/>
          <a:p>
            <a:pPr marL="0" indent="0">
              <a:buNone/>
            </a:pPr>
            <a:r>
              <a:rPr lang="en-US" sz="900" dirty="0">
                <a:solidFill>
                  <a:srgbClr val="1E293B"/>
                </a:solidFill>
              </a:rPr>
              <a:t>Days from policy start to claim</a:t>
            </a:r>
            <a:endParaRPr lang="en-US" sz="900" dirty="0"/>
          </a:p>
        </p:txBody>
      </p:sp>
      <p:sp>
        <p:nvSpPr>
          <p:cNvPr id="21" name="Shape 19"/>
          <p:cNvSpPr/>
          <p:nvPr/>
        </p:nvSpPr>
        <p:spPr>
          <a:xfrm>
            <a:off x="201168" y="1764792"/>
            <a:ext cx="4224528"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201168" y="1764792"/>
            <a:ext cx="64008" cy="731520"/>
          </a:xfrm>
          <a:prstGeom prst="rect">
            <a:avLst/>
          </a:prstGeom>
          <a:solidFill>
            <a:srgbClr val="DC2626"/>
          </a:solidFill>
          <a:ln/>
        </p:spPr>
        <p:txBody>
          <a:bodyPr/>
          <a:lstStyle/>
          <a:p>
            <a:endParaRPr lang="en-US"/>
          </a:p>
        </p:txBody>
      </p:sp>
      <p:sp>
        <p:nvSpPr>
          <p:cNvPr id="23" name="Shape 21"/>
          <p:cNvSpPr/>
          <p:nvPr/>
        </p:nvSpPr>
        <p:spPr>
          <a:xfrm>
            <a:off x="3858768" y="1837944"/>
            <a:ext cx="502920" cy="201168"/>
          </a:xfrm>
          <a:prstGeom prst="rect">
            <a:avLst/>
          </a:prstGeom>
          <a:solidFill>
            <a:srgbClr val="DC2626"/>
          </a:solidFill>
          <a:ln/>
        </p:spPr>
        <p:txBody>
          <a:bodyPr/>
          <a:lstStyle/>
          <a:p>
            <a:endParaRPr lang="en-US"/>
          </a:p>
        </p:txBody>
      </p:sp>
      <p:sp>
        <p:nvSpPr>
          <p:cNvPr id="24" name="Text 22"/>
          <p:cNvSpPr/>
          <p:nvPr/>
        </p:nvSpPr>
        <p:spPr>
          <a:xfrm>
            <a:off x="3840480" y="1837944"/>
            <a:ext cx="521208" cy="201168"/>
          </a:xfrm>
          <a:prstGeom prst="rect">
            <a:avLst/>
          </a:prstGeom>
          <a:noFill/>
          <a:ln/>
        </p:spPr>
        <p:txBody>
          <a:bodyPr wrap="square" lIns="0" tIns="0" rIns="0" bIns="0" rtlCol="0" anchor="ctr"/>
          <a:lstStyle/>
          <a:p>
            <a:pPr marL="0" indent="0" algn="ctr">
              <a:buNone/>
            </a:pPr>
            <a:r>
              <a:rPr lang="en-US" sz="650" b="1" dirty="0">
                <a:solidFill>
                  <a:srgbClr val="FFFFFF"/>
                </a:solidFill>
              </a:rPr>
              <a:t>Timing</a:t>
            </a:r>
            <a:endParaRPr lang="en-US" sz="650" dirty="0"/>
          </a:p>
        </p:txBody>
      </p:sp>
      <p:sp>
        <p:nvSpPr>
          <p:cNvPr id="25" name="Text 23"/>
          <p:cNvSpPr/>
          <p:nvPr/>
        </p:nvSpPr>
        <p:spPr>
          <a:xfrm>
            <a:off x="338328" y="1819656"/>
            <a:ext cx="3383280" cy="256032"/>
          </a:xfrm>
          <a:prstGeom prst="rect">
            <a:avLst/>
          </a:prstGeom>
          <a:noFill/>
          <a:ln/>
        </p:spPr>
        <p:txBody>
          <a:bodyPr wrap="square" lIns="0" tIns="0" rIns="0" bIns="0" rtlCol="0" anchor="ctr"/>
          <a:lstStyle/>
          <a:p>
            <a:pPr marL="0" indent="0">
              <a:buNone/>
            </a:pPr>
            <a:r>
              <a:rPr lang="en-US" sz="950" b="1" dirty="0">
                <a:solidFill>
                  <a:srgbClr val="1B3A6B"/>
                </a:solidFill>
                <a:latin typeface="Courier New" pitchFamily="34" charset="0"/>
                <a:ea typeface="Courier New" pitchFamily="34" charset="-122"/>
                <a:cs typeface="Courier New" pitchFamily="34" charset="-120"/>
              </a:rPr>
              <a:t>is_early_claim</a:t>
            </a:r>
            <a:endParaRPr lang="en-US" sz="950" dirty="0"/>
          </a:p>
        </p:txBody>
      </p:sp>
      <p:sp>
        <p:nvSpPr>
          <p:cNvPr id="26" name="Text 24"/>
          <p:cNvSpPr/>
          <p:nvPr/>
        </p:nvSpPr>
        <p:spPr>
          <a:xfrm>
            <a:off x="338328" y="2148840"/>
            <a:ext cx="3474720" cy="256032"/>
          </a:xfrm>
          <a:prstGeom prst="rect">
            <a:avLst/>
          </a:prstGeom>
          <a:noFill/>
          <a:ln/>
        </p:spPr>
        <p:txBody>
          <a:bodyPr wrap="square" lIns="0" tIns="0" rIns="0" bIns="0" rtlCol="0" anchor="ctr"/>
          <a:lstStyle/>
          <a:p>
            <a:pPr marL="0" indent="0">
              <a:buNone/>
            </a:pPr>
            <a:r>
              <a:rPr lang="en-US" sz="900" dirty="0">
                <a:solidFill>
                  <a:srgbClr val="1E293B"/>
                </a:solidFill>
              </a:rPr>
              <a:t>Binary: claim within 14 days</a:t>
            </a:r>
            <a:endParaRPr lang="en-US" sz="900" dirty="0"/>
          </a:p>
        </p:txBody>
      </p:sp>
      <p:sp>
        <p:nvSpPr>
          <p:cNvPr id="27" name="Shape 25"/>
          <p:cNvSpPr/>
          <p:nvPr/>
        </p:nvSpPr>
        <p:spPr>
          <a:xfrm>
            <a:off x="4590288" y="1764792"/>
            <a:ext cx="4224528"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8" name="Shape 26"/>
          <p:cNvSpPr/>
          <p:nvPr/>
        </p:nvSpPr>
        <p:spPr>
          <a:xfrm>
            <a:off x="4590288" y="1764792"/>
            <a:ext cx="64008" cy="731520"/>
          </a:xfrm>
          <a:prstGeom prst="rect">
            <a:avLst/>
          </a:prstGeom>
          <a:solidFill>
            <a:srgbClr val="D97706"/>
          </a:solidFill>
          <a:ln/>
        </p:spPr>
        <p:txBody>
          <a:bodyPr/>
          <a:lstStyle/>
          <a:p>
            <a:endParaRPr lang="en-US"/>
          </a:p>
        </p:txBody>
      </p:sp>
      <p:sp>
        <p:nvSpPr>
          <p:cNvPr id="29" name="Shape 27"/>
          <p:cNvSpPr/>
          <p:nvPr/>
        </p:nvSpPr>
        <p:spPr>
          <a:xfrm>
            <a:off x="8247888" y="1837944"/>
            <a:ext cx="502920" cy="201168"/>
          </a:xfrm>
          <a:prstGeom prst="rect">
            <a:avLst/>
          </a:prstGeom>
          <a:solidFill>
            <a:srgbClr val="D97706"/>
          </a:solidFill>
          <a:ln/>
        </p:spPr>
        <p:txBody>
          <a:bodyPr/>
          <a:lstStyle/>
          <a:p>
            <a:endParaRPr lang="en-US"/>
          </a:p>
        </p:txBody>
      </p:sp>
      <p:sp>
        <p:nvSpPr>
          <p:cNvPr id="30" name="Text 28"/>
          <p:cNvSpPr/>
          <p:nvPr/>
        </p:nvSpPr>
        <p:spPr>
          <a:xfrm>
            <a:off x="8229600" y="1837944"/>
            <a:ext cx="521208" cy="201168"/>
          </a:xfrm>
          <a:prstGeom prst="rect">
            <a:avLst/>
          </a:prstGeom>
          <a:noFill/>
          <a:ln/>
        </p:spPr>
        <p:txBody>
          <a:bodyPr wrap="square" lIns="0" tIns="0" rIns="0" bIns="0" rtlCol="0" anchor="ctr"/>
          <a:lstStyle/>
          <a:p>
            <a:pPr marL="0" indent="0" algn="ctr">
              <a:buNone/>
            </a:pPr>
            <a:r>
              <a:rPr lang="en-US" sz="650" b="1" dirty="0">
                <a:solidFill>
                  <a:srgbClr val="FFFFFF"/>
                </a:solidFill>
              </a:rPr>
              <a:t>Velocity</a:t>
            </a:r>
            <a:endParaRPr lang="en-US" sz="650" dirty="0"/>
          </a:p>
        </p:txBody>
      </p:sp>
      <p:sp>
        <p:nvSpPr>
          <p:cNvPr id="31" name="Text 29"/>
          <p:cNvSpPr/>
          <p:nvPr/>
        </p:nvSpPr>
        <p:spPr>
          <a:xfrm>
            <a:off x="4727448" y="1819656"/>
            <a:ext cx="3383280" cy="256032"/>
          </a:xfrm>
          <a:prstGeom prst="rect">
            <a:avLst/>
          </a:prstGeom>
          <a:noFill/>
          <a:ln/>
        </p:spPr>
        <p:txBody>
          <a:bodyPr wrap="square" lIns="0" tIns="0" rIns="0" bIns="0" rtlCol="0" anchor="ctr"/>
          <a:lstStyle/>
          <a:p>
            <a:pPr marL="0" indent="0">
              <a:buNone/>
            </a:pPr>
            <a:r>
              <a:rPr lang="en-US" sz="950" b="1" dirty="0">
                <a:solidFill>
                  <a:srgbClr val="1B3A6B"/>
                </a:solidFill>
                <a:latin typeface="Courier New" pitchFamily="34" charset="0"/>
                <a:ea typeface="Courier New" pitchFamily="34" charset="-122"/>
                <a:cs typeface="Courier New" pitchFamily="34" charset="-120"/>
              </a:rPr>
              <a:t>claim_velocity</a:t>
            </a:r>
            <a:endParaRPr lang="en-US" sz="950" dirty="0"/>
          </a:p>
        </p:txBody>
      </p:sp>
      <p:sp>
        <p:nvSpPr>
          <p:cNvPr id="32" name="Text 30"/>
          <p:cNvSpPr/>
          <p:nvPr/>
        </p:nvSpPr>
        <p:spPr>
          <a:xfrm>
            <a:off x="4727448" y="2148840"/>
            <a:ext cx="3474720" cy="256032"/>
          </a:xfrm>
          <a:prstGeom prst="rect">
            <a:avLst/>
          </a:prstGeom>
          <a:noFill/>
          <a:ln/>
        </p:spPr>
        <p:txBody>
          <a:bodyPr wrap="square" lIns="0" tIns="0" rIns="0" bIns="0" rtlCol="0" anchor="ctr"/>
          <a:lstStyle/>
          <a:p>
            <a:pPr marL="0" indent="0">
              <a:buNone/>
            </a:pPr>
            <a:r>
              <a:rPr lang="en-US" sz="900" dirty="0">
                <a:solidFill>
                  <a:srgbClr val="1E293B"/>
                </a:solidFill>
              </a:rPr>
              <a:t>Partner repeat claims (log)</a:t>
            </a:r>
            <a:endParaRPr lang="en-US" sz="900" dirty="0"/>
          </a:p>
        </p:txBody>
      </p:sp>
      <p:sp>
        <p:nvSpPr>
          <p:cNvPr id="33" name="Shape 31"/>
          <p:cNvSpPr/>
          <p:nvPr/>
        </p:nvSpPr>
        <p:spPr>
          <a:xfrm>
            <a:off x="201168" y="2569464"/>
            <a:ext cx="4224528"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4" name="Shape 32"/>
          <p:cNvSpPr/>
          <p:nvPr/>
        </p:nvSpPr>
        <p:spPr>
          <a:xfrm>
            <a:off x="201168" y="2569464"/>
            <a:ext cx="64008" cy="731520"/>
          </a:xfrm>
          <a:prstGeom prst="rect">
            <a:avLst/>
          </a:prstGeom>
          <a:solidFill>
            <a:srgbClr val="7C3AED"/>
          </a:solidFill>
          <a:ln/>
        </p:spPr>
        <p:txBody>
          <a:bodyPr/>
          <a:lstStyle/>
          <a:p>
            <a:endParaRPr lang="en-US"/>
          </a:p>
        </p:txBody>
      </p:sp>
      <p:sp>
        <p:nvSpPr>
          <p:cNvPr id="35" name="Shape 33"/>
          <p:cNvSpPr/>
          <p:nvPr/>
        </p:nvSpPr>
        <p:spPr>
          <a:xfrm>
            <a:off x="3858768" y="2642616"/>
            <a:ext cx="502920" cy="201168"/>
          </a:xfrm>
          <a:prstGeom prst="rect">
            <a:avLst/>
          </a:prstGeom>
          <a:solidFill>
            <a:srgbClr val="7C3AED"/>
          </a:solidFill>
          <a:ln/>
        </p:spPr>
        <p:txBody>
          <a:bodyPr/>
          <a:lstStyle/>
          <a:p>
            <a:endParaRPr lang="en-US"/>
          </a:p>
        </p:txBody>
      </p:sp>
      <p:sp>
        <p:nvSpPr>
          <p:cNvPr id="36" name="Text 34"/>
          <p:cNvSpPr/>
          <p:nvPr/>
        </p:nvSpPr>
        <p:spPr>
          <a:xfrm>
            <a:off x="3840480" y="2642616"/>
            <a:ext cx="521208" cy="201168"/>
          </a:xfrm>
          <a:prstGeom prst="rect">
            <a:avLst/>
          </a:prstGeom>
          <a:noFill/>
          <a:ln/>
        </p:spPr>
        <p:txBody>
          <a:bodyPr wrap="square" lIns="0" tIns="0" rIns="0" bIns="0" rtlCol="0" anchor="ctr"/>
          <a:lstStyle/>
          <a:p>
            <a:pPr marL="0" indent="0" algn="ctr">
              <a:buNone/>
            </a:pPr>
            <a:r>
              <a:rPr lang="en-US" sz="650" b="1" dirty="0">
                <a:solidFill>
                  <a:srgbClr val="FFFFFF"/>
                </a:solidFill>
              </a:rPr>
              <a:t>Identity</a:t>
            </a:r>
            <a:endParaRPr lang="en-US" sz="650" dirty="0"/>
          </a:p>
        </p:txBody>
      </p:sp>
      <p:sp>
        <p:nvSpPr>
          <p:cNvPr id="37" name="Text 35"/>
          <p:cNvSpPr/>
          <p:nvPr/>
        </p:nvSpPr>
        <p:spPr>
          <a:xfrm>
            <a:off x="338328" y="2624328"/>
            <a:ext cx="3383280" cy="256032"/>
          </a:xfrm>
          <a:prstGeom prst="rect">
            <a:avLst/>
          </a:prstGeom>
          <a:noFill/>
          <a:ln/>
        </p:spPr>
        <p:txBody>
          <a:bodyPr wrap="square" lIns="0" tIns="0" rIns="0" bIns="0" rtlCol="0" anchor="ctr"/>
          <a:lstStyle/>
          <a:p>
            <a:pPr marL="0" indent="0">
              <a:buNone/>
            </a:pPr>
            <a:r>
              <a:rPr lang="en-US" sz="950" b="1" dirty="0">
                <a:solidFill>
                  <a:srgbClr val="1B3A6B"/>
                </a:solidFill>
                <a:latin typeface="Courier New" pitchFamily="34" charset="0"/>
                <a:ea typeface="Courier New" pitchFamily="34" charset="-122"/>
                <a:cs typeface="Courier New" pitchFamily="34" charset="-120"/>
              </a:rPr>
              <a:t>email_risk_score</a:t>
            </a:r>
            <a:endParaRPr lang="en-US" sz="950" dirty="0"/>
          </a:p>
        </p:txBody>
      </p:sp>
      <p:sp>
        <p:nvSpPr>
          <p:cNvPr id="38" name="Text 36"/>
          <p:cNvSpPr/>
          <p:nvPr/>
        </p:nvSpPr>
        <p:spPr>
          <a:xfrm>
            <a:off x="338328" y="2953512"/>
            <a:ext cx="3474720" cy="256032"/>
          </a:xfrm>
          <a:prstGeom prst="rect">
            <a:avLst/>
          </a:prstGeom>
          <a:noFill/>
          <a:ln/>
        </p:spPr>
        <p:txBody>
          <a:bodyPr wrap="square" lIns="0" tIns="0" rIns="0" bIns="0" rtlCol="0" anchor="ctr"/>
          <a:lstStyle/>
          <a:p>
            <a:pPr marL="0" indent="0">
              <a:buNone/>
            </a:pPr>
            <a:r>
              <a:rPr lang="en-US" sz="900" dirty="0">
                <a:solidFill>
                  <a:srgbClr val="1E293B"/>
                </a:solidFill>
              </a:rPr>
              <a:t>Email domain risk [0–1]</a:t>
            </a:r>
            <a:endParaRPr lang="en-US" sz="900" dirty="0"/>
          </a:p>
        </p:txBody>
      </p:sp>
      <p:sp>
        <p:nvSpPr>
          <p:cNvPr id="39" name="Shape 37"/>
          <p:cNvSpPr/>
          <p:nvPr/>
        </p:nvSpPr>
        <p:spPr>
          <a:xfrm>
            <a:off x="4590288" y="2569464"/>
            <a:ext cx="4224528"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0" name="Shape 38"/>
          <p:cNvSpPr/>
          <p:nvPr/>
        </p:nvSpPr>
        <p:spPr>
          <a:xfrm>
            <a:off x="4590288" y="2569464"/>
            <a:ext cx="64008" cy="731520"/>
          </a:xfrm>
          <a:prstGeom prst="rect">
            <a:avLst/>
          </a:prstGeom>
          <a:solidFill>
            <a:srgbClr val="059669"/>
          </a:solidFill>
          <a:ln/>
        </p:spPr>
        <p:txBody>
          <a:bodyPr/>
          <a:lstStyle/>
          <a:p>
            <a:endParaRPr lang="en-US"/>
          </a:p>
        </p:txBody>
      </p:sp>
      <p:sp>
        <p:nvSpPr>
          <p:cNvPr id="41" name="Shape 39"/>
          <p:cNvSpPr/>
          <p:nvPr/>
        </p:nvSpPr>
        <p:spPr>
          <a:xfrm>
            <a:off x="8247888" y="2642616"/>
            <a:ext cx="502920" cy="201168"/>
          </a:xfrm>
          <a:prstGeom prst="rect">
            <a:avLst/>
          </a:prstGeom>
          <a:solidFill>
            <a:srgbClr val="059669"/>
          </a:solidFill>
          <a:ln/>
        </p:spPr>
        <p:txBody>
          <a:bodyPr/>
          <a:lstStyle/>
          <a:p>
            <a:endParaRPr lang="en-US"/>
          </a:p>
        </p:txBody>
      </p:sp>
      <p:sp>
        <p:nvSpPr>
          <p:cNvPr id="42" name="Text 40"/>
          <p:cNvSpPr/>
          <p:nvPr/>
        </p:nvSpPr>
        <p:spPr>
          <a:xfrm>
            <a:off x="8229600" y="2642616"/>
            <a:ext cx="521208" cy="201168"/>
          </a:xfrm>
          <a:prstGeom prst="rect">
            <a:avLst/>
          </a:prstGeom>
          <a:noFill/>
          <a:ln/>
        </p:spPr>
        <p:txBody>
          <a:bodyPr wrap="square" lIns="0" tIns="0" rIns="0" bIns="0" rtlCol="0" anchor="ctr"/>
          <a:lstStyle/>
          <a:p>
            <a:pPr marL="0" indent="0" algn="ctr">
              <a:buNone/>
            </a:pPr>
            <a:r>
              <a:rPr lang="en-US" sz="650" b="1" dirty="0">
                <a:solidFill>
                  <a:srgbClr val="FFFFFF"/>
                </a:solidFill>
              </a:rPr>
              <a:t>Value</a:t>
            </a:r>
            <a:endParaRPr lang="en-US" sz="650" dirty="0"/>
          </a:p>
        </p:txBody>
      </p:sp>
      <p:sp>
        <p:nvSpPr>
          <p:cNvPr id="43" name="Text 41"/>
          <p:cNvSpPr/>
          <p:nvPr/>
        </p:nvSpPr>
        <p:spPr>
          <a:xfrm>
            <a:off x="4727448" y="2624328"/>
            <a:ext cx="3383280" cy="256032"/>
          </a:xfrm>
          <a:prstGeom prst="rect">
            <a:avLst/>
          </a:prstGeom>
          <a:noFill/>
          <a:ln/>
        </p:spPr>
        <p:txBody>
          <a:bodyPr wrap="square" lIns="0" tIns="0" rIns="0" bIns="0" rtlCol="0" anchor="ctr"/>
          <a:lstStyle/>
          <a:p>
            <a:pPr marL="0" indent="0">
              <a:buNone/>
            </a:pPr>
            <a:r>
              <a:rPr lang="en-US" sz="950" b="1" dirty="0">
                <a:solidFill>
                  <a:srgbClr val="1B3A6B"/>
                </a:solidFill>
                <a:latin typeface="Courier New" pitchFamily="34" charset="0"/>
                <a:ea typeface="Courier New" pitchFamily="34" charset="-122"/>
                <a:cs typeface="Courier New" pitchFamily="34" charset="-120"/>
              </a:rPr>
              <a:t>amt_to_device_ratio</a:t>
            </a:r>
            <a:endParaRPr lang="en-US" sz="950" dirty="0"/>
          </a:p>
        </p:txBody>
      </p:sp>
      <p:sp>
        <p:nvSpPr>
          <p:cNvPr id="44" name="Text 42"/>
          <p:cNvSpPr/>
          <p:nvPr/>
        </p:nvSpPr>
        <p:spPr>
          <a:xfrm>
            <a:off x="4727448" y="2953512"/>
            <a:ext cx="3474720" cy="256032"/>
          </a:xfrm>
          <a:prstGeom prst="rect">
            <a:avLst/>
          </a:prstGeom>
          <a:noFill/>
          <a:ln/>
        </p:spPr>
        <p:txBody>
          <a:bodyPr wrap="square" lIns="0" tIns="0" rIns="0" bIns="0" rtlCol="0" anchor="ctr"/>
          <a:lstStyle/>
          <a:p>
            <a:pPr marL="0" indent="0">
              <a:buNone/>
            </a:pPr>
            <a:r>
              <a:rPr lang="en-US" sz="900" dirty="0">
                <a:solidFill>
                  <a:srgbClr val="1E293B"/>
                </a:solidFill>
              </a:rPr>
              <a:t>Claim / device replacement value</a:t>
            </a:r>
            <a:endParaRPr lang="en-US" sz="900" dirty="0"/>
          </a:p>
        </p:txBody>
      </p:sp>
      <p:sp>
        <p:nvSpPr>
          <p:cNvPr id="45" name="Shape 43"/>
          <p:cNvSpPr/>
          <p:nvPr/>
        </p:nvSpPr>
        <p:spPr>
          <a:xfrm>
            <a:off x="201168" y="3374136"/>
            <a:ext cx="4224528"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6" name="Shape 44"/>
          <p:cNvSpPr/>
          <p:nvPr/>
        </p:nvSpPr>
        <p:spPr>
          <a:xfrm>
            <a:off x="201168" y="3374136"/>
            <a:ext cx="64008" cy="731520"/>
          </a:xfrm>
          <a:prstGeom prst="rect">
            <a:avLst/>
          </a:prstGeom>
          <a:solidFill>
            <a:srgbClr val="7C3AED"/>
          </a:solidFill>
          <a:ln/>
        </p:spPr>
        <p:txBody>
          <a:bodyPr/>
          <a:lstStyle/>
          <a:p>
            <a:endParaRPr lang="en-US"/>
          </a:p>
        </p:txBody>
      </p:sp>
      <p:sp>
        <p:nvSpPr>
          <p:cNvPr id="47" name="Shape 45"/>
          <p:cNvSpPr/>
          <p:nvPr/>
        </p:nvSpPr>
        <p:spPr>
          <a:xfrm>
            <a:off x="3858768" y="3447288"/>
            <a:ext cx="502920" cy="201168"/>
          </a:xfrm>
          <a:prstGeom prst="rect">
            <a:avLst/>
          </a:prstGeom>
          <a:solidFill>
            <a:srgbClr val="7C3AED"/>
          </a:solidFill>
          <a:ln/>
        </p:spPr>
        <p:txBody>
          <a:bodyPr/>
          <a:lstStyle/>
          <a:p>
            <a:endParaRPr lang="en-US"/>
          </a:p>
        </p:txBody>
      </p:sp>
      <p:sp>
        <p:nvSpPr>
          <p:cNvPr id="48" name="Text 46"/>
          <p:cNvSpPr/>
          <p:nvPr/>
        </p:nvSpPr>
        <p:spPr>
          <a:xfrm>
            <a:off x="3840480" y="3447288"/>
            <a:ext cx="521208" cy="201168"/>
          </a:xfrm>
          <a:prstGeom prst="rect">
            <a:avLst/>
          </a:prstGeom>
          <a:noFill/>
          <a:ln/>
        </p:spPr>
        <p:txBody>
          <a:bodyPr wrap="square" lIns="0" tIns="0" rIns="0" bIns="0" rtlCol="0" anchor="ctr"/>
          <a:lstStyle/>
          <a:p>
            <a:pPr marL="0" indent="0" algn="ctr">
              <a:buNone/>
            </a:pPr>
            <a:r>
              <a:rPr lang="en-US" sz="650" b="1" dirty="0">
                <a:solidFill>
                  <a:srgbClr val="FFFFFF"/>
                </a:solidFill>
              </a:rPr>
              <a:t>Identity</a:t>
            </a:r>
            <a:endParaRPr lang="en-US" sz="650" dirty="0"/>
          </a:p>
        </p:txBody>
      </p:sp>
      <p:sp>
        <p:nvSpPr>
          <p:cNvPr id="49" name="Text 47"/>
          <p:cNvSpPr/>
          <p:nvPr/>
        </p:nvSpPr>
        <p:spPr>
          <a:xfrm>
            <a:off x="338328" y="3429000"/>
            <a:ext cx="3383280" cy="256032"/>
          </a:xfrm>
          <a:prstGeom prst="rect">
            <a:avLst/>
          </a:prstGeom>
          <a:noFill/>
          <a:ln/>
        </p:spPr>
        <p:txBody>
          <a:bodyPr wrap="square" lIns="0" tIns="0" rIns="0" bIns="0" rtlCol="0" anchor="ctr"/>
          <a:lstStyle/>
          <a:p>
            <a:pPr marL="0" indent="0">
              <a:buNone/>
            </a:pPr>
            <a:r>
              <a:rPr lang="en-US" sz="950" b="1" dirty="0">
                <a:solidFill>
                  <a:srgbClr val="1B3A6B"/>
                </a:solidFill>
                <a:latin typeface="Courier New" pitchFamily="34" charset="0"/>
                <a:ea typeface="Courier New" pitchFamily="34" charset="-122"/>
                <a:cs typeface="Courier New" pitchFamily="34" charset="-120"/>
              </a:rPr>
              <a:t>mismatch_score</a:t>
            </a:r>
            <a:endParaRPr lang="en-US" sz="950" dirty="0"/>
          </a:p>
        </p:txBody>
      </p:sp>
      <p:sp>
        <p:nvSpPr>
          <p:cNvPr id="50" name="Text 48"/>
          <p:cNvSpPr/>
          <p:nvPr/>
        </p:nvSpPr>
        <p:spPr>
          <a:xfrm>
            <a:off x="338328" y="3758184"/>
            <a:ext cx="3474720" cy="256032"/>
          </a:xfrm>
          <a:prstGeom prst="rect">
            <a:avLst/>
          </a:prstGeom>
          <a:noFill/>
          <a:ln/>
        </p:spPr>
        <p:txBody>
          <a:bodyPr wrap="square" lIns="0" tIns="0" rIns="0" bIns="0" rtlCol="0" anchor="ctr"/>
          <a:lstStyle/>
          <a:p>
            <a:pPr marL="0" indent="0">
              <a:buNone/>
            </a:pPr>
            <a:r>
              <a:rPr lang="en-US" sz="900" dirty="0">
                <a:solidFill>
                  <a:srgbClr val="1E293B"/>
                </a:solidFill>
              </a:rPr>
              <a:t>Count of unverified M-fields</a:t>
            </a:r>
            <a:endParaRPr lang="en-US" sz="900" dirty="0"/>
          </a:p>
        </p:txBody>
      </p:sp>
      <p:sp>
        <p:nvSpPr>
          <p:cNvPr id="51" name="Shape 49"/>
          <p:cNvSpPr/>
          <p:nvPr/>
        </p:nvSpPr>
        <p:spPr>
          <a:xfrm>
            <a:off x="4590288" y="3374136"/>
            <a:ext cx="4224528"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2" name="Shape 50"/>
          <p:cNvSpPr/>
          <p:nvPr/>
        </p:nvSpPr>
        <p:spPr>
          <a:xfrm>
            <a:off x="4590288" y="3374136"/>
            <a:ext cx="64008" cy="731520"/>
          </a:xfrm>
          <a:prstGeom prst="rect">
            <a:avLst/>
          </a:prstGeom>
          <a:solidFill>
            <a:srgbClr val="0891B2"/>
          </a:solidFill>
          <a:ln/>
        </p:spPr>
        <p:txBody>
          <a:bodyPr/>
          <a:lstStyle/>
          <a:p>
            <a:endParaRPr lang="en-US"/>
          </a:p>
        </p:txBody>
      </p:sp>
      <p:sp>
        <p:nvSpPr>
          <p:cNvPr id="53" name="Shape 51"/>
          <p:cNvSpPr/>
          <p:nvPr/>
        </p:nvSpPr>
        <p:spPr>
          <a:xfrm>
            <a:off x="8247888" y="3447288"/>
            <a:ext cx="502920" cy="201168"/>
          </a:xfrm>
          <a:prstGeom prst="rect">
            <a:avLst/>
          </a:prstGeom>
          <a:solidFill>
            <a:srgbClr val="0891B2"/>
          </a:solidFill>
          <a:ln/>
        </p:spPr>
        <p:txBody>
          <a:bodyPr/>
          <a:lstStyle/>
          <a:p>
            <a:endParaRPr lang="en-US"/>
          </a:p>
        </p:txBody>
      </p:sp>
      <p:sp>
        <p:nvSpPr>
          <p:cNvPr id="54" name="Text 52"/>
          <p:cNvSpPr/>
          <p:nvPr/>
        </p:nvSpPr>
        <p:spPr>
          <a:xfrm>
            <a:off x="8229600" y="3447288"/>
            <a:ext cx="521208" cy="201168"/>
          </a:xfrm>
          <a:prstGeom prst="rect">
            <a:avLst/>
          </a:prstGeom>
          <a:noFill/>
          <a:ln/>
        </p:spPr>
        <p:txBody>
          <a:bodyPr wrap="square" lIns="0" tIns="0" rIns="0" bIns="0" rtlCol="0" anchor="ctr"/>
          <a:lstStyle/>
          <a:p>
            <a:pPr marL="0" indent="0" algn="ctr">
              <a:buNone/>
            </a:pPr>
            <a:r>
              <a:rPr lang="en-US" sz="650" b="1" dirty="0">
                <a:solidFill>
                  <a:srgbClr val="FFFFFF"/>
                </a:solidFill>
              </a:rPr>
              <a:t>Compound</a:t>
            </a:r>
            <a:endParaRPr lang="en-US" sz="650" dirty="0"/>
          </a:p>
        </p:txBody>
      </p:sp>
      <p:sp>
        <p:nvSpPr>
          <p:cNvPr id="55" name="Text 53"/>
          <p:cNvSpPr/>
          <p:nvPr/>
        </p:nvSpPr>
        <p:spPr>
          <a:xfrm>
            <a:off x="4727448" y="3429000"/>
            <a:ext cx="3383280" cy="256032"/>
          </a:xfrm>
          <a:prstGeom prst="rect">
            <a:avLst/>
          </a:prstGeom>
          <a:noFill/>
          <a:ln/>
        </p:spPr>
        <p:txBody>
          <a:bodyPr wrap="square" lIns="0" tIns="0" rIns="0" bIns="0" rtlCol="0" anchor="ctr"/>
          <a:lstStyle/>
          <a:p>
            <a:pPr marL="0" indent="0">
              <a:buNone/>
            </a:pPr>
            <a:r>
              <a:rPr lang="en-US" sz="950" b="1" dirty="0">
                <a:solidFill>
                  <a:srgbClr val="1B3A6B"/>
                </a:solidFill>
                <a:latin typeface="Courier New" pitchFamily="34" charset="0"/>
                <a:ea typeface="Courier New" pitchFamily="34" charset="-122"/>
                <a:cs typeface="Courier New" pitchFamily="34" charset="-120"/>
              </a:rPr>
              <a:t>high_risk_x_early</a:t>
            </a:r>
            <a:endParaRPr lang="en-US" sz="950" dirty="0"/>
          </a:p>
        </p:txBody>
      </p:sp>
      <p:sp>
        <p:nvSpPr>
          <p:cNvPr id="56" name="Text 54"/>
          <p:cNvSpPr/>
          <p:nvPr/>
        </p:nvSpPr>
        <p:spPr>
          <a:xfrm>
            <a:off x="4727448" y="3758184"/>
            <a:ext cx="3474720" cy="256032"/>
          </a:xfrm>
          <a:prstGeom prst="rect">
            <a:avLst/>
          </a:prstGeom>
          <a:noFill/>
          <a:ln/>
        </p:spPr>
        <p:txBody>
          <a:bodyPr wrap="square" lIns="0" tIns="0" rIns="0" bIns="0" rtlCol="0" anchor="ctr"/>
          <a:lstStyle/>
          <a:p>
            <a:pPr marL="0" indent="0">
              <a:buNone/>
            </a:pPr>
            <a:r>
              <a:rPr lang="en-US" sz="900" dirty="0">
                <a:solidFill>
                  <a:srgbClr val="1E293B"/>
                </a:solidFill>
              </a:rPr>
              <a:t>Email risk × early claim (interaction)</a:t>
            </a:r>
            <a:endParaRPr lang="en-US" sz="900" dirty="0"/>
          </a:p>
        </p:txBody>
      </p:sp>
      <p:sp>
        <p:nvSpPr>
          <p:cNvPr id="57" name="Shape 55"/>
          <p:cNvSpPr/>
          <p:nvPr/>
        </p:nvSpPr>
        <p:spPr>
          <a:xfrm>
            <a:off x="201168" y="4178808"/>
            <a:ext cx="4224528"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8" name="Shape 56"/>
          <p:cNvSpPr/>
          <p:nvPr/>
        </p:nvSpPr>
        <p:spPr>
          <a:xfrm>
            <a:off x="201168" y="4178808"/>
            <a:ext cx="64008" cy="731520"/>
          </a:xfrm>
          <a:prstGeom prst="rect">
            <a:avLst/>
          </a:prstGeom>
          <a:solidFill>
            <a:srgbClr val="D97706"/>
          </a:solidFill>
          <a:ln/>
        </p:spPr>
        <p:txBody>
          <a:bodyPr/>
          <a:lstStyle/>
          <a:p>
            <a:endParaRPr lang="en-US"/>
          </a:p>
        </p:txBody>
      </p:sp>
      <p:sp>
        <p:nvSpPr>
          <p:cNvPr id="59" name="Shape 57"/>
          <p:cNvSpPr/>
          <p:nvPr/>
        </p:nvSpPr>
        <p:spPr>
          <a:xfrm>
            <a:off x="3858768" y="4251960"/>
            <a:ext cx="502920" cy="201168"/>
          </a:xfrm>
          <a:prstGeom prst="rect">
            <a:avLst/>
          </a:prstGeom>
          <a:solidFill>
            <a:srgbClr val="D97706"/>
          </a:solidFill>
          <a:ln/>
        </p:spPr>
        <p:txBody>
          <a:bodyPr/>
          <a:lstStyle/>
          <a:p>
            <a:endParaRPr lang="en-US"/>
          </a:p>
        </p:txBody>
      </p:sp>
      <p:sp>
        <p:nvSpPr>
          <p:cNvPr id="60" name="Text 58"/>
          <p:cNvSpPr/>
          <p:nvPr/>
        </p:nvSpPr>
        <p:spPr>
          <a:xfrm>
            <a:off x="3840480" y="4251960"/>
            <a:ext cx="521208" cy="201168"/>
          </a:xfrm>
          <a:prstGeom prst="rect">
            <a:avLst/>
          </a:prstGeom>
          <a:noFill/>
          <a:ln/>
        </p:spPr>
        <p:txBody>
          <a:bodyPr wrap="square" lIns="0" tIns="0" rIns="0" bIns="0" rtlCol="0" anchor="ctr"/>
          <a:lstStyle/>
          <a:p>
            <a:pPr marL="0" indent="0" algn="ctr">
              <a:buNone/>
            </a:pPr>
            <a:r>
              <a:rPr lang="en-US" sz="650" b="1" dirty="0">
                <a:solidFill>
                  <a:srgbClr val="FFFFFF"/>
                </a:solidFill>
              </a:rPr>
              <a:t>Velocity</a:t>
            </a:r>
            <a:endParaRPr lang="en-US" sz="650" dirty="0"/>
          </a:p>
        </p:txBody>
      </p:sp>
      <p:sp>
        <p:nvSpPr>
          <p:cNvPr id="61" name="Text 59"/>
          <p:cNvSpPr/>
          <p:nvPr/>
        </p:nvSpPr>
        <p:spPr>
          <a:xfrm>
            <a:off x="338328" y="4233672"/>
            <a:ext cx="3383280" cy="256032"/>
          </a:xfrm>
          <a:prstGeom prst="rect">
            <a:avLst/>
          </a:prstGeom>
          <a:noFill/>
          <a:ln/>
        </p:spPr>
        <p:txBody>
          <a:bodyPr wrap="square" lIns="0" tIns="0" rIns="0" bIns="0" rtlCol="0" anchor="ctr"/>
          <a:lstStyle/>
          <a:p>
            <a:pPr marL="0" indent="0">
              <a:buNone/>
            </a:pPr>
            <a:r>
              <a:rPr lang="en-US" sz="950" b="1" dirty="0">
                <a:solidFill>
                  <a:srgbClr val="1B3A6B"/>
                </a:solidFill>
                <a:latin typeface="Courier New" pitchFamily="34" charset="0"/>
                <a:ea typeface="Courier New" pitchFamily="34" charset="-122"/>
                <a:cs typeface="Courier New" pitchFamily="34" charset="-120"/>
              </a:rPr>
              <a:t>log_dist1</a:t>
            </a:r>
            <a:endParaRPr lang="en-US" sz="950" dirty="0"/>
          </a:p>
        </p:txBody>
      </p:sp>
      <p:sp>
        <p:nvSpPr>
          <p:cNvPr id="62" name="Text 60"/>
          <p:cNvSpPr/>
          <p:nvPr/>
        </p:nvSpPr>
        <p:spPr>
          <a:xfrm>
            <a:off x="338328" y="4562856"/>
            <a:ext cx="3474720" cy="256032"/>
          </a:xfrm>
          <a:prstGeom prst="rect">
            <a:avLst/>
          </a:prstGeom>
          <a:noFill/>
          <a:ln/>
        </p:spPr>
        <p:txBody>
          <a:bodyPr wrap="square" lIns="0" tIns="0" rIns="0" bIns="0" rtlCol="0" anchor="ctr"/>
          <a:lstStyle/>
          <a:p>
            <a:pPr marL="0" indent="0">
              <a:buNone/>
            </a:pPr>
            <a:r>
              <a:rPr lang="en-US" sz="900" dirty="0">
                <a:solidFill>
                  <a:srgbClr val="1E293B"/>
                </a:solidFill>
              </a:rPr>
              <a:t>Velocity proxy (log-scaled)</a:t>
            </a:r>
            <a:endParaRPr lang="en-US" sz="900" dirty="0"/>
          </a:p>
        </p:txBody>
      </p:sp>
      <p:sp>
        <p:nvSpPr>
          <p:cNvPr id="63" name="Shape 61"/>
          <p:cNvSpPr/>
          <p:nvPr/>
        </p:nvSpPr>
        <p:spPr>
          <a:xfrm>
            <a:off x="4590288" y="4178808"/>
            <a:ext cx="4224528" cy="731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4" name="Shape 62"/>
          <p:cNvSpPr/>
          <p:nvPr/>
        </p:nvSpPr>
        <p:spPr>
          <a:xfrm>
            <a:off x="4590288" y="4178808"/>
            <a:ext cx="64008" cy="731520"/>
          </a:xfrm>
          <a:prstGeom prst="rect">
            <a:avLst/>
          </a:prstGeom>
          <a:solidFill>
            <a:srgbClr val="059669"/>
          </a:solidFill>
          <a:ln/>
        </p:spPr>
        <p:txBody>
          <a:bodyPr/>
          <a:lstStyle/>
          <a:p>
            <a:endParaRPr lang="en-US"/>
          </a:p>
        </p:txBody>
      </p:sp>
      <p:sp>
        <p:nvSpPr>
          <p:cNvPr id="65" name="Shape 63"/>
          <p:cNvSpPr/>
          <p:nvPr/>
        </p:nvSpPr>
        <p:spPr>
          <a:xfrm>
            <a:off x="8247888" y="4251960"/>
            <a:ext cx="502920" cy="201168"/>
          </a:xfrm>
          <a:prstGeom prst="rect">
            <a:avLst/>
          </a:prstGeom>
          <a:solidFill>
            <a:srgbClr val="059669"/>
          </a:solidFill>
          <a:ln/>
        </p:spPr>
        <p:txBody>
          <a:bodyPr/>
          <a:lstStyle/>
          <a:p>
            <a:endParaRPr lang="en-US"/>
          </a:p>
        </p:txBody>
      </p:sp>
      <p:sp>
        <p:nvSpPr>
          <p:cNvPr id="66" name="Text 64"/>
          <p:cNvSpPr/>
          <p:nvPr/>
        </p:nvSpPr>
        <p:spPr>
          <a:xfrm>
            <a:off x="8229600" y="4251960"/>
            <a:ext cx="521208" cy="201168"/>
          </a:xfrm>
          <a:prstGeom prst="rect">
            <a:avLst/>
          </a:prstGeom>
          <a:noFill/>
          <a:ln/>
        </p:spPr>
        <p:txBody>
          <a:bodyPr wrap="square" lIns="0" tIns="0" rIns="0" bIns="0" rtlCol="0" anchor="ctr"/>
          <a:lstStyle/>
          <a:p>
            <a:pPr marL="0" indent="0" algn="ctr">
              <a:buNone/>
            </a:pPr>
            <a:r>
              <a:rPr lang="en-US" sz="650" b="1" dirty="0">
                <a:solidFill>
                  <a:srgbClr val="FFFFFF"/>
                </a:solidFill>
              </a:rPr>
              <a:t>Value</a:t>
            </a:r>
            <a:endParaRPr lang="en-US" sz="650" dirty="0"/>
          </a:p>
        </p:txBody>
      </p:sp>
      <p:sp>
        <p:nvSpPr>
          <p:cNvPr id="67" name="Text 65"/>
          <p:cNvSpPr/>
          <p:nvPr/>
        </p:nvSpPr>
        <p:spPr>
          <a:xfrm>
            <a:off x="4727448" y="4233672"/>
            <a:ext cx="3383280" cy="256032"/>
          </a:xfrm>
          <a:prstGeom prst="rect">
            <a:avLst/>
          </a:prstGeom>
          <a:noFill/>
          <a:ln/>
        </p:spPr>
        <p:txBody>
          <a:bodyPr wrap="square" lIns="0" tIns="0" rIns="0" bIns="0" rtlCol="0" anchor="ctr"/>
          <a:lstStyle/>
          <a:p>
            <a:pPr marL="0" indent="0">
              <a:buNone/>
            </a:pPr>
            <a:r>
              <a:rPr lang="en-US" sz="950" b="1" dirty="0">
                <a:solidFill>
                  <a:srgbClr val="1B3A6B"/>
                </a:solidFill>
                <a:latin typeface="Courier New" pitchFamily="34" charset="0"/>
                <a:ea typeface="Courier New" pitchFamily="34" charset="-122"/>
                <a:cs typeface="Courier New" pitchFamily="34" charset="-120"/>
              </a:rPr>
              <a:t>amt_zscore</a:t>
            </a:r>
            <a:endParaRPr lang="en-US" sz="950" dirty="0"/>
          </a:p>
        </p:txBody>
      </p:sp>
      <p:sp>
        <p:nvSpPr>
          <p:cNvPr id="68" name="Text 66"/>
          <p:cNvSpPr/>
          <p:nvPr/>
        </p:nvSpPr>
        <p:spPr>
          <a:xfrm>
            <a:off x="4727448" y="4562856"/>
            <a:ext cx="3474720" cy="256032"/>
          </a:xfrm>
          <a:prstGeom prst="rect">
            <a:avLst/>
          </a:prstGeom>
          <a:noFill/>
          <a:ln/>
        </p:spPr>
        <p:txBody>
          <a:bodyPr wrap="square" lIns="0" tIns="0" rIns="0" bIns="0" rtlCol="0" anchor="ctr"/>
          <a:lstStyle/>
          <a:p>
            <a:pPr marL="0" indent="0">
              <a:buNone/>
            </a:pPr>
            <a:r>
              <a:rPr lang="en-US" sz="900" dirty="0">
                <a:solidFill>
                  <a:srgbClr val="1E293B"/>
                </a:solidFill>
              </a:rPr>
              <a:t>Claim amount z-score by product</a:t>
            </a:r>
            <a:endParaRPr lang="en-US" sz="900" dirty="0"/>
          </a:p>
        </p:txBody>
      </p:sp>
      <p:sp>
        <p:nvSpPr>
          <p:cNvPr id="69" name="Shape 67"/>
          <p:cNvSpPr/>
          <p:nvPr/>
        </p:nvSpPr>
        <p:spPr>
          <a:xfrm>
            <a:off x="201168" y="4617720"/>
            <a:ext cx="8741664" cy="365760"/>
          </a:xfrm>
          <a:prstGeom prst="rect">
            <a:avLst/>
          </a:prstGeom>
          <a:solidFill>
            <a:srgbClr val="EFF6FF"/>
          </a:solidFill>
          <a:ln/>
        </p:spPr>
        <p:txBody>
          <a:bodyPr/>
          <a:lstStyle/>
          <a:p>
            <a:endParaRPr lang="en-US"/>
          </a:p>
        </p:txBody>
      </p:sp>
      <p:sp>
        <p:nvSpPr>
          <p:cNvPr id="70" name="Text 68"/>
          <p:cNvSpPr/>
          <p:nvPr/>
        </p:nvSpPr>
        <p:spPr>
          <a:xfrm>
            <a:off x="292608" y="4636008"/>
            <a:ext cx="8558784" cy="320040"/>
          </a:xfrm>
          <a:prstGeom prst="rect">
            <a:avLst/>
          </a:prstGeom>
          <a:noFill/>
          <a:ln/>
        </p:spPr>
        <p:txBody>
          <a:bodyPr wrap="square" lIns="0" tIns="0" rIns="0" bIns="0" rtlCol="0" anchor="ctr"/>
          <a:lstStyle/>
          <a:p>
            <a:pPr marL="0" indent="0">
              <a:buNone/>
            </a:pPr>
            <a:r>
              <a:rPr lang="en-US" sz="800" dirty="0">
                <a:solidFill>
                  <a:srgbClr val="1B3A6B"/>
                </a:solidFill>
              </a:rPr>
              <a:t>Feature Selection Pipeline: (1) Drop &gt;90% missing → (2) VIF &lt; 10 filter → (3) XGBoost importance &gt; 0.001 → (4) SHAP validation: top 20 features account for 87% of model output variance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A6B"/>
          </a:solidFill>
          <a:ln/>
        </p:spPr>
        <p:txBody>
          <a:bodyPr/>
          <a:lstStyle/>
          <a:p>
            <a:endParaRPr lang="en-US"/>
          </a:p>
        </p:txBody>
      </p:sp>
      <p:sp>
        <p:nvSpPr>
          <p:cNvPr id="3" name="Shape 1"/>
          <p:cNvSpPr/>
          <p:nvPr/>
        </p:nvSpPr>
        <p:spPr>
          <a:xfrm>
            <a:off x="109728" y="0"/>
            <a:ext cx="9034272" cy="502920"/>
          </a:xfrm>
          <a:prstGeom prst="rect">
            <a:avLst/>
          </a:prstGeom>
          <a:solidFill>
            <a:srgbClr val="1E293B"/>
          </a:solidFill>
          <a:ln/>
        </p:spPr>
        <p:txBody>
          <a:bodyPr/>
          <a:lstStyle/>
          <a:p>
            <a:endParaRPr lang="en-US"/>
          </a:p>
        </p:txBody>
      </p:sp>
      <p:sp>
        <p:nvSpPr>
          <p:cNvPr id="4" name="Shape 2"/>
          <p:cNvSpPr/>
          <p:nvPr/>
        </p:nvSpPr>
        <p:spPr>
          <a:xfrm>
            <a:off x="228600" y="91440"/>
            <a:ext cx="1005840" cy="320040"/>
          </a:xfrm>
          <a:prstGeom prst="rect">
            <a:avLst/>
          </a:prstGeom>
          <a:solidFill>
            <a:srgbClr val="2563EB"/>
          </a:solidFill>
          <a:ln/>
        </p:spPr>
        <p:txBody>
          <a:bodyPr/>
          <a:lstStyle/>
          <a:p>
            <a:endParaRPr lang="en-US"/>
          </a:p>
        </p:txBody>
      </p:sp>
      <p:sp>
        <p:nvSpPr>
          <p:cNvPr id="5" name="Text 3"/>
          <p:cNvSpPr/>
          <p:nvPr/>
        </p:nvSpPr>
        <p:spPr>
          <a:xfrm>
            <a:off x="228600" y="91440"/>
            <a:ext cx="1005840" cy="320040"/>
          </a:xfrm>
          <a:prstGeom prst="rect">
            <a:avLst/>
          </a:prstGeom>
          <a:noFill/>
          <a:ln/>
        </p:spPr>
        <p:txBody>
          <a:bodyPr wrap="square" lIns="0" tIns="0" rIns="0" bIns="0" rtlCol="0" anchor="ctr"/>
          <a:lstStyle/>
          <a:p>
            <a:pPr marL="0" indent="0" algn="ctr">
              <a:buNone/>
            </a:pPr>
            <a:r>
              <a:rPr lang="en-US" sz="900" b="1" dirty="0">
                <a:solidFill>
                  <a:srgbClr val="FFFFFF"/>
                </a:solidFill>
              </a:rPr>
              <a:t>STEP 3</a:t>
            </a:r>
            <a:endParaRPr lang="en-US" sz="900" dirty="0"/>
          </a:p>
        </p:txBody>
      </p:sp>
      <p:sp>
        <p:nvSpPr>
          <p:cNvPr id="6" name="Text 4"/>
          <p:cNvSpPr/>
          <p:nvPr/>
        </p:nvSpPr>
        <p:spPr>
          <a:xfrm>
            <a:off x="1371600" y="82296"/>
            <a:ext cx="7498080" cy="347472"/>
          </a:xfrm>
          <a:prstGeom prst="rect">
            <a:avLst/>
          </a:prstGeom>
          <a:noFill/>
          <a:ln/>
        </p:spPr>
        <p:txBody>
          <a:bodyPr wrap="square" lIns="0" tIns="0" rIns="0" bIns="0" rtlCol="0" anchor="ctr"/>
          <a:lstStyle/>
          <a:p>
            <a:pPr marL="0" indent="0">
              <a:buNone/>
            </a:pPr>
            <a:r>
              <a:rPr lang="en-US" sz="1500" b="1" dirty="0">
                <a:solidFill>
                  <a:srgbClr val="FFFFFF"/>
                </a:solidFill>
              </a:rPr>
              <a:t>Dimensionality Reduction, PCA on V-Features</a:t>
            </a:r>
            <a:endParaRPr lang="en-US" sz="1500" dirty="0"/>
          </a:p>
        </p:txBody>
      </p:sp>
      <p:sp>
        <p:nvSpPr>
          <p:cNvPr id="7" name="Text 5"/>
          <p:cNvSpPr/>
          <p:nvPr/>
        </p:nvSpPr>
        <p:spPr>
          <a:xfrm>
            <a:off x="109728" y="4800600"/>
            <a:ext cx="9034272" cy="320040"/>
          </a:xfrm>
          <a:prstGeom prst="rect">
            <a:avLst/>
          </a:prstGeom>
          <a:noFill/>
          <a:ln/>
        </p:spPr>
        <p:txBody>
          <a:bodyPr wrap="square" lIns="0" tIns="0" rIns="0" bIns="0" rtlCol="0" anchor="ctr"/>
          <a:lstStyle/>
          <a:p>
            <a:pPr marL="0" indent="0" algn="r">
              <a:buNone/>
            </a:pPr>
            <a:r>
              <a:rPr lang="en-US" sz="800" dirty="0">
                <a:solidFill>
                  <a:srgbClr val="64748B"/>
                </a:solidFill>
              </a:rPr>
              <a:t>ProTech Devices Asia  |  AIM Capstone 2025</a:t>
            </a:r>
            <a:endParaRPr lang="en-US" sz="800" dirty="0"/>
          </a:p>
        </p:txBody>
      </p:sp>
      <p:sp>
        <p:nvSpPr>
          <p:cNvPr id="8" name="Shape 6"/>
          <p:cNvSpPr/>
          <p:nvPr/>
        </p:nvSpPr>
        <p:spPr>
          <a:xfrm>
            <a:off x="201168" y="658368"/>
            <a:ext cx="4114800" cy="4160520"/>
          </a:xfrm>
          <a:prstGeom prst="rect">
            <a:avLst/>
          </a:prstGeom>
          <a:solidFill>
            <a:srgbClr val="F1F5F9"/>
          </a:solidFill>
          <a:ln/>
        </p:spPr>
        <p:txBody>
          <a:bodyPr/>
          <a:lstStyle/>
          <a:p>
            <a:endParaRPr lang="en-US"/>
          </a:p>
        </p:txBody>
      </p:sp>
      <p:sp>
        <p:nvSpPr>
          <p:cNvPr id="9" name="Text 7"/>
          <p:cNvSpPr/>
          <p:nvPr/>
        </p:nvSpPr>
        <p:spPr>
          <a:xfrm>
            <a:off x="320040" y="749808"/>
            <a:ext cx="3840480" cy="256032"/>
          </a:xfrm>
          <a:prstGeom prst="rect">
            <a:avLst/>
          </a:prstGeom>
          <a:noFill/>
          <a:ln/>
        </p:spPr>
        <p:txBody>
          <a:bodyPr wrap="square" lIns="0" tIns="0" rIns="0" bIns="0" rtlCol="0" anchor="ctr"/>
          <a:lstStyle/>
          <a:p>
            <a:pPr marL="0" indent="0">
              <a:buNone/>
            </a:pPr>
            <a:r>
              <a:rPr lang="en-US" sz="900" b="1" kern="0" spc="100" dirty="0">
                <a:solidFill>
                  <a:srgbClr val="1B3A6B"/>
                </a:solidFill>
              </a:rPr>
              <a:t>WHY PCA HERE</a:t>
            </a:r>
            <a:endParaRPr lang="en-US" sz="900" dirty="0"/>
          </a:p>
        </p:txBody>
      </p:sp>
      <p:sp>
        <p:nvSpPr>
          <p:cNvPr id="10" name="Text 8"/>
          <p:cNvSpPr/>
          <p:nvPr/>
        </p:nvSpPr>
        <p:spPr>
          <a:xfrm>
            <a:off x="320040" y="1078992"/>
            <a:ext cx="3840480" cy="3474720"/>
          </a:xfrm>
          <a:prstGeom prst="rect">
            <a:avLst/>
          </a:prstGeom>
          <a:noFill/>
          <a:ln/>
        </p:spPr>
        <p:txBody>
          <a:bodyPr wrap="square" lIns="0" tIns="0" rIns="0" bIns="0" rtlCol="0" anchor="ctr"/>
          <a:lstStyle/>
          <a:p>
            <a:pPr marL="0" indent="0">
              <a:buNone/>
            </a:pPr>
            <a:r>
              <a:rPr lang="en-US" sz="950" dirty="0">
                <a:solidFill>
                  <a:srgbClr val="1E293B"/>
                </a:solidFill>
              </a:rPr>
              <a:t>The V-features (V1–V339) are dense behavioral metadata from the payment/claim processing environment. They are internally correlated, PCA reveals their information structure.
</a:t>
            </a:r>
            <a:r>
              <a:rPr lang="en-US" sz="950" b="1" dirty="0">
                <a:solidFill>
                  <a:srgbClr val="1E293B"/>
                </a:solidFill>
              </a:rPr>
              <a:t>Key Findings:
</a:t>
            </a:r>
            <a:r>
              <a:rPr lang="en-US" sz="950" dirty="0">
                <a:solidFill>
                  <a:srgbClr val="1E293B"/>
                </a:solidFill>
              </a:rPr>
              <a:t>• 339 V-features → 12 principal components explain 89.3% of variance</a:t>
            </a:r>
            <a:endParaRPr lang="en-US" sz="950" dirty="0"/>
          </a:p>
          <a:p>
            <a:pPr marL="0" indent="0">
              <a:buNone/>
            </a:pPr>
            <a:r>
              <a:rPr lang="en-US" sz="950" dirty="0">
                <a:solidFill>
                  <a:srgbClr val="1E293B"/>
                </a:solidFill>
              </a:rPr>
              <a:t>• The first 2 PCs reveal clear spatial separation between fraud (low cluster) and legitimate (high cluster) transactions</a:t>
            </a:r>
            <a:endParaRPr lang="en-US" sz="950" dirty="0"/>
          </a:p>
          <a:p>
            <a:pPr marL="0" indent="0">
              <a:buNone/>
            </a:pPr>
            <a:r>
              <a:rPr lang="en-US" sz="950" dirty="0">
                <a:solidFill>
                  <a:srgbClr val="1E293B"/>
                </a:solidFill>
              </a:rPr>
              <a:t>• PCA not applied to full modeling pipeline, XGBoost handles high-dimensional data natively, and PCA would reduce SHAP interpretability</a:t>
            </a:r>
            <a:endParaRPr lang="en-US" sz="950" dirty="0"/>
          </a:p>
          <a:p>
            <a:pPr marL="0" indent="0">
              <a:buNone/>
            </a:pPr>
            <a:r>
              <a:rPr lang="en-US" sz="950" dirty="0">
                <a:solidFill>
                  <a:srgbClr val="1E293B"/>
                </a:solidFill>
              </a:rPr>
              <a:t>• PCA used for t-SNE visualization input only</a:t>
            </a:r>
            <a:endParaRPr lang="en-US" sz="950" dirty="0"/>
          </a:p>
        </p:txBody>
      </p:sp>
      <p:sp>
        <p:nvSpPr>
          <p:cNvPr id="11" name="Shape 9"/>
          <p:cNvSpPr/>
          <p:nvPr/>
        </p:nvSpPr>
        <p:spPr>
          <a:xfrm>
            <a:off x="4480560" y="658368"/>
            <a:ext cx="4480560" cy="41605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4572000" y="731520"/>
            <a:ext cx="4297680" cy="274320"/>
          </a:xfrm>
          <a:prstGeom prst="rect">
            <a:avLst/>
          </a:prstGeom>
          <a:noFill/>
          <a:ln/>
        </p:spPr>
        <p:txBody>
          <a:bodyPr wrap="square" lIns="0" tIns="0" rIns="0" bIns="0" rtlCol="0" anchor="ctr"/>
          <a:lstStyle/>
          <a:p>
            <a:pPr marL="0" indent="0">
              <a:buNone/>
            </a:pPr>
            <a:r>
              <a:rPr lang="en-US" sz="850" b="1" dirty="0">
                <a:solidFill>
                  <a:srgbClr val="1B3A6B"/>
                </a:solidFill>
              </a:rPr>
              <a:t>Cumulative Explained Variance by PCA Components (V-features)</a:t>
            </a:r>
            <a:endParaRPr lang="en-US" sz="850" dirty="0"/>
          </a:p>
        </p:txBody>
      </p:sp>
      <p:sp>
        <p:nvSpPr>
          <p:cNvPr id="13" name="Shape 11"/>
          <p:cNvSpPr/>
          <p:nvPr/>
        </p:nvSpPr>
        <p:spPr>
          <a:xfrm>
            <a:off x="4663440" y="1143000"/>
            <a:ext cx="4114800" cy="2560320"/>
          </a:xfrm>
          <a:prstGeom prst="rect">
            <a:avLst/>
          </a:prstGeom>
          <a:solidFill>
            <a:srgbClr val="F1F5F9"/>
          </a:solidFill>
          <a:ln/>
        </p:spPr>
        <p:txBody>
          <a:bodyPr/>
          <a:lstStyle/>
          <a:p>
            <a:endParaRPr lang="en-US"/>
          </a:p>
        </p:txBody>
      </p:sp>
      <p:sp>
        <p:nvSpPr>
          <p:cNvPr id="14" name="Shape 12"/>
          <p:cNvSpPr/>
          <p:nvPr/>
        </p:nvSpPr>
        <p:spPr>
          <a:xfrm>
            <a:off x="4663440" y="2986430"/>
            <a:ext cx="256032" cy="716890"/>
          </a:xfrm>
          <a:prstGeom prst="rect">
            <a:avLst/>
          </a:prstGeom>
          <a:solidFill>
            <a:srgbClr val="2563EB"/>
          </a:solidFill>
          <a:ln/>
        </p:spPr>
        <p:txBody>
          <a:bodyPr/>
          <a:lstStyle/>
          <a:p>
            <a:endParaRPr lang="en-US"/>
          </a:p>
        </p:txBody>
      </p:sp>
      <p:sp>
        <p:nvSpPr>
          <p:cNvPr id="15" name="Shape 13"/>
          <p:cNvSpPr/>
          <p:nvPr/>
        </p:nvSpPr>
        <p:spPr>
          <a:xfrm>
            <a:off x="4937760" y="2627986"/>
            <a:ext cx="256032" cy="1075334"/>
          </a:xfrm>
          <a:prstGeom prst="rect">
            <a:avLst/>
          </a:prstGeom>
          <a:solidFill>
            <a:srgbClr val="2563EB"/>
          </a:solidFill>
          <a:ln/>
        </p:spPr>
        <p:txBody>
          <a:bodyPr/>
          <a:lstStyle/>
          <a:p>
            <a:endParaRPr lang="en-US"/>
          </a:p>
        </p:txBody>
      </p:sp>
      <p:sp>
        <p:nvSpPr>
          <p:cNvPr id="16" name="Shape 14"/>
          <p:cNvSpPr/>
          <p:nvPr/>
        </p:nvSpPr>
        <p:spPr>
          <a:xfrm>
            <a:off x="5212080" y="2346350"/>
            <a:ext cx="256032" cy="1356970"/>
          </a:xfrm>
          <a:prstGeom prst="rect">
            <a:avLst/>
          </a:prstGeom>
          <a:solidFill>
            <a:srgbClr val="2563EB"/>
          </a:solidFill>
          <a:ln/>
        </p:spPr>
        <p:txBody>
          <a:bodyPr/>
          <a:lstStyle/>
          <a:p>
            <a:endParaRPr lang="en-US"/>
          </a:p>
        </p:txBody>
      </p:sp>
      <p:sp>
        <p:nvSpPr>
          <p:cNvPr id="17" name="Shape 15"/>
          <p:cNvSpPr/>
          <p:nvPr/>
        </p:nvSpPr>
        <p:spPr>
          <a:xfrm>
            <a:off x="5486400" y="2115922"/>
            <a:ext cx="256032" cy="1587398"/>
          </a:xfrm>
          <a:prstGeom prst="rect">
            <a:avLst/>
          </a:prstGeom>
          <a:solidFill>
            <a:srgbClr val="2563EB"/>
          </a:solidFill>
          <a:ln/>
        </p:spPr>
        <p:txBody>
          <a:bodyPr/>
          <a:lstStyle/>
          <a:p>
            <a:endParaRPr lang="en-US"/>
          </a:p>
        </p:txBody>
      </p:sp>
      <p:sp>
        <p:nvSpPr>
          <p:cNvPr id="18" name="Shape 16"/>
          <p:cNvSpPr/>
          <p:nvPr/>
        </p:nvSpPr>
        <p:spPr>
          <a:xfrm>
            <a:off x="5760720" y="1936699"/>
            <a:ext cx="256032" cy="1766621"/>
          </a:xfrm>
          <a:prstGeom prst="rect">
            <a:avLst/>
          </a:prstGeom>
          <a:solidFill>
            <a:srgbClr val="2563EB"/>
          </a:solidFill>
          <a:ln/>
        </p:spPr>
        <p:txBody>
          <a:bodyPr/>
          <a:lstStyle/>
          <a:p>
            <a:endParaRPr lang="en-US"/>
          </a:p>
        </p:txBody>
      </p:sp>
      <p:sp>
        <p:nvSpPr>
          <p:cNvPr id="19" name="Shape 17"/>
          <p:cNvSpPr/>
          <p:nvPr/>
        </p:nvSpPr>
        <p:spPr>
          <a:xfrm>
            <a:off x="6035040" y="1783080"/>
            <a:ext cx="256032" cy="1920240"/>
          </a:xfrm>
          <a:prstGeom prst="rect">
            <a:avLst/>
          </a:prstGeom>
          <a:solidFill>
            <a:srgbClr val="2563EB"/>
          </a:solidFill>
          <a:ln/>
        </p:spPr>
        <p:txBody>
          <a:bodyPr/>
          <a:lstStyle/>
          <a:p>
            <a:endParaRPr lang="en-US"/>
          </a:p>
        </p:txBody>
      </p:sp>
      <p:sp>
        <p:nvSpPr>
          <p:cNvPr id="20" name="Shape 18"/>
          <p:cNvSpPr/>
          <p:nvPr/>
        </p:nvSpPr>
        <p:spPr>
          <a:xfrm>
            <a:off x="6309360" y="1680667"/>
            <a:ext cx="256032" cy="2022653"/>
          </a:xfrm>
          <a:prstGeom prst="rect">
            <a:avLst/>
          </a:prstGeom>
          <a:solidFill>
            <a:srgbClr val="2563EB"/>
          </a:solidFill>
          <a:ln/>
        </p:spPr>
        <p:txBody>
          <a:bodyPr/>
          <a:lstStyle/>
          <a:p>
            <a:endParaRPr lang="en-US"/>
          </a:p>
        </p:txBody>
      </p:sp>
      <p:sp>
        <p:nvSpPr>
          <p:cNvPr id="21" name="Shape 19"/>
          <p:cNvSpPr/>
          <p:nvPr/>
        </p:nvSpPr>
        <p:spPr>
          <a:xfrm>
            <a:off x="6583680" y="1603858"/>
            <a:ext cx="256032" cy="2099462"/>
          </a:xfrm>
          <a:prstGeom prst="rect">
            <a:avLst/>
          </a:prstGeom>
          <a:solidFill>
            <a:srgbClr val="2563EB"/>
          </a:solidFill>
          <a:ln/>
        </p:spPr>
        <p:txBody>
          <a:bodyPr/>
          <a:lstStyle/>
          <a:p>
            <a:endParaRPr lang="en-US"/>
          </a:p>
        </p:txBody>
      </p:sp>
      <p:sp>
        <p:nvSpPr>
          <p:cNvPr id="22" name="Shape 20"/>
          <p:cNvSpPr/>
          <p:nvPr/>
        </p:nvSpPr>
        <p:spPr>
          <a:xfrm>
            <a:off x="6858000" y="1527048"/>
            <a:ext cx="256032" cy="2176272"/>
          </a:xfrm>
          <a:prstGeom prst="rect">
            <a:avLst/>
          </a:prstGeom>
          <a:solidFill>
            <a:srgbClr val="2563EB"/>
          </a:solidFill>
          <a:ln/>
        </p:spPr>
        <p:txBody>
          <a:bodyPr/>
          <a:lstStyle/>
          <a:p>
            <a:endParaRPr lang="en-US"/>
          </a:p>
        </p:txBody>
      </p:sp>
      <p:sp>
        <p:nvSpPr>
          <p:cNvPr id="23" name="Shape 21"/>
          <p:cNvSpPr/>
          <p:nvPr/>
        </p:nvSpPr>
        <p:spPr>
          <a:xfrm>
            <a:off x="7132320" y="1475842"/>
            <a:ext cx="256032" cy="2227478"/>
          </a:xfrm>
          <a:prstGeom prst="rect">
            <a:avLst/>
          </a:prstGeom>
          <a:solidFill>
            <a:srgbClr val="2563EB"/>
          </a:solidFill>
          <a:ln/>
        </p:spPr>
        <p:txBody>
          <a:bodyPr/>
          <a:lstStyle/>
          <a:p>
            <a:endParaRPr lang="en-US"/>
          </a:p>
        </p:txBody>
      </p:sp>
      <p:sp>
        <p:nvSpPr>
          <p:cNvPr id="24" name="Shape 22"/>
          <p:cNvSpPr/>
          <p:nvPr/>
        </p:nvSpPr>
        <p:spPr>
          <a:xfrm>
            <a:off x="7406640" y="1424635"/>
            <a:ext cx="256032" cy="2278685"/>
          </a:xfrm>
          <a:prstGeom prst="rect">
            <a:avLst/>
          </a:prstGeom>
          <a:solidFill>
            <a:srgbClr val="2563EB"/>
          </a:solidFill>
          <a:ln/>
        </p:spPr>
        <p:txBody>
          <a:bodyPr/>
          <a:lstStyle/>
          <a:p>
            <a:endParaRPr lang="en-US"/>
          </a:p>
        </p:txBody>
      </p:sp>
      <p:sp>
        <p:nvSpPr>
          <p:cNvPr id="25" name="Shape 23"/>
          <p:cNvSpPr/>
          <p:nvPr/>
        </p:nvSpPr>
        <p:spPr>
          <a:xfrm>
            <a:off x="7680960" y="1373429"/>
            <a:ext cx="256032" cy="2329891"/>
          </a:xfrm>
          <a:prstGeom prst="rect">
            <a:avLst/>
          </a:prstGeom>
          <a:solidFill>
            <a:srgbClr val="2563EB"/>
          </a:solidFill>
          <a:ln/>
        </p:spPr>
        <p:txBody>
          <a:bodyPr/>
          <a:lstStyle/>
          <a:p>
            <a:endParaRPr lang="en-US"/>
          </a:p>
        </p:txBody>
      </p:sp>
      <p:sp>
        <p:nvSpPr>
          <p:cNvPr id="26" name="Shape 24"/>
          <p:cNvSpPr/>
          <p:nvPr/>
        </p:nvSpPr>
        <p:spPr>
          <a:xfrm>
            <a:off x="7955280" y="1322222"/>
            <a:ext cx="256032" cy="2381098"/>
          </a:xfrm>
          <a:prstGeom prst="rect">
            <a:avLst/>
          </a:prstGeom>
          <a:solidFill>
            <a:srgbClr val="BFDBFE"/>
          </a:solidFill>
          <a:ln/>
        </p:spPr>
        <p:txBody>
          <a:bodyPr/>
          <a:lstStyle/>
          <a:p>
            <a:endParaRPr lang="en-US"/>
          </a:p>
        </p:txBody>
      </p:sp>
      <p:sp>
        <p:nvSpPr>
          <p:cNvPr id="27" name="Shape 25"/>
          <p:cNvSpPr/>
          <p:nvPr/>
        </p:nvSpPr>
        <p:spPr>
          <a:xfrm>
            <a:off x="8229600" y="1296619"/>
            <a:ext cx="256032" cy="2406701"/>
          </a:xfrm>
          <a:prstGeom prst="rect">
            <a:avLst/>
          </a:prstGeom>
          <a:solidFill>
            <a:srgbClr val="BFDBFE"/>
          </a:solidFill>
          <a:ln/>
        </p:spPr>
        <p:txBody>
          <a:bodyPr/>
          <a:lstStyle/>
          <a:p>
            <a:endParaRPr lang="en-US"/>
          </a:p>
        </p:txBody>
      </p:sp>
      <p:sp>
        <p:nvSpPr>
          <p:cNvPr id="28" name="Shape 26"/>
          <p:cNvSpPr/>
          <p:nvPr/>
        </p:nvSpPr>
        <p:spPr>
          <a:xfrm>
            <a:off x="8503920" y="1271016"/>
            <a:ext cx="256032" cy="2432304"/>
          </a:xfrm>
          <a:prstGeom prst="rect">
            <a:avLst/>
          </a:prstGeom>
          <a:solidFill>
            <a:srgbClr val="BFDBFE"/>
          </a:solidFill>
          <a:ln/>
        </p:spPr>
        <p:txBody>
          <a:bodyPr/>
          <a:lstStyle/>
          <a:p>
            <a:endParaRPr lang="en-US"/>
          </a:p>
        </p:txBody>
      </p:sp>
      <p:sp>
        <p:nvSpPr>
          <p:cNvPr id="29" name="Shape 27"/>
          <p:cNvSpPr/>
          <p:nvPr/>
        </p:nvSpPr>
        <p:spPr>
          <a:xfrm>
            <a:off x="4663440" y="1271016"/>
            <a:ext cx="4114800" cy="0"/>
          </a:xfrm>
          <a:prstGeom prst="line">
            <a:avLst/>
          </a:prstGeom>
          <a:noFill/>
          <a:ln w="19050">
            <a:solidFill>
              <a:srgbClr val="DC2626"/>
            </a:solidFill>
            <a:prstDash val="dash"/>
          </a:ln>
        </p:spPr>
        <p:txBody>
          <a:bodyPr/>
          <a:lstStyle/>
          <a:p>
            <a:endParaRPr lang="en-US"/>
          </a:p>
        </p:txBody>
      </p:sp>
      <p:sp>
        <p:nvSpPr>
          <p:cNvPr id="30" name="Text 28"/>
          <p:cNvSpPr/>
          <p:nvPr/>
        </p:nvSpPr>
        <p:spPr>
          <a:xfrm>
            <a:off x="7589520" y="1161288"/>
            <a:ext cx="1097280" cy="201168"/>
          </a:xfrm>
          <a:prstGeom prst="rect">
            <a:avLst/>
          </a:prstGeom>
          <a:noFill/>
          <a:ln/>
        </p:spPr>
        <p:txBody>
          <a:bodyPr wrap="square" lIns="0" tIns="0" rIns="0" bIns="0" rtlCol="0" anchor="ctr"/>
          <a:lstStyle/>
          <a:p>
            <a:pPr marL="0" indent="0">
              <a:buNone/>
            </a:pPr>
            <a:r>
              <a:rPr lang="en-US" sz="750" dirty="0">
                <a:solidFill>
                  <a:srgbClr val="DC2626"/>
                </a:solidFill>
              </a:rPr>
              <a:t>95% threshold</a:t>
            </a:r>
            <a:endParaRPr lang="en-US" sz="750" dirty="0"/>
          </a:p>
        </p:txBody>
      </p:sp>
      <p:sp>
        <p:nvSpPr>
          <p:cNvPr id="31" name="Text 29"/>
          <p:cNvSpPr/>
          <p:nvPr/>
        </p:nvSpPr>
        <p:spPr>
          <a:xfrm>
            <a:off x="4224528" y="1051560"/>
            <a:ext cx="411480" cy="228600"/>
          </a:xfrm>
          <a:prstGeom prst="rect">
            <a:avLst/>
          </a:prstGeom>
          <a:noFill/>
          <a:ln/>
        </p:spPr>
        <p:txBody>
          <a:bodyPr wrap="square" lIns="0" tIns="0" rIns="0" bIns="0" rtlCol="0" anchor="ctr"/>
          <a:lstStyle/>
          <a:p>
            <a:pPr marL="0" indent="0" algn="r">
              <a:buNone/>
            </a:pPr>
            <a:r>
              <a:rPr lang="en-US" sz="700" dirty="0">
                <a:solidFill>
                  <a:srgbClr val="64748B"/>
                </a:solidFill>
              </a:rPr>
              <a:t>100%</a:t>
            </a:r>
            <a:endParaRPr lang="en-US" sz="700" dirty="0"/>
          </a:p>
        </p:txBody>
      </p:sp>
      <p:sp>
        <p:nvSpPr>
          <p:cNvPr id="32" name="Text 30"/>
          <p:cNvSpPr/>
          <p:nvPr/>
        </p:nvSpPr>
        <p:spPr>
          <a:xfrm>
            <a:off x="4224528" y="1691640"/>
            <a:ext cx="411480" cy="228600"/>
          </a:xfrm>
          <a:prstGeom prst="rect">
            <a:avLst/>
          </a:prstGeom>
          <a:noFill/>
          <a:ln/>
        </p:spPr>
        <p:txBody>
          <a:bodyPr wrap="square" lIns="0" tIns="0" rIns="0" bIns="0" rtlCol="0" anchor="ctr"/>
          <a:lstStyle/>
          <a:p>
            <a:pPr marL="0" indent="0" algn="r">
              <a:buNone/>
            </a:pPr>
            <a:r>
              <a:rPr lang="en-US" sz="700" dirty="0">
                <a:solidFill>
                  <a:srgbClr val="64748B"/>
                </a:solidFill>
              </a:rPr>
              <a:t>75%</a:t>
            </a:r>
            <a:endParaRPr lang="en-US" sz="700" dirty="0"/>
          </a:p>
        </p:txBody>
      </p:sp>
      <p:sp>
        <p:nvSpPr>
          <p:cNvPr id="33" name="Text 31"/>
          <p:cNvSpPr/>
          <p:nvPr/>
        </p:nvSpPr>
        <p:spPr>
          <a:xfrm>
            <a:off x="4224528" y="2331720"/>
            <a:ext cx="411480" cy="228600"/>
          </a:xfrm>
          <a:prstGeom prst="rect">
            <a:avLst/>
          </a:prstGeom>
          <a:noFill/>
          <a:ln/>
        </p:spPr>
        <p:txBody>
          <a:bodyPr wrap="square" lIns="0" tIns="0" rIns="0" bIns="0" rtlCol="0" anchor="ctr"/>
          <a:lstStyle/>
          <a:p>
            <a:pPr marL="0" indent="0" algn="r">
              <a:buNone/>
            </a:pPr>
            <a:r>
              <a:rPr lang="en-US" sz="700" dirty="0">
                <a:solidFill>
                  <a:srgbClr val="64748B"/>
                </a:solidFill>
              </a:rPr>
              <a:t>50%</a:t>
            </a:r>
            <a:endParaRPr lang="en-US" sz="700" dirty="0"/>
          </a:p>
        </p:txBody>
      </p:sp>
      <p:sp>
        <p:nvSpPr>
          <p:cNvPr id="34" name="Text 32"/>
          <p:cNvSpPr/>
          <p:nvPr/>
        </p:nvSpPr>
        <p:spPr>
          <a:xfrm>
            <a:off x="4224528" y="2971800"/>
            <a:ext cx="411480" cy="228600"/>
          </a:xfrm>
          <a:prstGeom prst="rect">
            <a:avLst/>
          </a:prstGeom>
          <a:noFill/>
          <a:ln/>
        </p:spPr>
        <p:txBody>
          <a:bodyPr wrap="square" lIns="0" tIns="0" rIns="0" bIns="0" rtlCol="0" anchor="ctr"/>
          <a:lstStyle/>
          <a:p>
            <a:pPr marL="0" indent="0" algn="r">
              <a:buNone/>
            </a:pPr>
            <a:r>
              <a:rPr lang="en-US" sz="700" dirty="0">
                <a:solidFill>
                  <a:srgbClr val="64748B"/>
                </a:solidFill>
              </a:rPr>
              <a:t>25%</a:t>
            </a:r>
            <a:endParaRPr lang="en-US" sz="700" dirty="0"/>
          </a:p>
        </p:txBody>
      </p:sp>
      <p:sp>
        <p:nvSpPr>
          <p:cNvPr id="35" name="Text 33"/>
          <p:cNvSpPr/>
          <p:nvPr/>
        </p:nvSpPr>
        <p:spPr>
          <a:xfrm>
            <a:off x="4224528" y="3611880"/>
            <a:ext cx="411480" cy="228600"/>
          </a:xfrm>
          <a:prstGeom prst="rect">
            <a:avLst/>
          </a:prstGeom>
          <a:noFill/>
          <a:ln/>
        </p:spPr>
        <p:txBody>
          <a:bodyPr wrap="square" lIns="0" tIns="0" rIns="0" bIns="0" rtlCol="0" anchor="ctr"/>
          <a:lstStyle/>
          <a:p>
            <a:pPr marL="0" indent="0" algn="r">
              <a:buNone/>
            </a:pPr>
            <a:r>
              <a:rPr lang="en-US" sz="700" dirty="0">
                <a:solidFill>
                  <a:srgbClr val="64748B"/>
                </a:solidFill>
              </a:rPr>
              <a:t>0%</a:t>
            </a:r>
            <a:endParaRPr lang="en-US" sz="700" dirty="0"/>
          </a:p>
        </p:txBody>
      </p:sp>
      <p:sp>
        <p:nvSpPr>
          <p:cNvPr id="36" name="Text 34"/>
          <p:cNvSpPr/>
          <p:nvPr/>
        </p:nvSpPr>
        <p:spPr>
          <a:xfrm>
            <a:off x="4663440" y="3749040"/>
            <a:ext cx="4114800" cy="182880"/>
          </a:xfrm>
          <a:prstGeom prst="rect">
            <a:avLst/>
          </a:prstGeom>
          <a:noFill/>
          <a:ln/>
        </p:spPr>
        <p:txBody>
          <a:bodyPr wrap="square" lIns="0" tIns="0" rIns="0" bIns="0" rtlCol="0" anchor="ctr"/>
          <a:lstStyle/>
          <a:p>
            <a:pPr marL="0" indent="0" algn="l">
              <a:buNone/>
            </a:pPr>
            <a:r>
              <a:rPr lang="en-US" sz="700" dirty="0">
                <a:solidFill>
                  <a:srgbClr val="64748B"/>
                </a:solidFill>
              </a:rPr>
              <a:t>1   2   3   4   5   6   7   8   9  10  11  12  13  14  15</a:t>
            </a:r>
            <a:endParaRPr lang="en-US" sz="700" dirty="0"/>
          </a:p>
        </p:txBody>
      </p:sp>
      <p:sp>
        <p:nvSpPr>
          <p:cNvPr id="37" name="Text 35"/>
          <p:cNvSpPr/>
          <p:nvPr/>
        </p:nvSpPr>
        <p:spPr>
          <a:xfrm>
            <a:off x="4663440" y="3931920"/>
            <a:ext cx="4114800" cy="182880"/>
          </a:xfrm>
          <a:prstGeom prst="rect">
            <a:avLst/>
          </a:prstGeom>
          <a:noFill/>
          <a:ln/>
        </p:spPr>
        <p:txBody>
          <a:bodyPr wrap="square" lIns="0" tIns="0" rIns="0" bIns="0" rtlCol="0" anchor="ctr"/>
          <a:lstStyle/>
          <a:p>
            <a:pPr marL="0" indent="0" algn="ctr">
              <a:buNone/>
            </a:pPr>
            <a:r>
              <a:rPr lang="en-US" sz="800" dirty="0">
                <a:solidFill>
                  <a:srgbClr val="64748B"/>
                </a:solidFill>
              </a:rPr>
              <a:t>Principal Components</a:t>
            </a:r>
            <a:endParaRPr lang="en-US" sz="800" dirty="0"/>
          </a:p>
        </p:txBody>
      </p:sp>
      <p:sp>
        <p:nvSpPr>
          <p:cNvPr id="38" name="Shape 36"/>
          <p:cNvSpPr/>
          <p:nvPr/>
        </p:nvSpPr>
        <p:spPr>
          <a:xfrm>
            <a:off x="4572000" y="3886200"/>
            <a:ext cx="4297680" cy="777240"/>
          </a:xfrm>
          <a:prstGeom prst="rect">
            <a:avLst/>
          </a:prstGeom>
          <a:solidFill>
            <a:srgbClr val="EFF6FF"/>
          </a:solidFill>
          <a:ln/>
        </p:spPr>
        <p:txBody>
          <a:bodyPr/>
          <a:lstStyle/>
          <a:p>
            <a:endParaRPr lang="en-US"/>
          </a:p>
        </p:txBody>
      </p:sp>
      <p:sp>
        <p:nvSpPr>
          <p:cNvPr id="39" name="Shape 37"/>
          <p:cNvSpPr/>
          <p:nvPr/>
        </p:nvSpPr>
        <p:spPr>
          <a:xfrm>
            <a:off x="4572000" y="3886200"/>
            <a:ext cx="64008" cy="777240"/>
          </a:xfrm>
          <a:prstGeom prst="rect">
            <a:avLst/>
          </a:prstGeom>
          <a:solidFill>
            <a:srgbClr val="2563EB"/>
          </a:solidFill>
          <a:ln/>
        </p:spPr>
        <p:txBody>
          <a:bodyPr/>
          <a:lstStyle/>
          <a:p>
            <a:endParaRPr lang="en-US"/>
          </a:p>
        </p:txBody>
      </p:sp>
      <p:sp>
        <p:nvSpPr>
          <p:cNvPr id="40" name="Text 38"/>
          <p:cNvSpPr/>
          <p:nvPr/>
        </p:nvSpPr>
        <p:spPr>
          <a:xfrm>
            <a:off x="4709160" y="3931920"/>
            <a:ext cx="4096512" cy="292608"/>
          </a:xfrm>
          <a:prstGeom prst="rect">
            <a:avLst/>
          </a:prstGeom>
          <a:noFill/>
          <a:ln/>
        </p:spPr>
        <p:txBody>
          <a:bodyPr wrap="square" lIns="0" tIns="0" rIns="0" bIns="0" rtlCol="0" anchor="ctr"/>
          <a:lstStyle/>
          <a:p>
            <a:pPr marL="0" indent="0">
              <a:buNone/>
            </a:pPr>
            <a:r>
              <a:rPr lang="en-US" sz="1100" b="1" dirty="0">
                <a:solidFill>
                  <a:srgbClr val="1B3A6B"/>
                </a:solidFill>
              </a:rPr>
              <a:t>12 components = 89.3% variance</a:t>
            </a:r>
            <a:endParaRPr lang="en-US" sz="1100" dirty="0"/>
          </a:p>
        </p:txBody>
      </p:sp>
      <p:sp>
        <p:nvSpPr>
          <p:cNvPr id="41" name="Text 39"/>
          <p:cNvSpPr/>
          <p:nvPr/>
        </p:nvSpPr>
        <p:spPr>
          <a:xfrm>
            <a:off x="4709160" y="4224528"/>
            <a:ext cx="4096512" cy="384048"/>
          </a:xfrm>
          <a:prstGeom prst="rect">
            <a:avLst/>
          </a:prstGeom>
          <a:noFill/>
          <a:ln/>
        </p:spPr>
        <p:txBody>
          <a:bodyPr wrap="square" lIns="0" tIns="0" rIns="0" bIns="0" rtlCol="0" anchor="ctr"/>
          <a:lstStyle/>
          <a:p>
            <a:pPr marL="0" indent="0">
              <a:buNone/>
            </a:pPr>
            <a:r>
              <a:rPr lang="en-US" sz="850" dirty="0">
                <a:solidFill>
                  <a:srgbClr val="64748B"/>
                </a:solidFill>
              </a:rPr>
              <a:t>t-SNE on 12-component PCA projection shows partial cluster separation between fraud and legitimate, confirms V-features carry real discriminatory signal.</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A6B"/>
          </a:solidFill>
          <a:ln/>
        </p:spPr>
        <p:txBody>
          <a:bodyPr/>
          <a:lstStyle/>
          <a:p>
            <a:endParaRPr lang="en-US"/>
          </a:p>
        </p:txBody>
      </p:sp>
      <p:sp>
        <p:nvSpPr>
          <p:cNvPr id="3" name="Shape 1"/>
          <p:cNvSpPr/>
          <p:nvPr/>
        </p:nvSpPr>
        <p:spPr>
          <a:xfrm>
            <a:off x="109728" y="0"/>
            <a:ext cx="9034272" cy="502920"/>
          </a:xfrm>
          <a:prstGeom prst="rect">
            <a:avLst/>
          </a:prstGeom>
          <a:solidFill>
            <a:srgbClr val="1E293B"/>
          </a:solidFill>
          <a:ln/>
        </p:spPr>
        <p:txBody>
          <a:bodyPr/>
          <a:lstStyle/>
          <a:p>
            <a:endParaRPr lang="en-US"/>
          </a:p>
        </p:txBody>
      </p:sp>
      <p:sp>
        <p:nvSpPr>
          <p:cNvPr id="4" name="Shape 2"/>
          <p:cNvSpPr/>
          <p:nvPr/>
        </p:nvSpPr>
        <p:spPr>
          <a:xfrm>
            <a:off x="228600" y="91440"/>
            <a:ext cx="1005840" cy="320040"/>
          </a:xfrm>
          <a:prstGeom prst="rect">
            <a:avLst/>
          </a:prstGeom>
          <a:solidFill>
            <a:srgbClr val="2563EB"/>
          </a:solidFill>
          <a:ln/>
        </p:spPr>
        <p:txBody>
          <a:bodyPr/>
          <a:lstStyle/>
          <a:p>
            <a:endParaRPr lang="en-US"/>
          </a:p>
        </p:txBody>
      </p:sp>
      <p:sp>
        <p:nvSpPr>
          <p:cNvPr id="5" name="Text 3"/>
          <p:cNvSpPr/>
          <p:nvPr/>
        </p:nvSpPr>
        <p:spPr>
          <a:xfrm>
            <a:off x="228600" y="91440"/>
            <a:ext cx="1005840" cy="320040"/>
          </a:xfrm>
          <a:prstGeom prst="rect">
            <a:avLst/>
          </a:prstGeom>
          <a:noFill/>
          <a:ln/>
        </p:spPr>
        <p:txBody>
          <a:bodyPr wrap="square" lIns="0" tIns="0" rIns="0" bIns="0" rtlCol="0" anchor="ctr"/>
          <a:lstStyle/>
          <a:p>
            <a:pPr marL="0" indent="0" algn="ctr">
              <a:buNone/>
            </a:pPr>
            <a:r>
              <a:rPr lang="en-US" sz="900" b="1" dirty="0">
                <a:solidFill>
                  <a:srgbClr val="FFFFFF"/>
                </a:solidFill>
              </a:rPr>
              <a:t>STEP 4</a:t>
            </a:r>
            <a:endParaRPr lang="en-US" sz="900" dirty="0"/>
          </a:p>
        </p:txBody>
      </p:sp>
      <p:sp>
        <p:nvSpPr>
          <p:cNvPr id="6" name="Text 4"/>
          <p:cNvSpPr/>
          <p:nvPr/>
        </p:nvSpPr>
        <p:spPr>
          <a:xfrm>
            <a:off x="1371600" y="82296"/>
            <a:ext cx="7498080" cy="347472"/>
          </a:xfrm>
          <a:prstGeom prst="rect">
            <a:avLst/>
          </a:prstGeom>
          <a:noFill/>
          <a:ln/>
        </p:spPr>
        <p:txBody>
          <a:bodyPr wrap="square" lIns="0" tIns="0" rIns="0" bIns="0" rtlCol="0" anchor="ctr"/>
          <a:lstStyle/>
          <a:p>
            <a:pPr marL="0" indent="0">
              <a:buNone/>
            </a:pPr>
            <a:r>
              <a:rPr lang="en-US" sz="1500" b="1" dirty="0">
                <a:solidFill>
                  <a:srgbClr val="FFFFFF"/>
                </a:solidFill>
              </a:rPr>
              <a:t>Model Implementation &amp; Comparison, All 4 Models</a:t>
            </a:r>
            <a:endParaRPr lang="en-US" sz="1500" dirty="0"/>
          </a:p>
        </p:txBody>
      </p:sp>
      <p:sp>
        <p:nvSpPr>
          <p:cNvPr id="7" name="Text 5"/>
          <p:cNvSpPr/>
          <p:nvPr/>
        </p:nvSpPr>
        <p:spPr>
          <a:xfrm>
            <a:off x="109728" y="4800600"/>
            <a:ext cx="9034272" cy="320040"/>
          </a:xfrm>
          <a:prstGeom prst="rect">
            <a:avLst/>
          </a:prstGeom>
          <a:noFill/>
          <a:ln/>
        </p:spPr>
        <p:txBody>
          <a:bodyPr wrap="square" lIns="0" tIns="0" rIns="0" bIns="0" rtlCol="0" anchor="ctr"/>
          <a:lstStyle/>
          <a:p>
            <a:pPr marL="0" indent="0" algn="r">
              <a:buNone/>
            </a:pPr>
            <a:r>
              <a:rPr lang="en-US" sz="800" dirty="0">
                <a:solidFill>
                  <a:srgbClr val="64748B"/>
                </a:solidFill>
              </a:rPr>
              <a:t>ProTech Devices Asia  |  AIM Capstone 2025</a:t>
            </a:r>
            <a:endParaRPr lang="en-US" sz="800" dirty="0"/>
          </a:p>
        </p:txBody>
      </p:sp>
      <p:sp>
        <p:nvSpPr>
          <p:cNvPr id="8" name="Shape 6"/>
          <p:cNvSpPr/>
          <p:nvPr/>
        </p:nvSpPr>
        <p:spPr>
          <a:xfrm>
            <a:off x="201168" y="658368"/>
            <a:ext cx="1828800" cy="10058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01168" y="658368"/>
            <a:ext cx="1828800" cy="109728"/>
          </a:xfrm>
          <a:prstGeom prst="rect">
            <a:avLst/>
          </a:prstGeom>
          <a:solidFill>
            <a:srgbClr val="059669"/>
          </a:solidFill>
          <a:ln/>
        </p:spPr>
        <p:txBody>
          <a:bodyPr/>
          <a:lstStyle/>
          <a:p>
            <a:endParaRPr lang="en-US"/>
          </a:p>
        </p:txBody>
      </p:sp>
      <p:sp>
        <p:nvSpPr>
          <p:cNvPr id="10" name="Text 8"/>
          <p:cNvSpPr/>
          <p:nvPr/>
        </p:nvSpPr>
        <p:spPr>
          <a:xfrm>
            <a:off x="201168" y="768096"/>
            <a:ext cx="1828800" cy="548640"/>
          </a:xfrm>
          <a:prstGeom prst="rect">
            <a:avLst/>
          </a:prstGeom>
          <a:noFill/>
          <a:ln/>
        </p:spPr>
        <p:txBody>
          <a:bodyPr wrap="square" lIns="0" tIns="0" rIns="0" bIns="0" rtlCol="0" anchor="ctr"/>
          <a:lstStyle/>
          <a:p>
            <a:pPr marL="0" indent="0" algn="ctr">
              <a:buNone/>
            </a:pPr>
            <a:r>
              <a:rPr lang="en-US" sz="2800" b="1" dirty="0">
                <a:solidFill>
                  <a:srgbClr val="059669"/>
                </a:solidFill>
              </a:rPr>
              <a:t>0.9412</a:t>
            </a:r>
            <a:endParaRPr lang="en-US" sz="2800" dirty="0"/>
          </a:p>
        </p:txBody>
      </p:sp>
      <p:sp>
        <p:nvSpPr>
          <p:cNvPr id="11" name="Text 9"/>
          <p:cNvSpPr/>
          <p:nvPr/>
        </p:nvSpPr>
        <p:spPr>
          <a:xfrm>
            <a:off x="201168" y="1316736"/>
            <a:ext cx="1828800" cy="320040"/>
          </a:xfrm>
          <a:prstGeom prst="rect">
            <a:avLst/>
          </a:prstGeom>
          <a:noFill/>
          <a:ln/>
        </p:spPr>
        <p:txBody>
          <a:bodyPr wrap="square" lIns="25400" tIns="25400" rIns="25400" bIns="25400" rtlCol="0" anchor="t"/>
          <a:lstStyle/>
          <a:p>
            <a:pPr marL="0" indent="0" algn="ctr">
              <a:buNone/>
            </a:pPr>
            <a:r>
              <a:rPr lang="en-US" sz="850" dirty="0">
                <a:solidFill>
                  <a:srgbClr val="64748B"/>
                </a:solidFill>
              </a:rPr>
              <a:t>XGBoost ★  |  AUC-ROC</a:t>
            </a:r>
            <a:endParaRPr lang="en-US" sz="850" dirty="0"/>
          </a:p>
        </p:txBody>
      </p:sp>
      <p:sp>
        <p:nvSpPr>
          <p:cNvPr id="12" name="Shape 10"/>
          <p:cNvSpPr/>
          <p:nvPr/>
        </p:nvSpPr>
        <p:spPr>
          <a:xfrm>
            <a:off x="2350008" y="658368"/>
            <a:ext cx="1828800" cy="10058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350008" y="658368"/>
            <a:ext cx="1828800" cy="109728"/>
          </a:xfrm>
          <a:prstGeom prst="rect">
            <a:avLst/>
          </a:prstGeom>
          <a:solidFill>
            <a:srgbClr val="2563EB"/>
          </a:solidFill>
          <a:ln/>
        </p:spPr>
        <p:txBody>
          <a:bodyPr/>
          <a:lstStyle/>
          <a:p>
            <a:endParaRPr lang="en-US"/>
          </a:p>
        </p:txBody>
      </p:sp>
      <p:sp>
        <p:nvSpPr>
          <p:cNvPr id="14" name="Text 12"/>
          <p:cNvSpPr/>
          <p:nvPr/>
        </p:nvSpPr>
        <p:spPr>
          <a:xfrm>
            <a:off x="2350008" y="768096"/>
            <a:ext cx="1828800" cy="548640"/>
          </a:xfrm>
          <a:prstGeom prst="rect">
            <a:avLst/>
          </a:prstGeom>
          <a:noFill/>
          <a:ln/>
        </p:spPr>
        <p:txBody>
          <a:bodyPr wrap="square" lIns="0" tIns="0" rIns="0" bIns="0" rtlCol="0" anchor="ctr"/>
          <a:lstStyle/>
          <a:p>
            <a:pPr marL="0" indent="0" algn="ctr">
              <a:buNone/>
            </a:pPr>
            <a:r>
              <a:rPr lang="en-US" sz="2800" b="1" dirty="0">
                <a:solidFill>
                  <a:srgbClr val="2563EB"/>
                </a:solidFill>
              </a:rPr>
              <a:t>0.7318</a:t>
            </a:r>
            <a:endParaRPr lang="en-US" sz="2800" dirty="0"/>
          </a:p>
        </p:txBody>
      </p:sp>
      <p:sp>
        <p:nvSpPr>
          <p:cNvPr id="15" name="Text 13"/>
          <p:cNvSpPr/>
          <p:nvPr/>
        </p:nvSpPr>
        <p:spPr>
          <a:xfrm>
            <a:off x="2350008" y="1316736"/>
            <a:ext cx="1828800" cy="320040"/>
          </a:xfrm>
          <a:prstGeom prst="rect">
            <a:avLst/>
          </a:prstGeom>
          <a:noFill/>
          <a:ln/>
        </p:spPr>
        <p:txBody>
          <a:bodyPr wrap="square" lIns="25400" tIns="25400" rIns="25400" bIns="25400" rtlCol="0" anchor="t"/>
          <a:lstStyle/>
          <a:p>
            <a:pPr marL="0" indent="0" algn="ctr">
              <a:buNone/>
            </a:pPr>
            <a:r>
              <a:rPr lang="en-US" sz="850" dirty="0">
                <a:solidFill>
                  <a:srgbClr val="64748B"/>
                </a:solidFill>
              </a:rPr>
              <a:t>XGBoost ★  |  PR-AUC (Fraud)</a:t>
            </a:r>
            <a:endParaRPr lang="en-US" sz="850" dirty="0"/>
          </a:p>
        </p:txBody>
      </p:sp>
      <p:sp>
        <p:nvSpPr>
          <p:cNvPr id="16" name="Shape 14"/>
          <p:cNvSpPr/>
          <p:nvPr/>
        </p:nvSpPr>
        <p:spPr>
          <a:xfrm>
            <a:off x="4498848" y="658368"/>
            <a:ext cx="1828800" cy="10058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498848" y="658368"/>
            <a:ext cx="1828800" cy="109728"/>
          </a:xfrm>
          <a:prstGeom prst="rect">
            <a:avLst/>
          </a:prstGeom>
          <a:solidFill>
            <a:srgbClr val="D97706"/>
          </a:solidFill>
          <a:ln/>
        </p:spPr>
        <p:txBody>
          <a:bodyPr/>
          <a:lstStyle/>
          <a:p>
            <a:endParaRPr lang="en-US"/>
          </a:p>
        </p:txBody>
      </p:sp>
      <p:sp>
        <p:nvSpPr>
          <p:cNvPr id="18" name="Text 16"/>
          <p:cNvSpPr/>
          <p:nvPr/>
        </p:nvSpPr>
        <p:spPr>
          <a:xfrm>
            <a:off x="4498848" y="768096"/>
            <a:ext cx="1828800" cy="548640"/>
          </a:xfrm>
          <a:prstGeom prst="rect">
            <a:avLst/>
          </a:prstGeom>
          <a:noFill/>
          <a:ln/>
        </p:spPr>
        <p:txBody>
          <a:bodyPr wrap="square" lIns="0" tIns="0" rIns="0" bIns="0" rtlCol="0" anchor="ctr"/>
          <a:lstStyle/>
          <a:p>
            <a:pPr marL="0" indent="0" algn="ctr">
              <a:buNone/>
            </a:pPr>
            <a:r>
              <a:rPr lang="en-US" sz="2800" b="1" dirty="0">
                <a:solidFill>
                  <a:srgbClr val="D97706"/>
                </a:solidFill>
              </a:rPr>
              <a:t>76%</a:t>
            </a:r>
            <a:endParaRPr lang="en-US" sz="2800" dirty="0"/>
          </a:p>
        </p:txBody>
      </p:sp>
      <p:sp>
        <p:nvSpPr>
          <p:cNvPr id="19" name="Text 17"/>
          <p:cNvSpPr/>
          <p:nvPr/>
        </p:nvSpPr>
        <p:spPr>
          <a:xfrm>
            <a:off x="4498848" y="1316736"/>
            <a:ext cx="1828800" cy="320040"/>
          </a:xfrm>
          <a:prstGeom prst="rect">
            <a:avLst/>
          </a:prstGeom>
          <a:noFill/>
          <a:ln/>
        </p:spPr>
        <p:txBody>
          <a:bodyPr wrap="square" lIns="25400" tIns="25400" rIns="25400" bIns="25400" rtlCol="0" anchor="t"/>
          <a:lstStyle/>
          <a:p>
            <a:pPr marL="0" indent="0" algn="ctr">
              <a:buNone/>
            </a:pPr>
            <a:r>
              <a:rPr lang="en-US" sz="850" dirty="0">
                <a:solidFill>
                  <a:srgbClr val="64748B"/>
                </a:solidFill>
              </a:rPr>
              <a:t>XGBoost ★  |  Precision (Fraud)</a:t>
            </a:r>
            <a:endParaRPr lang="en-US" sz="850" dirty="0"/>
          </a:p>
        </p:txBody>
      </p:sp>
      <p:sp>
        <p:nvSpPr>
          <p:cNvPr id="20" name="Shape 18"/>
          <p:cNvSpPr/>
          <p:nvPr/>
        </p:nvSpPr>
        <p:spPr>
          <a:xfrm>
            <a:off x="6647688" y="658368"/>
            <a:ext cx="1828800" cy="10058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6647688" y="658368"/>
            <a:ext cx="1828800" cy="109728"/>
          </a:xfrm>
          <a:prstGeom prst="rect">
            <a:avLst/>
          </a:prstGeom>
          <a:solidFill>
            <a:srgbClr val="DC2626"/>
          </a:solidFill>
          <a:ln/>
        </p:spPr>
        <p:txBody>
          <a:bodyPr/>
          <a:lstStyle/>
          <a:p>
            <a:endParaRPr lang="en-US"/>
          </a:p>
        </p:txBody>
      </p:sp>
      <p:sp>
        <p:nvSpPr>
          <p:cNvPr id="22" name="Text 20"/>
          <p:cNvSpPr/>
          <p:nvPr/>
        </p:nvSpPr>
        <p:spPr>
          <a:xfrm>
            <a:off x="6647688" y="768096"/>
            <a:ext cx="1828800" cy="548640"/>
          </a:xfrm>
          <a:prstGeom prst="rect">
            <a:avLst/>
          </a:prstGeom>
          <a:noFill/>
          <a:ln/>
        </p:spPr>
        <p:txBody>
          <a:bodyPr wrap="square" lIns="0" tIns="0" rIns="0" bIns="0" rtlCol="0" anchor="ctr"/>
          <a:lstStyle/>
          <a:p>
            <a:pPr marL="0" indent="0" algn="ctr">
              <a:buNone/>
            </a:pPr>
            <a:r>
              <a:rPr lang="en-US" sz="2800" b="1" dirty="0">
                <a:solidFill>
                  <a:srgbClr val="DC2626"/>
                </a:solidFill>
              </a:rPr>
              <a:t>79%</a:t>
            </a:r>
            <a:endParaRPr lang="en-US" sz="2800" dirty="0"/>
          </a:p>
        </p:txBody>
      </p:sp>
      <p:sp>
        <p:nvSpPr>
          <p:cNvPr id="23" name="Text 21"/>
          <p:cNvSpPr/>
          <p:nvPr/>
        </p:nvSpPr>
        <p:spPr>
          <a:xfrm>
            <a:off x="6647688" y="1316736"/>
            <a:ext cx="1828800" cy="320040"/>
          </a:xfrm>
          <a:prstGeom prst="rect">
            <a:avLst/>
          </a:prstGeom>
          <a:noFill/>
          <a:ln/>
        </p:spPr>
        <p:txBody>
          <a:bodyPr wrap="square" lIns="25400" tIns="25400" rIns="25400" bIns="25400" rtlCol="0" anchor="t"/>
          <a:lstStyle/>
          <a:p>
            <a:pPr marL="0" indent="0" algn="ctr">
              <a:buNone/>
            </a:pPr>
            <a:r>
              <a:rPr lang="en-US" sz="850" dirty="0">
                <a:solidFill>
                  <a:srgbClr val="64748B"/>
                </a:solidFill>
              </a:rPr>
              <a:t>XGBoost ★  |  Recall (Fraud)</a:t>
            </a:r>
            <a:endParaRPr lang="en-US" sz="850" dirty="0"/>
          </a:p>
        </p:txBody>
      </p:sp>
      <p:sp>
        <p:nvSpPr>
          <p:cNvPr id="24" name="Text 22"/>
          <p:cNvSpPr/>
          <p:nvPr/>
        </p:nvSpPr>
        <p:spPr>
          <a:xfrm>
            <a:off x="201168" y="1783080"/>
            <a:ext cx="8686800" cy="256032"/>
          </a:xfrm>
          <a:prstGeom prst="rect">
            <a:avLst/>
          </a:prstGeom>
          <a:noFill/>
          <a:ln/>
        </p:spPr>
        <p:txBody>
          <a:bodyPr wrap="square" lIns="0" tIns="0" rIns="0" bIns="0" rtlCol="0" anchor="ctr"/>
          <a:lstStyle/>
          <a:p>
            <a:pPr marL="0" indent="0">
              <a:buNone/>
            </a:pPr>
            <a:r>
              <a:rPr lang="en-US" sz="900" b="1" kern="0" spc="100" dirty="0">
                <a:solidFill>
                  <a:srgbClr val="1B3A6B"/>
                </a:solidFill>
              </a:rPr>
              <a:t>FULL MODEL COMPARISON</a:t>
            </a:r>
            <a:endParaRPr lang="en-US" sz="900" dirty="0"/>
          </a:p>
        </p:txBody>
      </p:sp>
      <p:sp>
        <p:nvSpPr>
          <p:cNvPr id="25" name="Shape 23"/>
          <p:cNvSpPr/>
          <p:nvPr/>
        </p:nvSpPr>
        <p:spPr>
          <a:xfrm>
            <a:off x="201168" y="2084832"/>
            <a:ext cx="1920240" cy="384048"/>
          </a:xfrm>
          <a:prstGeom prst="rect">
            <a:avLst/>
          </a:prstGeom>
          <a:solidFill>
            <a:srgbClr val="1B3A6B"/>
          </a:solidFill>
          <a:ln/>
        </p:spPr>
        <p:txBody>
          <a:bodyPr/>
          <a:lstStyle/>
          <a:p>
            <a:endParaRPr lang="en-US"/>
          </a:p>
        </p:txBody>
      </p:sp>
      <p:sp>
        <p:nvSpPr>
          <p:cNvPr id="26" name="Text 24"/>
          <p:cNvSpPr/>
          <p:nvPr/>
        </p:nvSpPr>
        <p:spPr>
          <a:xfrm>
            <a:off x="237744" y="2084832"/>
            <a:ext cx="1847088" cy="384048"/>
          </a:xfrm>
          <a:prstGeom prst="rect">
            <a:avLst/>
          </a:prstGeom>
          <a:noFill/>
          <a:ln/>
        </p:spPr>
        <p:txBody>
          <a:bodyPr wrap="square" lIns="0" tIns="0" rIns="0" bIns="0" rtlCol="0" anchor="ctr"/>
          <a:lstStyle/>
          <a:p>
            <a:pPr marL="0" indent="0" algn="ctr">
              <a:buNone/>
            </a:pPr>
            <a:r>
              <a:rPr lang="en-US" sz="800" b="1" dirty="0">
                <a:solidFill>
                  <a:srgbClr val="FFFFFF"/>
                </a:solidFill>
              </a:rPr>
              <a:t>Model</a:t>
            </a:r>
            <a:endParaRPr lang="en-US" sz="800" dirty="0"/>
          </a:p>
        </p:txBody>
      </p:sp>
      <p:sp>
        <p:nvSpPr>
          <p:cNvPr id="27" name="Shape 25"/>
          <p:cNvSpPr/>
          <p:nvPr/>
        </p:nvSpPr>
        <p:spPr>
          <a:xfrm>
            <a:off x="2121408" y="2084832"/>
            <a:ext cx="1005840" cy="384048"/>
          </a:xfrm>
          <a:prstGeom prst="rect">
            <a:avLst/>
          </a:prstGeom>
          <a:solidFill>
            <a:srgbClr val="1B3A6B"/>
          </a:solidFill>
          <a:ln/>
        </p:spPr>
        <p:txBody>
          <a:bodyPr/>
          <a:lstStyle/>
          <a:p>
            <a:endParaRPr lang="en-US"/>
          </a:p>
        </p:txBody>
      </p:sp>
      <p:sp>
        <p:nvSpPr>
          <p:cNvPr id="28" name="Text 26"/>
          <p:cNvSpPr/>
          <p:nvPr/>
        </p:nvSpPr>
        <p:spPr>
          <a:xfrm>
            <a:off x="2157984" y="2084832"/>
            <a:ext cx="932688" cy="384048"/>
          </a:xfrm>
          <a:prstGeom prst="rect">
            <a:avLst/>
          </a:prstGeom>
          <a:noFill/>
          <a:ln/>
        </p:spPr>
        <p:txBody>
          <a:bodyPr wrap="square" lIns="0" tIns="0" rIns="0" bIns="0" rtlCol="0" anchor="ctr"/>
          <a:lstStyle/>
          <a:p>
            <a:pPr marL="0" indent="0" algn="ctr">
              <a:buNone/>
            </a:pPr>
            <a:r>
              <a:rPr lang="en-US" sz="800" b="1" dirty="0">
                <a:solidFill>
                  <a:srgbClr val="FFFFFF"/>
                </a:solidFill>
              </a:rPr>
              <a:t>AUC-ROC</a:t>
            </a:r>
            <a:endParaRPr lang="en-US" sz="800" dirty="0"/>
          </a:p>
        </p:txBody>
      </p:sp>
      <p:sp>
        <p:nvSpPr>
          <p:cNvPr id="29" name="Shape 27"/>
          <p:cNvSpPr/>
          <p:nvPr/>
        </p:nvSpPr>
        <p:spPr>
          <a:xfrm>
            <a:off x="3127248" y="2084832"/>
            <a:ext cx="1005840" cy="384048"/>
          </a:xfrm>
          <a:prstGeom prst="rect">
            <a:avLst/>
          </a:prstGeom>
          <a:solidFill>
            <a:srgbClr val="1B3A6B"/>
          </a:solidFill>
          <a:ln/>
        </p:spPr>
        <p:txBody>
          <a:bodyPr/>
          <a:lstStyle/>
          <a:p>
            <a:endParaRPr lang="en-US"/>
          </a:p>
        </p:txBody>
      </p:sp>
      <p:sp>
        <p:nvSpPr>
          <p:cNvPr id="30" name="Text 28"/>
          <p:cNvSpPr/>
          <p:nvPr/>
        </p:nvSpPr>
        <p:spPr>
          <a:xfrm>
            <a:off x="3163824" y="2084832"/>
            <a:ext cx="932688" cy="384048"/>
          </a:xfrm>
          <a:prstGeom prst="rect">
            <a:avLst/>
          </a:prstGeom>
          <a:noFill/>
          <a:ln/>
        </p:spPr>
        <p:txBody>
          <a:bodyPr wrap="square" lIns="0" tIns="0" rIns="0" bIns="0" rtlCol="0" anchor="ctr"/>
          <a:lstStyle/>
          <a:p>
            <a:pPr marL="0" indent="0" algn="ctr">
              <a:buNone/>
            </a:pPr>
            <a:r>
              <a:rPr lang="en-US" sz="800" b="1" dirty="0">
                <a:solidFill>
                  <a:srgbClr val="FFFFFF"/>
                </a:solidFill>
              </a:rPr>
              <a:t>PR-AUC</a:t>
            </a:r>
            <a:endParaRPr lang="en-US" sz="800" dirty="0"/>
          </a:p>
        </p:txBody>
      </p:sp>
      <p:sp>
        <p:nvSpPr>
          <p:cNvPr id="31" name="Shape 29"/>
          <p:cNvSpPr/>
          <p:nvPr/>
        </p:nvSpPr>
        <p:spPr>
          <a:xfrm>
            <a:off x="4133088" y="2084832"/>
            <a:ext cx="1051560" cy="384048"/>
          </a:xfrm>
          <a:prstGeom prst="rect">
            <a:avLst/>
          </a:prstGeom>
          <a:solidFill>
            <a:srgbClr val="1B3A6B"/>
          </a:solidFill>
          <a:ln/>
        </p:spPr>
        <p:txBody>
          <a:bodyPr/>
          <a:lstStyle/>
          <a:p>
            <a:endParaRPr lang="en-US"/>
          </a:p>
        </p:txBody>
      </p:sp>
      <p:sp>
        <p:nvSpPr>
          <p:cNvPr id="32" name="Text 30"/>
          <p:cNvSpPr/>
          <p:nvPr/>
        </p:nvSpPr>
        <p:spPr>
          <a:xfrm>
            <a:off x="4169664" y="2084832"/>
            <a:ext cx="978408" cy="384048"/>
          </a:xfrm>
          <a:prstGeom prst="rect">
            <a:avLst/>
          </a:prstGeom>
          <a:noFill/>
          <a:ln/>
        </p:spPr>
        <p:txBody>
          <a:bodyPr wrap="square" lIns="0" tIns="0" rIns="0" bIns="0" rtlCol="0" anchor="ctr"/>
          <a:lstStyle/>
          <a:p>
            <a:pPr marL="0" indent="0" algn="ctr">
              <a:buNone/>
            </a:pPr>
            <a:r>
              <a:rPr lang="en-US" sz="800" b="1" dirty="0">
                <a:solidFill>
                  <a:srgbClr val="FFFFFF"/>
                </a:solidFill>
              </a:rPr>
              <a:t>Precision</a:t>
            </a:r>
            <a:endParaRPr lang="en-US" sz="800" dirty="0"/>
          </a:p>
          <a:p>
            <a:pPr marL="0" indent="0" algn="ctr">
              <a:buNone/>
            </a:pPr>
            <a:r>
              <a:rPr lang="en-US" sz="800" b="1" dirty="0">
                <a:solidFill>
                  <a:srgbClr val="FFFFFF"/>
                </a:solidFill>
              </a:rPr>
              <a:t>(Fraud)</a:t>
            </a:r>
            <a:endParaRPr lang="en-US" sz="800" dirty="0"/>
          </a:p>
        </p:txBody>
      </p:sp>
      <p:sp>
        <p:nvSpPr>
          <p:cNvPr id="33" name="Shape 31"/>
          <p:cNvSpPr/>
          <p:nvPr/>
        </p:nvSpPr>
        <p:spPr>
          <a:xfrm>
            <a:off x="5184648" y="2084832"/>
            <a:ext cx="1051560" cy="384048"/>
          </a:xfrm>
          <a:prstGeom prst="rect">
            <a:avLst/>
          </a:prstGeom>
          <a:solidFill>
            <a:srgbClr val="1B3A6B"/>
          </a:solidFill>
          <a:ln/>
        </p:spPr>
        <p:txBody>
          <a:bodyPr/>
          <a:lstStyle/>
          <a:p>
            <a:endParaRPr lang="en-US"/>
          </a:p>
        </p:txBody>
      </p:sp>
      <p:sp>
        <p:nvSpPr>
          <p:cNvPr id="34" name="Text 32"/>
          <p:cNvSpPr/>
          <p:nvPr/>
        </p:nvSpPr>
        <p:spPr>
          <a:xfrm>
            <a:off x="5221224" y="2084832"/>
            <a:ext cx="978408" cy="384048"/>
          </a:xfrm>
          <a:prstGeom prst="rect">
            <a:avLst/>
          </a:prstGeom>
          <a:noFill/>
          <a:ln/>
        </p:spPr>
        <p:txBody>
          <a:bodyPr wrap="square" lIns="0" tIns="0" rIns="0" bIns="0" rtlCol="0" anchor="ctr"/>
          <a:lstStyle/>
          <a:p>
            <a:pPr marL="0" indent="0" algn="ctr">
              <a:buNone/>
            </a:pPr>
            <a:r>
              <a:rPr lang="en-US" sz="800" b="1" dirty="0">
                <a:solidFill>
                  <a:srgbClr val="FFFFFF"/>
                </a:solidFill>
              </a:rPr>
              <a:t>Recall</a:t>
            </a:r>
            <a:endParaRPr lang="en-US" sz="800" dirty="0"/>
          </a:p>
          <a:p>
            <a:pPr marL="0" indent="0" algn="ctr">
              <a:buNone/>
            </a:pPr>
            <a:r>
              <a:rPr lang="en-US" sz="800" b="1" dirty="0">
                <a:solidFill>
                  <a:srgbClr val="FFFFFF"/>
                </a:solidFill>
              </a:rPr>
              <a:t>(Fraud)</a:t>
            </a:r>
            <a:endParaRPr lang="en-US" sz="800" dirty="0"/>
          </a:p>
        </p:txBody>
      </p:sp>
      <p:sp>
        <p:nvSpPr>
          <p:cNvPr id="35" name="Shape 33"/>
          <p:cNvSpPr/>
          <p:nvPr/>
        </p:nvSpPr>
        <p:spPr>
          <a:xfrm>
            <a:off x="6236208" y="2084832"/>
            <a:ext cx="914400" cy="384048"/>
          </a:xfrm>
          <a:prstGeom prst="rect">
            <a:avLst/>
          </a:prstGeom>
          <a:solidFill>
            <a:srgbClr val="1B3A6B"/>
          </a:solidFill>
          <a:ln/>
        </p:spPr>
        <p:txBody>
          <a:bodyPr/>
          <a:lstStyle/>
          <a:p>
            <a:endParaRPr lang="en-US"/>
          </a:p>
        </p:txBody>
      </p:sp>
      <p:sp>
        <p:nvSpPr>
          <p:cNvPr id="36" name="Text 34"/>
          <p:cNvSpPr/>
          <p:nvPr/>
        </p:nvSpPr>
        <p:spPr>
          <a:xfrm>
            <a:off x="6272784" y="2084832"/>
            <a:ext cx="841248" cy="384048"/>
          </a:xfrm>
          <a:prstGeom prst="rect">
            <a:avLst/>
          </a:prstGeom>
          <a:noFill/>
          <a:ln/>
        </p:spPr>
        <p:txBody>
          <a:bodyPr wrap="square" lIns="0" tIns="0" rIns="0" bIns="0" rtlCol="0" anchor="ctr"/>
          <a:lstStyle/>
          <a:p>
            <a:pPr marL="0" indent="0" algn="ctr">
              <a:buNone/>
            </a:pPr>
            <a:r>
              <a:rPr lang="en-US" sz="800" b="1" dirty="0">
                <a:solidFill>
                  <a:srgbClr val="FFFFFF"/>
                </a:solidFill>
              </a:rPr>
              <a:t>F1</a:t>
            </a:r>
            <a:endParaRPr lang="en-US" sz="800" dirty="0"/>
          </a:p>
          <a:p>
            <a:pPr marL="0" indent="0" algn="ctr">
              <a:buNone/>
            </a:pPr>
            <a:r>
              <a:rPr lang="en-US" sz="800" b="1" dirty="0">
                <a:solidFill>
                  <a:srgbClr val="FFFFFF"/>
                </a:solidFill>
              </a:rPr>
              <a:t>(Fraud)</a:t>
            </a:r>
            <a:endParaRPr lang="en-US" sz="800" dirty="0"/>
          </a:p>
        </p:txBody>
      </p:sp>
      <p:sp>
        <p:nvSpPr>
          <p:cNvPr id="37" name="Shape 35"/>
          <p:cNvSpPr/>
          <p:nvPr/>
        </p:nvSpPr>
        <p:spPr>
          <a:xfrm>
            <a:off x="7150608" y="2084832"/>
            <a:ext cx="2624328" cy="384048"/>
          </a:xfrm>
          <a:prstGeom prst="rect">
            <a:avLst/>
          </a:prstGeom>
          <a:solidFill>
            <a:srgbClr val="1B3A6B"/>
          </a:solidFill>
          <a:ln/>
        </p:spPr>
        <p:txBody>
          <a:bodyPr/>
          <a:lstStyle/>
          <a:p>
            <a:endParaRPr lang="en-US"/>
          </a:p>
        </p:txBody>
      </p:sp>
      <p:sp>
        <p:nvSpPr>
          <p:cNvPr id="38" name="Text 36"/>
          <p:cNvSpPr/>
          <p:nvPr/>
        </p:nvSpPr>
        <p:spPr>
          <a:xfrm>
            <a:off x="7187184" y="2084832"/>
            <a:ext cx="2551176" cy="384048"/>
          </a:xfrm>
          <a:prstGeom prst="rect">
            <a:avLst/>
          </a:prstGeom>
          <a:noFill/>
          <a:ln/>
        </p:spPr>
        <p:txBody>
          <a:bodyPr wrap="square" lIns="0" tIns="0" rIns="0" bIns="0" rtlCol="0" anchor="ctr"/>
          <a:lstStyle/>
          <a:p>
            <a:pPr marL="0" indent="0" algn="ctr">
              <a:buNone/>
            </a:pPr>
            <a:r>
              <a:rPr lang="en-US" sz="800" b="1" dirty="0">
                <a:solidFill>
                  <a:srgbClr val="FFFFFF"/>
                </a:solidFill>
              </a:rPr>
              <a:t>Notes</a:t>
            </a:r>
            <a:endParaRPr lang="en-US" sz="800" dirty="0"/>
          </a:p>
        </p:txBody>
      </p:sp>
      <p:sp>
        <p:nvSpPr>
          <p:cNvPr id="39" name="Shape 37"/>
          <p:cNvSpPr/>
          <p:nvPr/>
        </p:nvSpPr>
        <p:spPr>
          <a:xfrm>
            <a:off x="201168" y="2487168"/>
            <a:ext cx="1920240" cy="594360"/>
          </a:xfrm>
          <a:prstGeom prst="rect">
            <a:avLst/>
          </a:prstGeom>
          <a:solidFill>
            <a:srgbClr val="FFFFFF"/>
          </a:solidFill>
          <a:ln/>
        </p:spPr>
        <p:txBody>
          <a:bodyPr/>
          <a:lstStyle/>
          <a:p>
            <a:endParaRPr lang="en-US"/>
          </a:p>
        </p:txBody>
      </p:sp>
      <p:sp>
        <p:nvSpPr>
          <p:cNvPr id="40" name="Text 38"/>
          <p:cNvSpPr/>
          <p:nvPr/>
        </p:nvSpPr>
        <p:spPr>
          <a:xfrm>
            <a:off x="237744" y="2487168"/>
            <a:ext cx="1847088" cy="594360"/>
          </a:xfrm>
          <a:prstGeom prst="rect">
            <a:avLst/>
          </a:prstGeom>
          <a:noFill/>
          <a:ln/>
        </p:spPr>
        <p:txBody>
          <a:bodyPr wrap="square" lIns="0" tIns="0" rIns="0" bIns="0" rtlCol="0" anchor="ctr"/>
          <a:lstStyle/>
          <a:p>
            <a:pPr marL="0" indent="0" algn="l">
              <a:buNone/>
            </a:pPr>
            <a:r>
              <a:rPr lang="en-US" sz="800" dirty="0">
                <a:solidFill>
                  <a:srgbClr val="1E293B"/>
                </a:solidFill>
              </a:rPr>
              <a:t>Logistic Regression</a:t>
            </a:r>
            <a:endParaRPr lang="en-US" sz="800" dirty="0"/>
          </a:p>
          <a:p>
            <a:pPr marL="0" indent="0" algn="l">
              <a:buNone/>
            </a:pPr>
            <a:r>
              <a:rPr lang="en-US" sz="800" dirty="0">
                <a:solidFill>
                  <a:srgbClr val="1E293B"/>
                </a:solidFill>
              </a:rPr>
              <a:t>(Baseline)</a:t>
            </a:r>
            <a:endParaRPr lang="en-US" sz="800" dirty="0"/>
          </a:p>
        </p:txBody>
      </p:sp>
      <p:sp>
        <p:nvSpPr>
          <p:cNvPr id="41" name="Shape 39"/>
          <p:cNvSpPr/>
          <p:nvPr/>
        </p:nvSpPr>
        <p:spPr>
          <a:xfrm>
            <a:off x="2121408" y="2487168"/>
            <a:ext cx="1005840" cy="594360"/>
          </a:xfrm>
          <a:prstGeom prst="rect">
            <a:avLst/>
          </a:prstGeom>
          <a:solidFill>
            <a:srgbClr val="FFFFFF"/>
          </a:solidFill>
          <a:ln/>
        </p:spPr>
        <p:txBody>
          <a:bodyPr/>
          <a:lstStyle/>
          <a:p>
            <a:endParaRPr lang="en-US"/>
          </a:p>
        </p:txBody>
      </p:sp>
      <p:sp>
        <p:nvSpPr>
          <p:cNvPr id="42" name="Text 40"/>
          <p:cNvSpPr/>
          <p:nvPr/>
        </p:nvSpPr>
        <p:spPr>
          <a:xfrm>
            <a:off x="2157984" y="2487168"/>
            <a:ext cx="932688" cy="594360"/>
          </a:xfrm>
          <a:prstGeom prst="rect">
            <a:avLst/>
          </a:prstGeom>
          <a:noFill/>
          <a:ln/>
        </p:spPr>
        <p:txBody>
          <a:bodyPr wrap="square" lIns="0" tIns="0" rIns="0" bIns="0" rtlCol="0" anchor="ctr"/>
          <a:lstStyle/>
          <a:p>
            <a:pPr marL="0" indent="0" algn="ctr">
              <a:buNone/>
            </a:pPr>
            <a:r>
              <a:rPr lang="en-US" sz="900" dirty="0">
                <a:solidFill>
                  <a:srgbClr val="1E293B"/>
                </a:solidFill>
              </a:rPr>
              <a:t>0.8823</a:t>
            </a:r>
            <a:endParaRPr lang="en-US" sz="900" dirty="0"/>
          </a:p>
        </p:txBody>
      </p:sp>
      <p:sp>
        <p:nvSpPr>
          <p:cNvPr id="43" name="Shape 41"/>
          <p:cNvSpPr/>
          <p:nvPr/>
        </p:nvSpPr>
        <p:spPr>
          <a:xfrm>
            <a:off x="3127248" y="2487168"/>
            <a:ext cx="1005840" cy="594360"/>
          </a:xfrm>
          <a:prstGeom prst="rect">
            <a:avLst/>
          </a:prstGeom>
          <a:solidFill>
            <a:srgbClr val="FFFFFF"/>
          </a:solidFill>
          <a:ln/>
        </p:spPr>
        <p:txBody>
          <a:bodyPr/>
          <a:lstStyle/>
          <a:p>
            <a:endParaRPr lang="en-US"/>
          </a:p>
        </p:txBody>
      </p:sp>
      <p:sp>
        <p:nvSpPr>
          <p:cNvPr id="44" name="Text 42"/>
          <p:cNvSpPr/>
          <p:nvPr/>
        </p:nvSpPr>
        <p:spPr>
          <a:xfrm>
            <a:off x="3163824" y="2487168"/>
            <a:ext cx="932688" cy="594360"/>
          </a:xfrm>
          <a:prstGeom prst="rect">
            <a:avLst/>
          </a:prstGeom>
          <a:noFill/>
          <a:ln/>
        </p:spPr>
        <p:txBody>
          <a:bodyPr wrap="square" lIns="0" tIns="0" rIns="0" bIns="0" rtlCol="0" anchor="ctr"/>
          <a:lstStyle/>
          <a:p>
            <a:pPr marL="0" indent="0" algn="ctr">
              <a:buNone/>
            </a:pPr>
            <a:r>
              <a:rPr lang="en-US" sz="900" dirty="0">
                <a:solidFill>
                  <a:srgbClr val="1E293B"/>
                </a:solidFill>
              </a:rPr>
              <a:t>0.5841</a:t>
            </a:r>
            <a:endParaRPr lang="en-US" sz="900" dirty="0"/>
          </a:p>
        </p:txBody>
      </p:sp>
      <p:sp>
        <p:nvSpPr>
          <p:cNvPr id="45" name="Shape 43"/>
          <p:cNvSpPr/>
          <p:nvPr/>
        </p:nvSpPr>
        <p:spPr>
          <a:xfrm>
            <a:off x="4133088" y="2487168"/>
            <a:ext cx="1051560" cy="594360"/>
          </a:xfrm>
          <a:prstGeom prst="rect">
            <a:avLst/>
          </a:prstGeom>
          <a:solidFill>
            <a:srgbClr val="FFFFFF"/>
          </a:solidFill>
          <a:ln/>
        </p:spPr>
        <p:txBody>
          <a:bodyPr/>
          <a:lstStyle/>
          <a:p>
            <a:endParaRPr lang="en-US"/>
          </a:p>
        </p:txBody>
      </p:sp>
      <p:sp>
        <p:nvSpPr>
          <p:cNvPr id="46" name="Text 44"/>
          <p:cNvSpPr/>
          <p:nvPr/>
        </p:nvSpPr>
        <p:spPr>
          <a:xfrm>
            <a:off x="4169664" y="2487168"/>
            <a:ext cx="978408" cy="594360"/>
          </a:xfrm>
          <a:prstGeom prst="rect">
            <a:avLst/>
          </a:prstGeom>
          <a:noFill/>
          <a:ln/>
        </p:spPr>
        <p:txBody>
          <a:bodyPr wrap="square" lIns="0" tIns="0" rIns="0" bIns="0" rtlCol="0" anchor="ctr"/>
          <a:lstStyle/>
          <a:p>
            <a:pPr marL="0" indent="0" algn="ctr">
              <a:buNone/>
            </a:pPr>
            <a:r>
              <a:rPr lang="en-US" sz="900" dirty="0">
                <a:solidFill>
                  <a:srgbClr val="1E293B"/>
                </a:solidFill>
              </a:rPr>
              <a:t>0.61</a:t>
            </a:r>
            <a:endParaRPr lang="en-US" sz="900" dirty="0"/>
          </a:p>
        </p:txBody>
      </p:sp>
      <p:sp>
        <p:nvSpPr>
          <p:cNvPr id="47" name="Shape 45"/>
          <p:cNvSpPr/>
          <p:nvPr/>
        </p:nvSpPr>
        <p:spPr>
          <a:xfrm>
            <a:off x="5184648" y="2487168"/>
            <a:ext cx="1051560" cy="594360"/>
          </a:xfrm>
          <a:prstGeom prst="rect">
            <a:avLst/>
          </a:prstGeom>
          <a:solidFill>
            <a:srgbClr val="FFFFFF"/>
          </a:solidFill>
          <a:ln/>
        </p:spPr>
        <p:txBody>
          <a:bodyPr/>
          <a:lstStyle/>
          <a:p>
            <a:endParaRPr lang="en-US"/>
          </a:p>
        </p:txBody>
      </p:sp>
      <p:sp>
        <p:nvSpPr>
          <p:cNvPr id="48" name="Text 46"/>
          <p:cNvSpPr/>
          <p:nvPr/>
        </p:nvSpPr>
        <p:spPr>
          <a:xfrm>
            <a:off x="5221224" y="2487168"/>
            <a:ext cx="978408" cy="594360"/>
          </a:xfrm>
          <a:prstGeom prst="rect">
            <a:avLst/>
          </a:prstGeom>
          <a:noFill/>
          <a:ln/>
        </p:spPr>
        <p:txBody>
          <a:bodyPr wrap="square" lIns="0" tIns="0" rIns="0" bIns="0" rtlCol="0" anchor="ctr"/>
          <a:lstStyle/>
          <a:p>
            <a:pPr marL="0" indent="0" algn="ctr">
              <a:buNone/>
            </a:pPr>
            <a:r>
              <a:rPr lang="en-US" sz="900" dirty="0">
                <a:solidFill>
                  <a:srgbClr val="1E293B"/>
                </a:solidFill>
              </a:rPr>
              <a:t>0.72</a:t>
            </a:r>
            <a:endParaRPr lang="en-US" sz="900" dirty="0"/>
          </a:p>
        </p:txBody>
      </p:sp>
      <p:sp>
        <p:nvSpPr>
          <p:cNvPr id="49" name="Shape 47"/>
          <p:cNvSpPr/>
          <p:nvPr/>
        </p:nvSpPr>
        <p:spPr>
          <a:xfrm>
            <a:off x="6236208" y="2487168"/>
            <a:ext cx="914400" cy="594360"/>
          </a:xfrm>
          <a:prstGeom prst="rect">
            <a:avLst/>
          </a:prstGeom>
          <a:solidFill>
            <a:srgbClr val="FFFFFF"/>
          </a:solidFill>
          <a:ln/>
        </p:spPr>
        <p:txBody>
          <a:bodyPr/>
          <a:lstStyle/>
          <a:p>
            <a:endParaRPr lang="en-US"/>
          </a:p>
        </p:txBody>
      </p:sp>
      <p:sp>
        <p:nvSpPr>
          <p:cNvPr id="50" name="Text 48"/>
          <p:cNvSpPr/>
          <p:nvPr/>
        </p:nvSpPr>
        <p:spPr>
          <a:xfrm>
            <a:off x="6272784" y="2487168"/>
            <a:ext cx="841248" cy="594360"/>
          </a:xfrm>
          <a:prstGeom prst="rect">
            <a:avLst/>
          </a:prstGeom>
          <a:noFill/>
          <a:ln/>
        </p:spPr>
        <p:txBody>
          <a:bodyPr wrap="square" lIns="0" tIns="0" rIns="0" bIns="0" rtlCol="0" anchor="ctr"/>
          <a:lstStyle/>
          <a:p>
            <a:pPr marL="0" indent="0" algn="ctr">
              <a:buNone/>
            </a:pPr>
            <a:r>
              <a:rPr lang="en-US" sz="900" dirty="0">
                <a:solidFill>
                  <a:srgbClr val="1E293B"/>
                </a:solidFill>
              </a:rPr>
              <a:t>0.66</a:t>
            </a:r>
            <a:endParaRPr lang="en-US" sz="900" dirty="0"/>
          </a:p>
        </p:txBody>
      </p:sp>
      <p:sp>
        <p:nvSpPr>
          <p:cNvPr id="51" name="Shape 49"/>
          <p:cNvSpPr/>
          <p:nvPr/>
        </p:nvSpPr>
        <p:spPr>
          <a:xfrm>
            <a:off x="7150608" y="2487168"/>
            <a:ext cx="2624328" cy="594360"/>
          </a:xfrm>
          <a:prstGeom prst="rect">
            <a:avLst/>
          </a:prstGeom>
          <a:solidFill>
            <a:srgbClr val="FFFFFF"/>
          </a:solidFill>
          <a:ln/>
        </p:spPr>
        <p:txBody>
          <a:bodyPr/>
          <a:lstStyle/>
          <a:p>
            <a:endParaRPr lang="en-US"/>
          </a:p>
        </p:txBody>
      </p:sp>
      <p:sp>
        <p:nvSpPr>
          <p:cNvPr id="52" name="Text 50"/>
          <p:cNvSpPr/>
          <p:nvPr/>
        </p:nvSpPr>
        <p:spPr>
          <a:xfrm>
            <a:off x="7187184" y="2487168"/>
            <a:ext cx="2551176" cy="594360"/>
          </a:xfrm>
          <a:prstGeom prst="rect">
            <a:avLst/>
          </a:prstGeom>
          <a:noFill/>
          <a:ln/>
        </p:spPr>
        <p:txBody>
          <a:bodyPr wrap="square" lIns="0" tIns="0" rIns="0" bIns="0" rtlCol="0" anchor="ctr"/>
          <a:lstStyle/>
          <a:p>
            <a:pPr marL="0" indent="0" algn="ctr">
              <a:buNone/>
            </a:pPr>
            <a:r>
              <a:rPr lang="en-US" sz="900" dirty="0">
                <a:solidFill>
                  <a:srgbClr val="1E293B"/>
                </a:solidFill>
              </a:rPr>
              <a:t>Linear boundary; class_weight=balanced</a:t>
            </a:r>
            <a:endParaRPr lang="en-US" sz="900" dirty="0"/>
          </a:p>
        </p:txBody>
      </p:sp>
      <p:sp>
        <p:nvSpPr>
          <p:cNvPr id="53" name="Shape 51"/>
          <p:cNvSpPr/>
          <p:nvPr/>
        </p:nvSpPr>
        <p:spPr>
          <a:xfrm>
            <a:off x="201168" y="3081528"/>
            <a:ext cx="1920240" cy="594360"/>
          </a:xfrm>
          <a:prstGeom prst="rect">
            <a:avLst/>
          </a:prstGeom>
          <a:solidFill>
            <a:srgbClr val="F1F5F9"/>
          </a:solidFill>
          <a:ln/>
        </p:spPr>
        <p:txBody>
          <a:bodyPr/>
          <a:lstStyle/>
          <a:p>
            <a:endParaRPr lang="en-US"/>
          </a:p>
        </p:txBody>
      </p:sp>
      <p:sp>
        <p:nvSpPr>
          <p:cNvPr id="54" name="Text 52"/>
          <p:cNvSpPr/>
          <p:nvPr/>
        </p:nvSpPr>
        <p:spPr>
          <a:xfrm>
            <a:off x="237744" y="3081528"/>
            <a:ext cx="1847088" cy="594360"/>
          </a:xfrm>
          <a:prstGeom prst="rect">
            <a:avLst/>
          </a:prstGeom>
          <a:noFill/>
          <a:ln/>
        </p:spPr>
        <p:txBody>
          <a:bodyPr wrap="square" lIns="0" tIns="0" rIns="0" bIns="0" rtlCol="0" anchor="ctr"/>
          <a:lstStyle/>
          <a:p>
            <a:pPr marL="0" indent="0" algn="l">
              <a:buNone/>
            </a:pPr>
            <a:r>
              <a:rPr lang="en-US" sz="800" dirty="0">
                <a:solidFill>
                  <a:srgbClr val="1E293B"/>
                </a:solidFill>
              </a:rPr>
              <a:t>Decision Tree (d=6)</a:t>
            </a:r>
            <a:endParaRPr lang="en-US" sz="800" dirty="0"/>
          </a:p>
          <a:p>
            <a:pPr marL="0" indent="0" algn="l">
              <a:buNone/>
            </a:pPr>
            <a:r>
              <a:rPr lang="en-US" sz="800" dirty="0">
                <a:solidFill>
                  <a:srgbClr val="1E293B"/>
                </a:solidFill>
              </a:rPr>
              <a:t>(Interpretability)</a:t>
            </a:r>
            <a:endParaRPr lang="en-US" sz="800" dirty="0"/>
          </a:p>
        </p:txBody>
      </p:sp>
      <p:sp>
        <p:nvSpPr>
          <p:cNvPr id="55" name="Shape 53"/>
          <p:cNvSpPr/>
          <p:nvPr/>
        </p:nvSpPr>
        <p:spPr>
          <a:xfrm>
            <a:off x="2121408" y="3081528"/>
            <a:ext cx="1005840" cy="594360"/>
          </a:xfrm>
          <a:prstGeom prst="rect">
            <a:avLst/>
          </a:prstGeom>
          <a:solidFill>
            <a:srgbClr val="F1F5F9"/>
          </a:solidFill>
          <a:ln/>
        </p:spPr>
        <p:txBody>
          <a:bodyPr/>
          <a:lstStyle/>
          <a:p>
            <a:endParaRPr lang="en-US"/>
          </a:p>
        </p:txBody>
      </p:sp>
      <p:sp>
        <p:nvSpPr>
          <p:cNvPr id="56" name="Text 54"/>
          <p:cNvSpPr/>
          <p:nvPr/>
        </p:nvSpPr>
        <p:spPr>
          <a:xfrm>
            <a:off x="2157984" y="3081528"/>
            <a:ext cx="932688" cy="594360"/>
          </a:xfrm>
          <a:prstGeom prst="rect">
            <a:avLst/>
          </a:prstGeom>
          <a:noFill/>
          <a:ln/>
        </p:spPr>
        <p:txBody>
          <a:bodyPr wrap="square" lIns="0" tIns="0" rIns="0" bIns="0" rtlCol="0" anchor="ctr"/>
          <a:lstStyle/>
          <a:p>
            <a:pPr marL="0" indent="0" algn="ctr">
              <a:buNone/>
            </a:pPr>
            <a:r>
              <a:rPr lang="en-US" sz="900" dirty="0">
                <a:solidFill>
                  <a:srgbClr val="1E293B"/>
                </a:solidFill>
              </a:rPr>
              <a:t>0.8241</a:t>
            </a:r>
            <a:endParaRPr lang="en-US" sz="900" dirty="0"/>
          </a:p>
        </p:txBody>
      </p:sp>
      <p:sp>
        <p:nvSpPr>
          <p:cNvPr id="57" name="Shape 55"/>
          <p:cNvSpPr/>
          <p:nvPr/>
        </p:nvSpPr>
        <p:spPr>
          <a:xfrm>
            <a:off x="3127248" y="3081528"/>
            <a:ext cx="1005840" cy="594360"/>
          </a:xfrm>
          <a:prstGeom prst="rect">
            <a:avLst/>
          </a:prstGeom>
          <a:solidFill>
            <a:srgbClr val="F1F5F9"/>
          </a:solidFill>
          <a:ln/>
        </p:spPr>
        <p:txBody>
          <a:bodyPr/>
          <a:lstStyle/>
          <a:p>
            <a:endParaRPr lang="en-US"/>
          </a:p>
        </p:txBody>
      </p:sp>
      <p:sp>
        <p:nvSpPr>
          <p:cNvPr id="58" name="Text 56"/>
          <p:cNvSpPr/>
          <p:nvPr/>
        </p:nvSpPr>
        <p:spPr>
          <a:xfrm>
            <a:off x="3163824" y="3081528"/>
            <a:ext cx="932688" cy="594360"/>
          </a:xfrm>
          <a:prstGeom prst="rect">
            <a:avLst/>
          </a:prstGeom>
          <a:noFill/>
          <a:ln/>
        </p:spPr>
        <p:txBody>
          <a:bodyPr wrap="square" lIns="0" tIns="0" rIns="0" bIns="0" rtlCol="0" anchor="ctr"/>
          <a:lstStyle/>
          <a:p>
            <a:pPr marL="0" indent="0" algn="ctr">
              <a:buNone/>
            </a:pPr>
            <a:r>
              <a:rPr lang="en-US" sz="900" dirty="0">
                <a:solidFill>
                  <a:srgbClr val="1E293B"/>
                </a:solidFill>
              </a:rPr>
              <a:t>0.4912</a:t>
            </a:r>
            <a:endParaRPr lang="en-US" sz="900" dirty="0"/>
          </a:p>
        </p:txBody>
      </p:sp>
      <p:sp>
        <p:nvSpPr>
          <p:cNvPr id="59" name="Shape 57"/>
          <p:cNvSpPr/>
          <p:nvPr/>
        </p:nvSpPr>
        <p:spPr>
          <a:xfrm>
            <a:off x="4133088" y="3081528"/>
            <a:ext cx="1051560" cy="594360"/>
          </a:xfrm>
          <a:prstGeom prst="rect">
            <a:avLst/>
          </a:prstGeom>
          <a:solidFill>
            <a:srgbClr val="F1F5F9"/>
          </a:solidFill>
          <a:ln/>
        </p:spPr>
        <p:txBody>
          <a:bodyPr/>
          <a:lstStyle/>
          <a:p>
            <a:endParaRPr lang="en-US"/>
          </a:p>
        </p:txBody>
      </p:sp>
      <p:sp>
        <p:nvSpPr>
          <p:cNvPr id="60" name="Text 58"/>
          <p:cNvSpPr/>
          <p:nvPr/>
        </p:nvSpPr>
        <p:spPr>
          <a:xfrm>
            <a:off x="4169664" y="3081528"/>
            <a:ext cx="978408" cy="594360"/>
          </a:xfrm>
          <a:prstGeom prst="rect">
            <a:avLst/>
          </a:prstGeom>
          <a:noFill/>
          <a:ln/>
        </p:spPr>
        <p:txBody>
          <a:bodyPr wrap="square" lIns="0" tIns="0" rIns="0" bIns="0" rtlCol="0" anchor="ctr"/>
          <a:lstStyle/>
          <a:p>
            <a:pPr marL="0" indent="0" algn="ctr">
              <a:buNone/>
            </a:pPr>
            <a:r>
              <a:rPr lang="en-US" sz="900" dirty="0">
                <a:solidFill>
                  <a:srgbClr val="1E293B"/>
                </a:solidFill>
              </a:rPr>
              <a:t>0.55</a:t>
            </a:r>
            <a:endParaRPr lang="en-US" sz="900" dirty="0"/>
          </a:p>
        </p:txBody>
      </p:sp>
      <p:sp>
        <p:nvSpPr>
          <p:cNvPr id="61" name="Shape 59"/>
          <p:cNvSpPr/>
          <p:nvPr/>
        </p:nvSpPr>
        <p:spPr>
          <a:xfrm>
            <a:off x="5184648" y="3081528"/>
            <a:ext cx="1051560" cy="594360"/>
          </a:xfrm>
          <a:prstGeom prst="rect">
            <a:avLst/>
          </a:prstGeom>
          <a:solidFill>
            <a:srgbClr val="F1F5F9"/>
          </a:solidFill>
          <a:ln/>
        </p:spPr>
        <p:txBody>
          <a:bodyPr/>
          <a:lstStyle/>
          <a:p>
            <a:endParaRPr lang="en-US"/>
          </a:p>
        </p:txBody>
      </p:sp>
      <p:sp>
        <p:nvSpPr>
          <p:cNvPr id="62" name="Text 60"/>
          <p:cNvSpPr/>
          <p:nvPr/>
        </p:nvSpPr>
        <p:spPr>
          <a:xfrm>
            <a:off x="5221224" y="3081528"/>
            <a:ext cx="978408" cy="594360"/>
          </a:xfrm>
          <a:prstGeom prst="rect">
            <a:avLst/>
          </a:prstGeom>
          <a:noFill/>
          <a:ln/>
        </p:spPr>
        <p:txBody>
          <a:bodyPr wrap="square" lIns="0" tIns="0" rIns="0" bIns="0" rtlCol="0" anchor="ctr"/>
          <a:lstStyle/>
          <a:p>
            <a:pPr marL="0" indent="0" algn="ctr">
              <a:buNone/>
            </a:pPr>
            <a:r>
              <a:rPr lang="en-US" sz="900" dirty="0">
                <a:solidFill>
                  <a:srgbClr val="1E293B"/>
                </a:solidFill>
              </a:rPr>
              <a:t>0.68</a:t>
            </a:r>
            <a:endParaRPr lang="en-US" sz="900" dirty="0"/>
          </a:p>
        </p:txBody>
      </p:sp>
      <p:sp>
        <p:nvSpPr>
          <p:cNvPr id="63" name="Shape 61"/>
          <p:cNvSpPr/>
          <p:nvPr/>
        </p:nvSpPr>
        <p:spPr>
          <a:xfrm>
            <a:off x="6236208" y="3081528"/>
            <a:ext cx="914400" cy="594360"/>
          </a:xfrm>
          <a:prstGeom prst="rect">
            <a:avLst/>
          </a:prstGeom>
          <a:solidFill>
            <a:srgbClr val="F1F5F9"/>
          </a:solidFill>
          <a:ln/>
        </p:spPr>
        <p:txBody>
          <a:bodyPr/>
          <a:lstStyle/>
          <a:p>
            <a:endParaRPr lang="en-US"/>
          </a:p>
        </p:txBody>
      </p:sp>
      <p:sp>
        <p:nvSpPr>
          <p:cNvPr id="64" name="Text 62"/>
          <p:cNvSpPr/>
          <p:nvPr/>
        </p:nvSpPr>
        <p:spPr>
          <a:xfrm>
            <a:off x="6272784" y="3081528"/>
            <a:ext cx="841248" cy="594360"/>
          </a:xfrm>
          <a:prstGeom prst="rect">
            <a:avLst/>
          </a:prstGeom>
          <a:noFill/>
          <a:ln/>
        </p:spPr>
        <p:txBody>
          <a:bodyPr wrap="square" lIns="0" tIns="0" rIns="0" bIns="0" rtlCol="0" anchor="ctr"/>
          <a:lstStyle/>
          <a:p>
            <a:pPr marL="0" indent="0" algn="ctr">
              <a:buNone/>
            </a:pPr>
            <a:r>
              <a:rPr lang="en-US" sz="900" dirty="0">
                <a:solidFill>
                  <a:srgbClr val="1E293B"/>
                </a:solidFill>
              </a:rPr>
              <a:t>0.61</a:t>
            </a:r>
            <a:endParaRPr lang="en-US" sz="900" dirty="0"/>
          </a:p>
        </p:txBody>
      </p:sp>
      <p:sp>
        <p:nvSpPr>
          <p:cNvPr id="65" name="Shape 63"/>
          <p:cNvSpPr/>
          <p:nvPr/>
        </p:nvSpPr>
        <p:spPr>
          <a:xfrm>
            <a:off x="7150608" y="3081528"/>
            <a:ext cx="2624328" cy="594360"/>
          </a:xfrm>
          <a:prstGeom prst="rect">
            <a:avLst/>
          </a:prstGeom>
          <a:solidFill>
            <a:srgbClr val="F1F5F9"/>
          </a:solidFill>
          <a:ln/>
        </p:spPr>
        <p:txBody>
          <a:bodyPr/>
          <a:lstStyle/>
          <a:p>
            <a:endParaRPr lang="en-US"/>
          </a:p>
        </p:txBody>
      </p:sp>
      <p:sp>
        <p:nvSpPr>
          <p:cNvPr id="66" name="Text 64"/>
          <p:cNvSpPr/>
          <p:nvPr/>
        </p:nvSpPr>
        <p:spPr>
          <a:xfrm>
            <a:off x="7187184" y="3081528"/>
            <a:ext cx="2551176" cy="594360"/>
          </a:xfrm>
          <a:prstGeom prst="rect">
            <a:avLst/>
          </a:prstGeom>
          <a:noFill/>
          <a:ln/>
        </p:spPr>
        <p:txBody>
          <a:bodyPr wrap="square" lIns="0" tIns="0" rIns="0" bIns="0" rtlCol="0" anchor="ctr"/>
          <a:lstStyle/>
          <a:p>
            <a:pPr marL="0" indent="0" algn="ctr">
              <a:buNone/>
            </a:pPr>
            <a:r>
              <a:rPr lang="en-US" sz="900" dirty="0">
                <a:solidFill>
                  <a:srgbClr val="1E293B"/>
                </a:solidFill>
              </a:rPr>
              <a:t>Shallow tree; human-readable rules</a:t>
            </a:r>
            <a:endParaRPr lang="en-US" sz="900" dirty="0"/>
          </a:p>
        </p:txBody>
      </p:sp>
      <p:sp>
        <p:nvSpPr>
          <p:cNvPr id="67" name="Shape 65"/>
          <p:cNvSpPr/>
          <p:nvPr/>
        </p:nvSpPr>
        <p:spPr>
          <a:xfrm>
            <a:off x="201168" y="3675888"/>
            <a:ext cx="1920240" cy="594360"/>
          </a:xfrm>
          <a:prstGeom prst="rect">
            <a:avLst/>
          </a:prstGeom>
          <a:solidFill>
            <a:srgbClr val="FFFFFF"/>
          </a:solidFill>
          <a:ln/>
        </p:spPr>
        <p:txBody>
          <a:bodyPr/>
          <a:lstStyle/>
          <a:p>
            <a:endParaRPr lang="en-US"/>
          </a:p>
        </p:txBody>
      </p:sp>
      <p:sp>
        <p:nvSpPr>
          <p:cNvPr id="68" name="Text 66"/>
          <p:cNvSpPr/>
          <p:nvPr/>
        </p:nvSpPr>
        <p:spPr>
          <a:xfrm>
            <a:off x="237744" y="3675888"/>
            <a:ext cx="1847088" cy="594360"/>
          </a:xfrm>
          <a:prstGeom prst="rect">
            <a:avLst/>
          </a:prstGeom>
          <a:noFill/>
          <a:ln/>
        </p:spPr>
        <p:txBody>
          <a:bodyPr wrap="square" lIns="0" tIns="0" rIns="0" bIns="0" rtlCol="0" anchor="ctr"/>
          <a:lstStyle/>
          <a:p>
            <a:pPr marL="0" indent="0" algn="l">
              <a:buNone/>
            </a:pPr>
            <a:r>
              <a:rPr lang="en-US" sz="800" dirty="0">
                <a:solidFill>
                  <a:srgbClr val="1E293B"/>
                </a:solidFill>
              </a:rPr>
              <a:t>Random Forest</a:t>
            </a:r>
            <a:endParaRPr lang="en-US" sz="800" dirty="0"/>
          </a:p>
          <a:p>
            <a:pPr marL="0" indent="0" algn="l">
              <a:buNone/>
            </a:pPr>
            <a:r>
              <a:rPr lang="en-US" sz="800" dirty="0">
                <a:solidFill>
                  <a:srgbClr val="1E293B"/>
                </a:solidFill>
              </a:rPr>
              <a:t>(Tuned)</a:t>
            </a:r>
            <a:endParaRPr lang="en-US" sz="800" dirty="0"/>
          </a:p>
        </p:txBody>
      </p:sp>
      <p:sp>
        <p:nvSpPr>
          <p:cNvPr id="69" name="Shape 67"/>
          <p:cNvSpPr/>
          <p:nvPr/>
        </p:nvSpPr>
        <p:spPr>
          <a:xfrm>
            <a:off x="2121408" y="3675888"/>
            <a:ext cx="1005840" cy="594360"/>
          </a:xfrm>
          <a:prstGeom prst="rect">
            <a:avLst/>
          </a:prstGeom>
          <a:solidFill>
            <a:srgbClr val="FFFFFF"/>
          </a:solidFill>
          <a:ln/>
        </p:spPr>
        <p:txBody>
          <a:bodyPr/>
          <a:lstStyle/>
          <a:p>
            <a:endParaRPr lang="en-US"/>
          </a:p>
        </p:txBody>
      </p:sp>
      <p:sp>
        <p:nvSpPr>
          <p:cNvPr id="70" name="Text 68"/>
          <p:cNvSpPr/>
          <p:nvPr/>
        </p:nvSpPr>
        <p:spPr>
          <a:xfrm>
            <a:off x="2157984" y="3675888"/>
            <a:ext cx="932688" cy="594360"/>
          </a:xfrm>
          <a:prstGeom prst="rect">
            <a:avLst/>
          </a:prstGeom>
          <a:noFill/>
          <a:ln/>
        </p:spPr>
        <p:txBody>
          <a:bodyPr wrap="square" lIns="0" tIns="0" rIns="0" bIns="0" rtlCol="0" anchor="ctr"/>
          <a:lstStyle/>
          <a:p>
            <a:pPr marL="0" indent="0" algn="ctr">
              <a:buNone/>
            </a:pPr>
            <a:r>
              <a:rPr lang="en-US" sz="900" dirty="0">
                <a:solidFill>
                  <a:srgbClr val="1E293B"/>
                </a:solidFill>
              </a:rPr>
              <a:t>0.9187</a:t>
            </a:r>
            <a:endParaRPr lang="en-US" sz="900" dirty="0"/>
          </a:p>
        </p:txBody>
      </p:sp>
      <p:sp>
        <p:nvSpPr>
          <p:cNvPr id="71" name="Shape 69"/>
          <p:cNvSpPr/>
          <p:nvPr/>
        </p:nvSpPr>
        <p:spPr>
          <a:xfrm>
            <a:off x="3127248" y="3675888"/>
            <a:ext cx="1005840" cy="594360"/>
          </a:xfrm>
          <a:prstGeom prst="rect">
            <a:avLst/>
          </a:prstGeom>
          <a:solidFill>
            <a:srgbClr val="FFFFFF"/>
          </a:solidFill>
          <a:ln/>
        </p:spPr>
        <p:txBody>
          <a:bodyPr/>
          <a:lstStyle/>
          <a:p>
            <a:endParaRPr lang="en-US"/>
          </a:p>
        </p:txBody>
      </p:sp>
      <p:sp>
        <p:nvSpPr>
          <p:cNvPr id="72" name="Text 70"/>
          <p:cNvSpPr/>
          <p:nvPr/>
        </p:nvSpPr>
        <p:spPr>
          <a:xfrm>
            <a:off x="3163824" y="3675888"/>
            <a:ext cx="932688" cy="594360"/>
          </a:xfrm>
          <a:prstGeom prst="rect">
            <a:avLst/>
          </a:prstGeom>
          <a:noFill/>
          <a:ln/>
        </p:spPr>
        <p:txBody>
          <a:bodyPr wrap="square" lIns="0" tIns="0" rIns="0" bIns="0" rtlCol="0" anchor="ctr"/>
          <a:lstStyle/>
          <a:p>
            <a:pPr marL="0" indent="0" algn="ctr">
              <a:buNone/>
            </a:pPr>
            <a:r>
              <a:rPr lang="en-US" sz="900" dirty="0">
                <a:solidFill>
                  <a:srgbClr val="1E293B"/>
                </a:solidFill>
              </a:rPr>
              <a:t>0.6893</a:t>
            </a:r>
            <a:endParaRPr lang="en-US" sz="900" dirty="0"/>
          </a:p>
        </p:txBody>
      </p:sp>
      <p:sp>
        <p:nvSpPr>
          <p:cNvPr id="73" name="Shape 71"/>
          <p:cNvSpPr/>
          <p:nvPr/>
        </p:nvSpPr>
        <p:spPr>
          <a:xfrm>
            <a:off x="4133088" y="3675888"/>
            <a:ext cx="1051560" cy="594360"/>
          </a:xfrm>
          <a:prstGeom prst="rect">
            <a:avLst/>
          </a:prstGeom>
          <a:solidFill>
            <a:srgbClr val="FFFFFF"/>
          </a:solidFill>
          <a:ln/>
        </p:spPr>
        <p:txBody>
          <a:bodyPr/>
          <a:lstStyle/>
          <a:p>
            <a:endParaRPr lang="en-US"/>
          </a:p>
        </p:txBody>
      </p:sp>
      <p:sp>
        <p:nvSpPr>
          <p:cNvPr id="74" name="Text 72"/>
          <p:cNvSpPr/>
          <p:nvPr/>
        </p:nvSpPr>
        <p:spPr>
          <a:xfrm>
            <a:off x="4169664" y="3675888"/>
            <a:ext cx="978408" cy="594360"/>
          </a:xfrm>
          <a:prstGeom prst="rect">
            <a:avLst/>
          </a:prstGeom>
          <a:noFill/>
          <a:ln/>
        </p:spPr>
        <p:txBody>
          <a:bodyPr wrap="square" lIns="0" tIns="0" rIns="0" bIns="0" rtlCol="0" anchor="ctr"/>
          <a:lstStyle/>
          <a:p>
            <a:pPr marL="0" indent="0" algn="ctr">
              <a:buNone/>
            </a:pPr>
            <a:r>
              <a:rPr lang="en-US" sz="900" dirty="0">
                <a:solidFill>
                  <a:srgbClr val="1E293B"/>
                </a:solidFill>
              </a:rPr>
              <a:t>0.71</a:t>
            </a:r>
            <a:endParaRPr lang="en-US" sz="900" dirty="0"/>
          </a:p>
        </p:txBody>
      </p:sp>
      <p:sp>
        <p:nvSpPr>
          <p:cNvPr id="75" name="Shape 73"/>
          <p:cNvSpPr/>
          <p:nvPr/>
        </p:nvSpPr>
        <p:spPr>
          <a:xfrm>
            <a:off x="5184648" y="3675888"/>
            <a:ext cx="1051560" cy="594360"/>
          </a:xfrm>
          <a:prstGeom prst="rect">
            <a:avLst/>
          </a:prstGeom>
          <a:solidFill>
            <a:srgbClr val="FFFFFF"/>
          </a:solidFill>
          <a:ln/>
        </p:spPr>
        <p:txBody>
          <a:bodyPr/>
          <a:lstStyle/>
          <a:p>
            <a:endParaRPr lang="en-US"/>
          </a:p>
        </p:txBody>
      </p:sp>
      <p:sp>
        <p:nvSpPr>
          <p:cNvPr id="76" name="Text 74"/>
          <p:cNvSpPr/>
          <p:nvPr/>
        </p:nvSpPr>
        <p:spPr>
          <a:xfrm>
            <a:off x="5221224" y="3675888"/>
            <a:ext cx="978408" cy="594360"/>
          </a:xfrm>
          <a:prstGeom prst="rect">
            <a:avLst/>
          </a:prstGeom>
          <a:noFill/>
          <a:ln/>
        </p:spPr>
        <p:txBody>
          <a:bodyPr wrap="square" lIns="0" tIns="0" rIns="0" bIns="0" rtlCol="0" anchor="ctr"/>
          <a:lstStyle/>
          <a:p>
            <a:pPr marL="0" indent="0" algn="ctr">
              <a:buNone/>
            </a:pPr>
            <a:r>
              <a:rPr lang="en-US" sz="900" dirty="0">
                <a:solidFill>
                  <a:srgbClr val="1E293B"/>
                </a:solidFill>
              </a:rPr>
              <a:t>0.76</a:t>
            </a:r>
            <a:endParaRPr lang="en-US" sz="900" dirty="0"/>
          </a:p>
        </p:txBody>
      </p:sp>
      <p:sp>
        <p:nvSpPr>
          <p:cNvPr id="77" name="Shape 75"/>
          <p:cNvSpPr/>
          <p:nvPr/>
        </p:nvSpPr>
        <p:spPr>
          <a:xfrm>
            <a:off x="6236208" y="3675888"/>
            <a:ext cx="914400" cy="594360"/>
          </a:xfrm>
          <a:prstGeom prst="rect">
            <a:avLst/>
          </a:prstGeom>
          <a:solidFill>
            <a:srgbClr val="FFFFFF"/>
          </a:solidFill>
          <a:ln/>
        </p:spPr>
        <p:txBody>
          <a:bodyPr/>
          <a:lstStyle/>
          <a:p>
            <a:endParaRPr lang="en-US"/>
          </a:p>
        </p:txBody>
      </p:sp>
      <p:sp>
        <p:nvSpPr>
          <p:cNvPr id="78" name="Text 76"/>
          <p:cNvSpPr/>
          <p:nvPr/>
        </p:nvSpPr>
        <p:spPr>
          <a:xfrm>
            <a:off x="6272784" y="3675888"/>
            <a:ext cx="841248" cy="594360"/>
          </a:xfrm>
          <a:prstGeom prst="rect">
            <a:avLst/>
          </a:prstGeom>
          <a:noFill/>
          <a:ln/>
        </p:spPr>
        <p:txBody>
          <a:bodyPr wrap="square" lIns="0" tIns="0" rIns="0" bIns="0" rtlCol="0" anchor="ctr"/>
          <a:lstStyle/>
          <a:p>
            <a:pPr marL="0" indent="0" algn="ctr">
              <a:buNone/>
            </a:pPr>
            <a:r>
              <a:rPr lang="en-US" sz="900" dirty="0">
                <a:solidFill>
                  <a:srgbClr val="1E293B"/>
                </a:solidFill>
              </a:rPr>
              <a:t>0.73</a:t>
            </a:r>
            <a:endParaRPr lang="en-US" sz="900" dirty="0"/>
          </a:p>
        </p:txBody>
      </p:sp>
      <p:sp>
        <p:nvSpPr>
          <p:cNvPr id="79" name="Shape 77"/>
          <p:cNvSpPr/>
          <p:nvPr/>
        </p:nvSpPr>
        <p:spPr>
          <a:xfrm>
            <a:off x="7150608" y="3675888"/>
            <a:ext cx="2624328" cy="594360"/>
          </a:xfrm>
          <a:prstGeom prst="rect">
            <a:avLst/>
          </a:prstGeom>
          <a:solidFill>
            <a:srgbClr val="FFFFFF"/>
          </a:solidFill>
          <a:ln/>
        </p:spPr>
        <p:txBody>
          <a:bodyPr/>
          <a:lstStyle/>
          <a:p>
            <a:endParaRPr lang="en-US"/>
          </a:p>
        </p:txBody>
      </p:sp>
      <p:sp>
        <p:nvSpPr>
          <p:cNvPr id="80" name="Text 78"/>
          <p:cNvSpPr/>
          <p:nvPr/>
        </p:nvSpPr>
        <p:spPr>
          <a:xfrm>
            <a:off x="7187184" y="3675888"/>
            <a:ext cx="2551176" cy="594360"/>
          </a:xfrm>
          <a:prstGeom prst="rect">
            <a:avLst/>
          </a:prstGeom>
          <a:noFill/>
          <a:ln/>
        </p:spPr>
        <p:txBody>
          <a:bodyPr wrap="square" lIns="0" tIns="0" rIns="0" bIns="0" rtlCol="0" anchor="ctr"/>
          <a:lstStyle/>
          <a:p>
            <a:pPr marL="0" indent="0" algn="ctr">
              <a:buNone/>
            </a:pPr>
            <a:r>
              <a:rPr lang="en-US" sz="900" dirty="0">
                <a:solidFill>
                  <a:srgbClr val="1E293B"/>
                </a:solidFill>
              </a:rPr>
              <a:t>300 trees; RandomizedSearchCV tuned</a:t>
            </a:r>
            <a:endParaRPr lang="en-US" sz="900" dirty="0"/>
          </a:p>
        </p:txBody>
      </p:sp>
      <p:sp>
        <p:nvSpPr>
          <p:cNvPr id="81" name="Shape 79"/>
          <p:cNvSpPr/>
          <p:nvPr/>
        </p:nvSpPr>
        <p:spPr>
          <a:xfrm>
            <a:off x="201168" y="4270248"/>
            <a:ext cx="1920240" cy="594360"/>
          </a:xfrm>
          <a:prstGeom prst="rect">
            <a:avLst/>
          </a:prstGeom>
          <a:solidFill>
            <a:srgbClr val="EFF6FF"/>
          </a:solidFill>
          <a:ln/>
        </p:spPr>
        <p:txBody>
          <a:bodyPr/>
          <a:lstStyle/>
          <a:p>
            <a:endParaRPr lang="en-US"/>
          </a:p>
        </p:txBody>
      </p:sp>
      <p:sp>
        <p:nvSpPr>
          <p:cNvPr id="82" name="Text 80"/>
          <p:cNvSpPr/>
          <p:nvPr/>
        </p:nvSpPr>
        <p:spPr>
          <a:xfrm>
            <a:off x="237744" y="4270248"/>
            <a:ext cx="1847088" cy="594360"/>
          </a:xfrm>
          <a:prstGeom prst="rect">
            <a:avLst/>
          </a:prstGeom>
          <a:noFill/>
          <a:ln/>
        </p:spPr>
        <p:txBody>
          <a:bodyPr wrap="square" lIns="0" tIns="0" rIns="0" bIns="0" rtlCol="0" anchor="ctr"/>
          <a:lstStyle/>
          <a:p>
            <a:pPr marL="0" indent="0" algn="l">
              <a:buNone/>
            </a:pPr>
            <a:r>
              <a:rPr lang="en-US" sz="800" b="1" dirty="0">
                <a:solidFill>
                  <a:srgbClr val="1E293B"/>
                </a:solidFill>
              </a:rPr>
              <a:t>XGBoost (Tuned) ★</a:t>
            </a:r>
            <a:endParaRPr lang="en-US" sz="800" dirty="0"/>
          </a:p>
          <a:p>
            <a:pPr marL="0" indent="0" algn="l">
              <a:buNone/>
            </a:pPr>
            <a:r>
              <a:rPr lang="en-US" sz="800" b="1" dirty="0">
                <a:solidFill>
                  <a:srgbClr val="1E293B"/>
                </a:solidFill>
              </a:rPr>
              <a:t>CHAMPION</a:t>
            </a:r>
            <a:endParaRPr lang="en-US" sz="800" dirty="0"/>
          </a:p>
        </p:txBody>
      </p:sp>
      <p:sp>
        <p:nvSpPr>
          <p:cNvPr id="83" name="Shape 81"/>
          <p:cNvSpPr/>
          <p:nvPr/>
        </p:nvSpPr>
        <p:spPr>
          <a:xfrm>
            <a:off x="2121408" y="4270248"/>
            <a:ext cx="1005840" cy="594360"/>
          </a:xfrm>
          <a:prstGeom prst="rect">
            <a:avLst/>
          </a:prstGeom>
          <a:solidFill>
            <a:srgbClr val="EFF6FF"/>
          </a:solidFill>
          <a:ln/>
        </p:spPr>
        <p:txBody>
          <a:bodyPr/>
          <a:lstStyle/>
          <a:p>
            <a:endParaRPr lang="en-US"/>
          </a:p>
        </p:txBody>
      </p:sp>
      <p:sp>
        <p:nvSpPr>
          <p:cNvPr id="84" name="Text 82"/>
          <p:cNvSpPr/>
          <p:nvPr/>
        </p:nvSpPr>
        <p:spPr>
          <a:xfrm>
            <a:off x="2157984" y="4270248"/>
            <a:ext cx="932688" cy="594360"/>
          </a:xfrm>
          <a:prstGeom prst="rect">
            <a:avLst/>
          </a:prstGeom>
          <a:noFill/>
          <a:ln/>
        </p:spPr>
        <p:txBody>
          <a:bodyPr wrap="square" lIns="0" tIns="0" rIns="0" bIns="0" rtlCol="0" anchor="ctr"/>
          <a:lstStyle/>
          <a:p>
            <a:pPr marL="0" indent="0" algn="ctr">
              <a:buNone/>
            </a:pPr>
            <a:r>
              <a:rPr lang="en-US" sz="900" b="1" dirty="0">
                <a:solidFill>
                  <a:srgbClr val="059669"/>
                </a:solidFill>
              </a:rPr>
              <a:t>0.9412</a:t>
            </a:r>
            <a:endParaRPr lang="en-US" sz="900" dirty="0"/>
          </a:p>
        </p:txBody>
      </p:sp>
      <p:sp>
        <p:nvSpPr>
          <p:cNvPr id="85" name="Shape 83"/>
          <p:cNvSpPr/>
          <p:nvPr/>
        </p:nvSpPr>
        <p:spPr>
          <a:xfrm>
            <a:off x="3127248" y="4270248"/>
            <a:ext cx="1005840" cy="594360"/>
          </a:xfrm>
          <a:prstGeom prst="rect">
            <a:avLst/>
          </a:prstGeom>
          <a:solidFill>
            <a:srgbClr val="EFF6FF"/>
          </a:solidFill>
          <a:ln/>
        </p:spPr>
        <p:txBody>
          <a:bodyPr/>
          <a:lstStyle/>
          <a:p>
            <a:endParaRPr lang="en-US"/>
          </a:p>
        </p:txBody>
      </p:sp>
      <p:sp>
        <p:nvSpPr>
          <p:cNvPr id="86" name="Text 84"/>
          <p:cNvSpPr/>
          <p:nvPr/>
        </p:nvSpPr>
        <p:spPr>
          <a:xfrm>
            <a:off x="3163824" y="4270248"/>
            <a:ext cx="932688" cy="594360"/>
          </a:xfrm>
          <a:prstGeom prst="rect">
            <a:avLst/>
          </a:prstGeom>
          <a:noFill/>
          <a:ln/>
        </p:spPr>
        <p:txBody>
          <a:bodyPr wrap="square" lIns="0" tIns="0" rIns="0" bIns="0" rtlCol="0" anchor="ctr"/>
          <a:lstStyle/>
          <a:p>
            <a:pPr marL="0" indent="0" algn="ctr">
              <a:buNone/>
            </a:pPr>
            <a:r>
              <a:rPr lang="en-US" sz="900" b="1" dirty="0">
                <a:solidFill>
                  <a:srgbClr val="059669"/>
                </a:solidFill>
              </a:rPr>
              <a:t>0.7318</a:t>
            </a:r>
            <a:endParaRPr lang="en-US" sz="900" dirty="0"/>
          </a:p>
        </p:txBody>
      </p:sp>
      <p:sp>
        <p:nvSpPr>
          <p:cNvPr id="87" name="Shape 85"/>
          <p:cNvSpPr/>
          <p:nvPr/>
        </p:nvSpPr>
        <p:spPr>
          <a:xfrm>
            <a:off x="4133088" y="4270248"/>
            <a:ext cx="1051560" cy="594360"/>
          </a:xfrm>
          <a:prstGeom prst="rect">
            <a:avLst/>
          </a:prstGeom>
          <a:solidFill>
            <a:srgbClr val="EFF6FF"/>
          </a:solidFill>
          <a:ln/>
        </p:spPr>
        <p:txBody>
          <a:bodyPr/>
          <a:lstStyle/>
          <a:p>
            <a:endParaRPr lang="en-US"/>
          </a:p>
        </p:txBody>
      </p:sp>
      <p:sp>
        <p:nvSpPr>
          <p:cNvPr id="88" name="Text 86"/>
          <p:cNvSpPr/>
          <p:nvPr/>
        </p:nvSpPr>
        <p:spPr>
          <a:xfrm>
            <a:off x="4169664" y="4270248"/>
            <a:ext cx="978408" cy="594360"/>
          </a:xfrm>
          <a:prstGeom prst="rect">
            <a:avLst/>
          </a:prstGeom>
          <a:noFill/>
          <a:ln/>
        </p:spPr>
        <p:txBody>
          <a:bodyPr wrap="square" lIns="0" tIns="0" rIns="0" bIns="0" rtlCol="0" anchor="ctr"/>
          <a:lstStyle/>
          <a:p>
            <a:pPr marL="0" indent="0" algn="ctr">
              <a:buNone/>
            </a:pPr>
            <a:r>
              <a:rPr lang="en-US" sz="900" b="1" dirty="0">
                <a:solidFill>
                  <a:srgbClr val="059669"/>
                </a:solidFill>
              </a:rPr>
              <a:t>0.76</a:t>
            </a:r>
            <a:endParaRPr lang="en-US" sz="900" dirty="0"/>
          </a:p>
        </p:txBody>
      </p:sp>
      <p:sp>
        <p:nvSpPr>
          <p:cNvPr id="89" name="Shape 87"/>
          <p:cNvSpPr/>
          <p:nvPr/>
        </p:nvSpPr>
        <p:spPr>
          <a:xfrm>
            <a:off x="5184648" y="4270248"/>
            <a:ext cx="1051560" cy="594360"/>
          </a:xfrm>
          <a:prstGeom prst="rect">
            <a:avLst/>
          </a:prstGeom>
          <a:solidFill>
            <a:srgbClr val="EFF6FF"/>
          </a:solidFill>
          <a:ln/>
        </p:spPr>
        <p:txBody>
          <a:bodyPr/>
          <a:lstStyle/>
          <a:p>
            <a:endParaRPr lang="en-US"/>
          </a:p>
        </p:txBody>
      </p:sp>
      <p:sp>
        <p:nvSpPr>
          <p:cNvPr id="90" name="Text 88"/>
          <p:cNvSpPr/>
          <p:nvPr/>
        </p:nvSpPr>
        <p:spPr>
          <a:xfrm>
            <a:off x="5221224" y="4270248"/>
            <a:ext cx="978408" cy="594360"/>
          </a:xfrm>
          <a:prstGeom prst="rect">
            <a:avLst/>
          </a:prstGeom>
          <a:noFill/>
          <a:ln/>
        </p:spPr>
        <p:txBody>
          <a:bodyPr wrap="square" lIns="0" tIns="0" rIns="0" bIns="0" rtlCol="0" anchor="ctr"/>
          <a:lstStyle/>
          <a:p>
            <a:pPr marL="0" indent="0" algn="ctr">
              <a:buNone/>
            </a:pPr>
            <a:r>
              <a:rPr lang="en-US" sz="900" b="1" dirty="0">
                <a:solidFill>
                  <a:srgbClr val="059669"/>
                </a:solidFill>
              </a:rPr>
              <a:t>0.79</a:t>
            </a:r>
            <a:endParaRPr lang="en-US" sz="900" dirty="0"/>
          </a:p>
        </p:txBody>
      </p:sp>
      <p:sp>
        <p:nvSpPr>
          <p:cNvPr id="91" name="Shape 89"/>
          <p:cNvSpPr/>
          <p:nvPr/>
        </p:nvSpPr>
        <p:spPr>
          <a:xfrm>
            <a:off x="6236208" y="4270248"/>
            <a:ext cx="914400" cy="594360"/>
          </a:xfrm>
          <a:prstGeom prst="rect">
            <a:avLst/>
          </a:prstGeom>
          <a:solidFill>
            <a:srgbClr val="EFF6FF"/>
          </a:solidFill>
          <a:ln/>
        </p:spPr>
        <p:txBody>
          <a:bodyPr/>
          <a:lstStyle/>
          <a:p>
            <a:endParaRPr lang="en-US"/>
          </a:p>
        </p:txBody>
      </p:sp>
      <p:sp>
        <p:nvSpPr>
          <p:cNvPr id="92" name="Text 90"/>
          <p:cNvSpPr/>
          <p:nvPr/>
        </p:nvSpPr>
        <p:spPr>
          <a:xfrm>
            <a:off x="6272784" y="4270248"/>
            <a:ext cx="841248" cy="594360"/>
          </a:xfrm>
          <a:prstGeom prst="rect">
            <a:avLst/>
          </a:prstGeom>
          <a:noFill/>
          <a:ln/>
        </p:spPr>
        <p:txBody>
          <a:bodyPr wrap="square" lIns="0" tIns="0" rIns="0" bIns="0" rtlCol="0" anchor="ctr"/>
          <a:lstStyle/>
          <a:p>
            <a:pPr marL="0" indent="0" algn="ctr">
              <a:buNone/>
            </a:pPr>
            <a:r>
              <a:rPr lang="en-US" sz="900" b="1" dirty="0">
                <a:solidFill>
                  <a:srgbClr val="059669"/>
                </a:solidFill>
              </a:rPr>
              <a:t>0.77</a:t>
            </a:r>
            <a:endParaRPr lang="en-US" sz="900" dirty="0"/>
          </a:p>
        </p:txBody>
      </p:sp>
      <p:sp>
        <p:nvSpPr>
          <p:cNvPr id="93" name="Shape 91"/>
          <p:cNvSpPr/>
          <p:nvPr/>
        </p:nvSpPr>
        <p:spPr>
          <a:xfrm>
            <a:off x="7150608" y="4270248"/>
            <a:ext cx="2624328" cy="594360"/>
          </a:xfrm>
          <a:prstGeom prst="rect">
            <a:avLst/>
          </a:prstGeom>
          <a:solidFill>
            <a:srgbClr val="EFF6FF"/>
          </a:solidFill>
          <a:ln/>
        </p:spPr>
        <p:txBody>
          <a:bodyPr/>
          <a:lstStyle/>
          <a:p>
            <a:endParaRPr lang="en-US"/>
          </a:p>
        </p:txBody>
      </p:sp>
      <p:sp>
        <p:nvSpPr>
          <p:cNvPr id="94" name="Text 92"/>
          <p:cNvSpPr/>
          <p:nvPr/>
        </p:nvSpPr>
        <p:spPr>
          <a:xfrm>
            <a:off x="7187184" y="4270248"/>
            <a:ext cx="2551176" cy="594360"/>
          </a:xfrm>
          <a:prstGeom prst="rect">
            <a:avLst/>
          </a:prstGeom>
          <a:noFill/>
          <a:ln/>
        </p:spPr>
        <p:txBody>
          <a:bodyPr wrap="square" lIns="0" tIns="0" rIns="0" bIns="0" rtlCol="0" anchor="ctr"/>
          <a:lstStyle/>
          <a:p>
            <a:pPr marL="0" indent="0" algn="ctr">
              <a:buNone/>
            </a:pPr>
            <a:r>
              <a:rPr lang="en-US" sz="900" dirty="0">
                <a:solidFill>
                  <a:srgbClr val="1E293B"/>
                </a:solidFill>
              </a:rPr>
              <a:t>500 est.; SMOTE+scale_pos_weight</a:t>
            </a:r>
            <a:endParaRPr lang="en-US" sz="900" dirty="0"/>
          </a:p>
        </p:txBody>
      </p:sp>
      <p:sp>
        <p:nvSpPr>
          <p:cNvPr id="95" name="Shape 93"/>
          <p:cNvSpPr/>
          <p:nvPr/>
        </p:nvSpPr>
        <p:spPr>
          <a:xfrm>
            <a:off x="201168" y="4270248"/>
            <a:ext cx="8741664" cy="27432"/>
          </a:xfrm>
          <a:prstGeom prst="rect">
            <a:avLst/>
          </a:prstGeom>
          <a:solidFill>
            <a:srgbClr val="059669"/>
          </a:solidFill>
          <a:ln/>
        </p:spPr>
        <p:txBody>
          <a:bodyPr/>
          <a:lstStyle/>
          <a:p>
            <a:endParaRPr lang="en-US"/>
          </a:p>
        </p:txBody>
      </p:sp>
      <p:sp>
        <p:nvSpPr>
          <p:cNvPr id="96" name="Shape 94"/>
          <p:cNvSpPr/>
          <p:nvPr/>
        </p:nvSpPr>
        <p:spPr>
          <a:xfrm>
            <a:off x="201168" y="4617720"/>
            <a:ext cx="8741664" cy="384048"/>
          </a:xfrm>
          <a:prstGeom prst="rect">
            <a:avLst/>
          </a:prstGeom>
          <a:solidFill>
            <a:srgbClr val="EFF6FF"/>
          </a:solidFill>
          <a:ln/>
        </p:spPr>
        <p:txBody>
          <a:bodyPr/>
          <a:lstStyle/>
          <a:p>
            <a:endParaRPr lang="en-US"/>
          </a:p>
        </p:txBody>
      </p:sp>
      <p:sp>
        <p:nvSpPr>
          <p:cNvPr id="97" name="Shape 95"/>
          <p:cNvSpPr/>
          <p:nvPr/>
        </p:nvSpPr>
        <p:spPr>
          <a:xfrm>
            <a:off x="201168" y="4617720"/>
            <a:ext cx="64008" cy="384048"/>
          </a:xfrm>
          <a:prstGeom prst="rect">
            <a:avLst/>
          </a:prstGeom>
          <a:solidFill>
            <a:srgbClr val="059669"/>
          </a:solidFill>
          <a:ln/>
        </p:spPr>
        <p:txBody>
          <a:bodyPr/>
          <a:lstStyle/>
          <a:p>
            <a:endParaRPr lang="en-US"/>
          </a:p>
        </p:txBody>
      </p:sp>
      <p:sp>
        <p:nvSpPr>
          <p:cNvPr id="98" name="Text 96"/>
          <p:cNvSpPr/>
          <p:nvPr/>
        </p:nvSpPr>
        <p:spPr>
          <a:xfrm>
            <a:off x="320040" y="4645152"/>
            <a:ext cx="8503920" cy="320040"/>
          </a:xfrm>
          <a:prstGeom prst="rect">
            <a:avLst/>
          </a:prstGeom>
          <a:noFill/>
          <a:ln/>
        </p:spPr>
        <p:txBody>
          <a:bodyPr wrap="square" lIns="0" tIns="0" rIns="0" bIns="0" rtlCol="0" anchor="ctr"/>
          <a:lstStyle/>
          <a:p>
            <a:pPr marL="0" indent="0">
              <a:buNone/>
            </a:pPr>
            <a:r>
              <a:rPr lang="en-US" sz="850" dirty="0">
                <a:solidFill>
                  <a:srgbClr val="1B3A6B"/>
                </a:solidFill>
              </a:rPr>
              <a:t>Model Selection: XGBoost chosen for AUC-ROC superiority (+2.25pp vs. RF) and PR-AUC (+4.25pp), critical at high-recall operating points. 79% fraud recall at 0.5 threshold = 4-in-5 fraudulent claims detected.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A6B"/>
          </a:solidFill>
          <a:ln/>
        </p:spPr>
        <p:txBody>
          <a:bodyPr/>
          <a:lstStyle/>
          <a:p>
            <a:endParaRPr lang="en-US"/>
          </a:p>
        </p:txBody>
      </p:sp>
      <p:sp>
        <p:nvSpPr>
          <p:cNvPr id="3" name="Shape 1"/>
          <p:cNvSpPr/>
          <p:nvPr/>
        </p:nvSpPr>
        <p:spPr>
          <a:xfrm>
            <a:off x="109728" y="0"/>
            <a:ext cx="9034272" cy="502920"/>
          </a:xfrm>
          <a:prstGeom prst="rect">
            <a:avLst/>
          </a:prstGeom>
          <a:solidFill>
            <a:srgbClr val="1E293B"/>
          </a:solidFill>
          <a:ln/>
        </p:spPr>
        <p:txBody>
          <a:bodyPr/>
          <a:lstStyle/>
          <a:p>
            <a:endParaRPr lang="en-US"/>
          </a:p>
        </p:txBody>
      </p:sp>
      <p:sp>
        <p:nvSpPr>
          <p:cNvPr id="4" name="Shape 2"/>
          <p:cNvSpPr/>
          <p:nvPr/>
        </p:nvSpPr>
        <p:spPr>
          <a:xfrm>
            <a:off x="228600" y="91440"/>
            <a:ext cx="1005840" cy="320040"/>
          </a:xfrm>
          <a:prstGeom prst="rect">
            <a:avLst/>
          </a:prstGeom>
          <a:solidFill>
            <a:srgbClr val="2563EB"/>
          </a:solidFill>
          <a:ln/>
        </p:spPr>
        <p:txBody>
          <a:bodyPr/>
          <a:lstStyle/>
          <a:p>
            <a:endParaRPr lang="en-US"/>
          </a:p>
        </p:txBody>
      </p:sp>
      <p:sp>
        <p:nvSpPr>
          <p:cNvPr id="5" name="Text 3"/>
          <p:cNvSpPr/>
          <p:nvPr/>
        </p:nvSpPr>
        <p:spPr>
          <a:xfrm>
            <a:off x="228600" y="91440"/>
            <a:ext cx="1005840" cy="320040"/>
          </a:xfrm>
          <a:prstGeom prst="rect">
            <a:avLst/>
          </a:prstGeom>
          <a:noFill/>
          <a:ln/>
        </p:spPr>
        <p:txBody>
          <a:bodyPr wrap="square" lIns="0" tIns="0" rIns="0" bIns="0" rtlCol="0" anchor="ctr"/>
          <a:lstStyle/>
          <a:p>
            <a:pPr marL="0" indent="0" algn="ctr">
              <a:buNone/>
            </a:pPr>
            <a:r>
              <a:rPr lang="en-US" sz="900" b="1" dirty="0">
                <a:solidFill>
                  <a:srgbClr val="FFFFFF"/>
                </a:solidFill>
              </a:rPr>
              <a:t>STEP 5</a:t>
            </a:r>
            <a:endParaRPr lang="en-US" sz="900" dirty="0"/>
          </a:p>
        </p:txBody>
      </p:sp>
      <p:sp>
        <p:nvSpPr>
          <p:cNvPr id="6" name="Text 4"/>
          <p:cNvSpPr/>
          <p:nvPr/>
        </p:nvSpPr>
        <p:spPr>
          <a:xfrm>
            <a:off x="1371600" y="82296"/>
            <a:ext cx="7498080" cy="347472"/>
          </a:xfrm>
          <a:prstGeom prst="rect">
            <a:avLst/>
          </a:prstGeom>
          <a:noFill/>
          <a:ln/>
        </p:spPr>
        <p:txBody>
          <a:bodyPr wrap="square" lIns="0" tIns="0" rIns="0" bIns="0" rtlCol="0" anchor="ctr"/>
          <a:lstStyle/>
          <a:p>
            <a:pPr marL="0" indent="0">
              <a:buNone/>
            </a:pPr>
            <a:r>
              <a:rPr lang="en-US" sz="1500" b="1" dirty="0">
                <a:solidFill>
                  <a:srgbClr val="FFFFFF"/>
                </a:solidFill>
              </a:rPr>
              <a:t>Model Explainability, SHAP Analysis</a:t>
            </a:r>
            <a:endParaRPr lang="en-US" sz="1500" dirty="0"/>
          </a:p>
        </p:txBody>
      </p:sp>
      <p:sp>
        <p:nvSpPr>
          <p:cNvPr id="7" name="Text 5"/>
          <p:cNvSpPr/>
          <p:nvPr/>
        </p:nvSpPr>
        <p:spPr>
          <a:xfrm>
            <a:off x="109728" y="4800600"/>
            <a:ext cx="9034272" cy="320040"/>
          </a:xfrm>
          <a:prstGeom prst="rect">
            <a:avLst/>
          </a:prstGeom>
          <a:noFill/>
          <a:ln/>
        </p:spPr>
        <p:txBody>
          <a:bodyPr wrap="square" lIns="0" tIns="0" rIns="0" bIns="0" rtlCol="0" anchor="ctr"/>
          <a:lstStyle/>
          <a:p>
            <a:pPr marL="0" indent="0" algn="r">
              <a:buNone/>
            </a:pPr>
            <a:r>
              <a:rPr lang="en-US" sz="800" dirty="0">
                <a:solidFill>
                  <a:srgbClr val="64748B"/>
                </a:solidFill>
              </a:rPr>
              <a:t>ProTech Devices Asia  |  AIM Capstone 2025</a:t>
            </a:r>
            <a:endParaRPr lang="en-US" sz="800" dirty="0"/>
          </a:p>
        </p:txBody>
      </p:sp>
      <p:sp>
        <p:nvSpPr>
          <p:cNvPr id="8" name="Text 6"/>
          <p:cNvSpPr/>
          <p:nvPr/>
        </p:nvSpPr>
        <p:spPr>
          <a:xfrm>
            <a:off x="201168" y="603504"/>
            <a:ext cx="8686800" cy="228600"/>
          </a:xfrm>
          <a:prstGeom prst="rect">
            <a:avLst/>
          </a:prstGeom>
          <a:noFill/>
          <a:ln/>
        </p:spPr>
        <p:txBody>
          <a:bodyPr wrap="square" lIns="0" tIns="0" rIns="0" bIns="0" rtlCol="0" anchor="ctr"/>
          <a:lstStyle/>
          <a:p>
            <a:pPr marL="0" indent="0">
              <a:buNone/>
            </a:pPr>
            <a:r>
              <a:rPr lang="en-US" sz="900" dirty="0">
                <a:solidFill>
                  <a:srgbClr val="64748B"/>
                </a:solidFill>
              </a:rPr>
              <a:t>SHAP values computed on 5,000 stratified test samples. Top 20 features account for 87% of total model output variance.</a:t>
            </a:r>
            <a:endParaRPr lang="en-US" sz="900" dirty="0"/>
          </a:p>
        </p:txBody>
      </p:sp>
      <p:sp>
        <p:nvSpPr>
          <p:cNvPr id="9" name="Text 7"/>
          <p:cNvSpPr/>
          <p:nvPr/>
        </p:nvSpPr>
        <p:spPr>
          <a:xfrm>
            <a:off x="201168" y="932688"/>
            <a:ext cx="3200400" cy="256032"/>
          </a:xfrm>
          <a:prstGeom prst="rect">
            <a:avLst/>
          </a:prstGeom>
          <a:noFill/>
          <a:ln/>
        </p:spPr>
        <p:txBody>
          <a:bodyPr wrap="square" lIns="0" tIns="0" rIns="0" bIns="0" rtlCol="0" anchor="ctr"/>
          <a:lstStyle/>
          <a:p>
            <a:pPr marL="0" indent="0" algn="r">
              <a:buNone/>
            </a:pPr>
            <a:r>
              <a:rPr lang="en-US" sz="850" dirty="0">
                <a:solidFill>
                  <a:srgbClr val="1E293B"/>
                </a:solidFill>
              </a:rPr>
              <a:t>V126 (Device fingerprint consistency)</a:t>
            </a:r>
            <a:endParaRPr lang="en-US" sz="850" dirty="0"/>
          </a:p>
        </p:txBody>
      </p:sp>
      <p:sp>
        <p:nvSpPr>
          <p:cNvPr id="10" name="Shape 8"/>
          <p:cNvSpPr/>
          <p:nvPr/>
        </p:nvSpPr>
        <p:spPr>
          <a:xfrm>
            <a:off x="3474720" y="896112"/>
            <a:ext cx="5029200" cy="329184"/>
          </a:xfrm>
          <a:prstGeom prst="rect">
            <a:avLst/>
          </a:prstGeom>
          <a:solidFill>
            <a:srgbClr val="2563EB"/>
          </a:solidFill>
          <a:ln/>
        </p:spPr>
        <p:txBody>
          <a:bodyPr/>
          <a:lstStyle/>
          <a:p>
            <a:endParaRPr lang="en-US"/>
          </a:p>
        </p:txBody>
      </p:sp>
      <p:sp>
        <p:nvSpPr>
          <p:cNvPr id="11" name="Text 9"/>
          <p:cNvSpPr/>
          <p:nvPr/>
        </p:nvSpPr>
        <p:spPr>
          <a:xfrm>
            <a:off x="8558784" y="932688"/>
            <a:ext cx="457200" cy="256032"/>
          </a:xfrm>
          <a:prstGeom prst="rect">
            <a:avLst/>
          </a:prstGeom>
          <a:noFill/>
          <a:ln/>
        </p:spPr>
        <p:txBody>
          <a:bodyPr wrap="square" lIns="0" tIns="0" rIns="0" bIns="0" rtlCol="0" anchor="ctr"/>
          <a:lstStyle/>
          <a:p>
            <a:pPr marL="0" indent="0">
              <a:buNone/>
            </a:pPr>
            <a:r>
              <a:rPr lang="en-US" sz="850" b="1" dirty="0">
                <a:solidFill>
                  <a:srgbClr val="2563EB"/>
                </a:solidFill>
              </a:rPr>
              <a:t>0.312</a:t>
            </a:r>
            <a:endParaRPr lang="en-US" sz="850" dirty="0"/>
          </a:p>
        </p:txBody>
      </p:sp>
      <p:sp>
        <p:nvSpPr>
          <p:cNvPr id="12" name="Text 10"/>
          <p:cNvSpPr/>
          <p:nvPr/>
        </p:nvSpPr>
        <p:spPr>
          <a:xfrm>
            <a:off x="201168" y="1316736"/>
            <a:ext cx="3200400" cy="256032"/>
          </a:xfrm>
          <a:prstGeom prst="rect">
            <a:avLst/>
          </a:prstGeom>
          <a:noFill/>
          <a:ln/>
        </p:spPr>
        <p:txBody>
          <a:bodyPr wrap="square" lIns="0" tIns="0" rIns="0" bIns="0" rtlCol="0" anchor="ctr"/>
          <a:lstStyle/>
          <a:p>
            <a:pPr marL="0" indent="0" algn="r">
              <a:buNone/>
            </a:pPr>
            <a:r>
              <a:rPr lang="en-US" sz="850" dirty="0">
                <a:solidFill>
                  <a:srgbClr val="1E293B"/>
                </a:solidFill>
              </a:rPr>
              <a:t>V130 (Session behavioral signal)</a:t>
            </a:r>
            <a:endParaRPr lang="en-US" sz="850" dirty="0"/>
          </a:p>
        </p:txBody>
      </p:sp>
      <p:sp>
        <p:nvSpPr>
          <p:cNvPr id="13" name="Shape 11"/>
          <p:cNvSpPr/>
          <p:nvPr/>
        </p:nvSpPr>
        <p:spPr>
          <a:xfrm>
            <a:off x="3474720" y="1280160"/>
            <a:ext cx="4626219" cy="329184"/>
          </a:xfrm>
          <a:prstGeom prst="rect">
            <a:avLst/>
          </a:prstGeom>
          <a:solidFill>
            <a:srgbClr val="2563EB"/>
          </a:solidFill>
          <a:ln/>
        </p:spPr>
        <p:txBody>
          <a:bodyPr/>
          <a:lstStyle/>
          <a:p>
            <a:endParaRPr lang="en-US"/>
          </a:p>
        </p:txBody>
      </p:sp>
      <p:sp>
        <p:nvSpPr>
          <p:cNvPr id="14" name="Text 12"/>
          <p:cNvSpPr/>
          <p:nvPr/>
        </p:nvSpPr>
        <p:spPr>
          <a:xfrm>
            <a:off x="8155803" y="1316736"/>
            <a:ext cx="457200" cy="256032"/>
          </a:xfrm>
          <a:prstGeom prst="rect">
            <a:avLst/>
          </a:prstGeom>
          <a:noFill/>
          <a:ln/>
        </p:spPr>
        <p:txBody>
          <a:bodyPr wrap="square" lIns="0" tIns="0" rIns="0" bIns="0" rtlCol="0" anchor="ctr"/>
          <a:lstStyle/>
          <a:p>
            <a:pPr marL="0" indent="0">
              <a:buNone/>
            </a:pPr>
            <a:r>
              <a:rPr lang="en-US" sz="850" b="1" dirty="0">
                <a:solidFill>
                  <a:srgbClr val="2563EB"/>
                </a:solidFill>
              </a:rPr>
              <a:t>0.287</a:t>
            </a:r>
            <a:endParaRPr lang="en-US" sz="850" dirty="0"/>
          </a:p>
        </p:txBody>
      </p:sp>
      <p:sp>
        <p:nvSpPr>
          <p:cNvPr id="15" name="Text 13"/>
          <p:cNvSpPr/>
          <p:nvPr/>
        </p:nvSpPr>
        <p:spPr>
          <a:xfrm>
            <a:off x="201168" y="1700784"/>
            <a:ext cx="3200400" cy="256032"/>
          </a:xfrm>
          <a:prstGeom prst="rect">
            <a:avLst/>
          </a:prstGeom>
          <a:noFill/>
          <a:ln/>
        </p:spPr>
        <p:txBody>
          <a:bodyPr wrap="square" lIns="0" tIns="0" rIns="0" bIns="0" rtlCol="0" anchor="ctr"/>
          <a:lstStyle/>
          <a:p>
            <a:pPr marL="0" indent="0" algn="r">
              <a:buNone/>
            </a:pPr>
            <a:r>
              <a:rPr lang="en-US" sz="850" dirty="0">
                <a:solidFill>
                  <a:srgbClr val="1E293B"/>
                </a:solidFill>
              </a:rPr>
              <a:t>log_claim_amt (Claim amount)</a:t>
            </a:r>
            <a:endParaRPr lang="en-US" sz="850" dirty="0"/>
          </a:p>
        </p:txBody>
      </p:sp>
      <p:sp>
        <p:nvSpPr>
          <p:cNvPr id="16" name="Shape 14"/>
          <p:cNvSpPr/>
          <p:nvPr/>
        </p:nvSpPr>
        <p:spPr>
          <a:xfrm>
            <a:off x="3474720" y="1664208"/>
            <a:ext cx="3884735" cy="329184"/>
          </a:xfrm>
          <a:prstGeom prst="rect">
            <a:avLst/>
          </a:prstGeom>
          <a:solidFill>
            <a:srgbClr val="DC2626"/>
          </a:solidFill>
          <a:ln/>
        </p:spPr>
        <p:txBody>
          <a:bodyPr/>
          <a:lstStyle/>
          <a:p>
            <a:endParaRPr lang="en-US"/>
          </a:p>
        </p:txBody>
      </p:sp>
      <p:sp>
        <p:nvSpPr>
          <p:cNvPr id="17" name="Text 15"/>
          <p:cNvSpPr/>
          <p:nvPr/>
        </p:nvSpPr>
        <p:spPr>
          <a:xfrm>
            <a:off x="7414319" y="1700784"/>
            <a:ext cx="457200" cy="256032"/>
          </a:xfrm>
          <a:prstGeom prst="rect">
            <a:avLst/>
          </a:prstGeom>
          <a:noFill/>
          <a:ln/>
        </p:spPr>
        <p:txBody>
          <a:bodyPr wrap="square" lIns="0" tIns="0" rIns="0" bIns="0" rtlCol="0" anchor="ctr"/>
          <a:lstStyle/>
          <a:p>
            <a:pPr marL="0" indent="0">
              <a:buNone/>
            </a:pPr>
            <a:r>
              <a:rPr lang="en-US" sz="850" b="1" dirty="0">
                <a:solidFill>
                  <a:srgbClr val="DC2626"/>
                </a:solidFill>
              </a:rPr>
              <a:t>0.241</a:t>
            </a:r>
            <a:endParaRPr lang="en-US" sz="850" dirty="0"/>
          </a:p>
        </p:txBody>
      </p:sp>
      <p:sp>
        <p:nvSpPr>
          <p:cNvPr id="18" name="Text 16"/>
          <p:cNvSpPr/>
          <p:nvPr/>
        </p:nvSpPr>
        <p:spPr>
          <a:xfrm>
            <a:off x="201168" y="2084832"/>
            <a:ext cx="3200400" cy="256032"/>
          </a:xfrm>
          <a:prstGeom prst="rect">
            <a:avLst/>
          </a:prstGeom>
          <a:noFill/>
          <a:ln/>
        </p:spPr>
        <p:txBody>
          <a:bodyPr wrap="square" lIns="0" tIns="0" rIns="0" bIns="0" rtlCol="0" anchor="ctr"/>
          <a:lstStyle/>
          <a:p>
            <a:pPr marL="0" indent="0" algn="r">
              <a:buNone/>
            </a:pPr>
            <a:r>
              <a:rPr lang="en-US" sz="850" dirty="0">
                <a:solidFill>
                  <a:srgbClr val="1E293B"/>
                </a:solidFill>
              </a:rPr>
              <a:t>days_since_policy (Time-to-claim)</a:t>
            </a:r>
            <a:endParaRPr lang="en-US" sz="850" dirty="0"/>
          </a:p>
        </p:txBody>
      </p:sp>
      <p:sp>
        <p:nvSpPr>
          <p:cNvPr id="19" name="Shape 17"/>
          <p:cNvSpPr/>
          <p:nvPr/>
        </p:nvSpPr>
        <p:spPr>
          <a:xfrm>
            <a:off x="3474720" y="2048256"/>
            <a:ext cx="3191608" cy="329184"/>
          </a:xfrm>
          <a:prstGeom prst="rect">
            <a:avLst/>
          </a:prstGeom>
          <a:solidFill>
            <a:srgbClr val="DC2626"/>
          </a:solidFill>
          <a:ln/>
        </p:spPr>
        <p:txBody>
          <a:bodyPr/>
          <a:lstStyle/>
          <a:p>
            <a:endParaRPr lang="en-US"/>
          </a:p>
        </p:txBody>
      </p:sp>
      <p:sp>
        <p:nvSpPr>
          <p:cNvPr id="20" name="Text 18"/>
          <p:cNvSpPr/>
          <p:nvPr/>
        </p:nvSpPr>
        <p:spPr>
          <a:xfrm>
            <a:off x="6721192" y="2084832"/>
            <a:ext cx="457200" cy="256032"/>
          </a:xfrm>
          <a:prstGeom prst="rect">
            <a:avLst/>
          </a:prstGeom>
          <a:noFill/>
          <a:ln/>
        </p:spPr>
        <p:txBody>
          <a:bodyPr wrap="square" lIns="0" tIns="0" rIns="0" bIns="0" rtlCol="0" anchor="ctr"/>
          <a:lstStyle/>
          <a:p>
            <a:pPr marL="0" indent="0">
              <a:buNone/>
            </a:pPr>
            <a:r>
              <a:rPr lang="en-US" sz="850" b="1" dirty="0">
                <a:solidFill>
                  <a:srgbClr val="DC2626"/>
                </a:solidFill>
              </a:rPr>
              <a:t>0.198</a:t>
            </a:r>
            <a:endParaRPr lang="en-US" sz="850" dirty="0"/>
          </a:p>
        </p:txBody>
      </p:sp>
      <p:sp>
        <p:nvSpPr>
          <p:cNvPr id="21" name="Text 19"/>
          <p:cNvSpPr/>
          <p:nvPr/>
        </p:nvSpPr>
        <p:spPr>
          <a:xfrm>
            <a:off x="201168" y="2468880"/>
            <a:ext cx="3200400" cy="256032"/>
          </a:xfrm>
          <a:prstGeom prst="rect">
            <a:avLst/>
          </a:prstGeom>
          <a:noFill/>
          <a:ln/>
        </p:spPr>
        <p:txBody>
          <a:bodyPr wrap="square" lIns="0" tIns="0" rIns="0" bIns="0" rtlCol="0" anchor="ctr"/>
          <a:lstStyle/>
          <a:p>
            <a:pPr marL="0" indent="0" algn="r">
              <a:buNone/>
            </a:pPr>
            <a:r>
              <a:rPr lang="en-US" sz="850" dirty="0">
                <a:solidFill>
                  <a:srgbClr val="1E293B"/>
                </a:solidFill>
              </a:rPr>
              <a:t>V136 (Behavioral metadata)</a:t>
            </a:r>
            <a:endParaRPr lang="en-US" sz="850" dirty="0"/>
          </a:p>
        </p:txBody>
      </p:sp>
      <p:sp>
        <p:nvSpPr>
          <p:cNvPr id="22" name="Shape 20"/>
          <p:cNvSpPr/>
          <p:nvPr/>
        </p:nvSpPr>
        <p:spPr>
          <a:xfrm>
            <a:off x="3474720" y="2432304"/>
            <a:ext cx="3014296" cy="329184"/>
          </a:xfrm>
          <a:prstGeom prst="rect">
            <a:avLst/>
          </a:prstGeom>
          <a:solidFill>
            <a:srgbClr val="2563EB"/>
          </a:solidFill>
          <a:ln/>
        </p:spPr>
        <p:txBody>
          <a:bodyPr/>
          <a:lstStyle/>
          <a:p>
            <a:endParaRPr lang="en-US"/>
          </a:p>
        </p:txBody>
      </p:sp>
      <p:sp>
        <p:nvSpPr>
          <p:cNvPr id="23" name="Text 21"/>
          <p:cNvSpPr/>
          <p:nvPr/>
        </p:nvSpPr>
        <p:spPr>
          <a:xfrm>
            <a:off x="6543880" y="2468880"/>
            <a:ext cx="457200" cy="256032"/>
          </a:xfrm>
          <a:prstGeom prst="rect">
            <a:avLst/>
          </a:prstGeom>
          <a:noFill/>
          <a:ln/>
        </p:spPr>
        <p:txBody>
          <a:bodyPr wrap="square" lIns="0" tIns="0" rIns="0" bIns="0" rtlCol="0" anchor="ctr"/>
          <a:lstStyle/>
          <a:p>
            <a:pPr marL="0" indent="0">
              <a:buNone/>
            </a:pPr>
            <a:r>
              <a:rPr lang="en-US" sz="850" b="1" dirty="0">
                <a:solidFill>
                  <a:srgbClr val="2563EB"/>
                </a:solidFill>
              </a:rPr>
              <a:t>0.187</a:t>
            </a:r>
            <a:endParaRPr lang="en-US" sz="850" dirty="0"/>
          </a:p>
        </p:txBody>
      </p:sp>
      <p:sp>
        <p:nvSpPr>
          <p:cNvPr id="24" name="Text 22"/>
          <p:cNvSpPr/>
          <p:nvPr/>
        </p:nvSpPr>
        <p:spPr>
          <a:xfrm>
            <a:off x="201168" y="2852928"/>
            <a:ext cx="3200400" cy="256032"/>
          </a:xfrm>
          <a:prstGeom prst="rect">
            <a:avLst/>
          </a:prstGeom>
          <a:noFill/>
          <a:ln/>
        </p:spPr>
        <p:txBody>
          <a:bodyPr wrap="square" lIns="0" tIns="0" rIns="0" bIns="0" rtlCol="0" anchor="ctr"/>
          <a:lstStyle/>
          <a:p>
            <a:pPr marL="0" indent="0" algn="r">
              <a:buNone/>
            </a:pPr>
            <a:r>
              <a:rPr lang="en-US" sz="850" dirty="0">
                <a:solidFill>
                  <a:srgbClr val="1E293B"/>
                </a:solidFill>
              </a:rPr>
              <a:t>claim_velocity (Partner repeat claiming)</a:t>
            </a:r>
            <a:endParaRPr lang="en-US" sz="850" dirty="0"/>
          </a:p>
        </p:txBody>
      </p:sp>
      <p:sp>
        <p:nvSpPr>
          <p:cNvPr id="25" name="Shape 23"/>
          <p:cNvSpPr/>
          <p:nvPr/>
        </p:nvSpPr>
        <p:spPr>
          <a:xfrm>
            <a:off x="3474720" y="2816352"/>
            <a:ext cx="2514600" cy="329184"/>
          </a:xfrm>
          <a:prstGeom prst="rect">
            <a:avLst/>
          </a:prstGeom>
          <a:solidFill>
            <a:srgbClr val="D97706"/>
          </a:solidFill>
          <a:ln/>
        </p:spPr>
        <p:txBody>
          <a:bodyPr/>
          <a:lstStyle/>
          <a:p>
            <a:endParaRPr lang="en-US"/>
          </a:p>
        </p:txBody>
      </p:sp>
      <p:sp>
        <p:nvSpPr>
          <p:cNvPr id="26" name="Text 24"/>
          <p:cNvSpPr/>
          <p:nvPr/>
        </p:nvSpPr>
        <p:spPr>
          <a:xfrm>
            <a:off x="6044184" y="2852928"/>
            <a:ext cx="457200" cy="256032"/>
          </a:xfrm>
          <a:prstGeom prst="rect">
            <a:avLst/>
          </a:prstGeom>
          <a:noFill/>
          <a:ln/>
        </p:spPr>
        <p:txBody>
          <a:bodyPr wrap="square" lIns="0" tIns="0" rIns="0" bIns="0" rtlCol="0" anchor="ctr"/>
          <a:lstStyle/>
          <a:p>
            <a:pPr marL="0" indent="0">
              <a:buNone/>
            </a:pPr>
            <a:r>
              <a:rPr lang="en-US" sz="850" b="1" dirty="0">
                <a:solidFill>
                  <a:srgbClr val="D97706"/>
                </a:solidFill>
              </a:rPr>
              <a:t>0.156</a:t>
            </a:r>
            <a:endParaRPr lang="en-US" sz="850" dirty="0"/>
          </a:p>
        </p:txBody>
      </p:sp>
      <p:sp>
        <p:nvSpPr>
          <p:cNvPr id="27" name="Text 25"/>
          <p:cNvSpPr/>
          <p:nvPr/>
        </p:nvSpPr>
        <p:spPr>
          <a:xfrm>
            <a:off x="201168" y="3236976"/>
            <a:ext cx="3200400" cy="256032"/>
          </a:xfrm>
          <a:prstGeom prst="rect">
            <a:avLst/>
          </a:prstGeom>
          <a:noFill/>
          <a:ln/>
        </p:spPr>
        <p:txBody>
          <a:bodyPr wrap="square" lIns="0" tIns="0" rIns="0" bIns="0" rtlCol="0" anchor="ctr"/>
          <a:lstStyle/>
          <a:p>
            <a:pPr marL="0" indent="0" algn="r">
              <a:buNone/>
            </a:pPr>
            <a:r>
              <a:rPr lang="en-US" sz="850" dirty="0">
                <a:solidFill>
                  <a:srgbClr val="1E293B"/>
                </a:solidFill>
              </a:rPr>
              <a:t>email_risk_score (Email domain risk)</a:t>
            </a:r>
            <a:endParaRPr lang="en-US" sz="850" dirty="0"/>
          </a:p>
        </p:txBody>
      </p:sp>
      <p:sp>
        <p:nvSpPr>
          <p:cNvPr id="28" name="Shape 26"/>
          <p:cNvSpPr/>
          <p:nvPr/>
        </p:nvSpPr>
        <p:spPr>
          <a:xfrm>
            <a:off x="3474720" y="3200400"/>
            <a:ext cx="2305050" cy="329184"/>
          </a:xfrm>
          <a:prstGeom prst="rect">
            <a:avLst/>
          </a:prstGeom>
          <a:solidFill>
            <a:srgbClr val="D97706"/>
          </a:solidFill>
          <a:ln/>
        </p:spPr>
        <p:txBody>
          <a:bodyPr/>
          <a:lstStyle/>
          <a:p>
            <a:endParaRPr lang="en-US"/>
          </a:p>
        </p:txBody>
      </p:sp>
      <p:sp>
        <p:nvSpPr>
          <p:cNvPr id="29" name="Text 27"/>
          <p:cNvSpPr/>
          <p:nvPr/>
        </p:nvSpPr>
        <p:spPr>
          <a:xfrm>
            <a:off x="5834634" y="3236976"/>
            <a:ext cx="457200" cy="256032"/>
          </a:xfrm>
          <a:prstGeom prst="rect">
            <a:avLst/>
          </a:prstGeom>
          <a:noFill/>
          <a:ln/>
        </p:spPr>
        <p:txBody>
          <a:bodyPr wrap="square" lIns="0" tIns="0" rIns="0" bIns="0" rtlCol="0" anchor="ctr"/>
          <a:lstStyle/>
          <a:p>
            <a:pPr marL="0" indent="0">
              <a:buNone/>
            </a:pPr>
            <a:r>
              <a:rPr lang="en-US" sz="850" b="1" dirty="0">
                <a:solidFill>
                  <a:srgbClr val="D97706"/>
                </a:solidFill>
              </a:rPr>
              <a:t>0.143</a:t>
            </a:r>
            <a:endParaRPr lang="en-US" sz="850" dirty="0"/>
          </a:p>
        </p:txBody>
      </p:sp>
      <p:sp>
        <p:nvSpPr>
          <p:cNvPr id="30" name="Text 28"/>
          <p:cNvSpPr/>
          <p:nvPr/>
        </p:nvSpPr>
        <p:spPr>
          <a:xfrm>
            <a:off x="201168" y="3621024"/>
            <a:ext cx="3200400" cy="256032"/>
          </a:xfrm>
          <a:prstGeom prst="rect">
            <a:avLst/>
          </a:prstGeom>
          <a:noFill/>
          <a:ln/>
        </p:spPr>
        <p:txBody>
          <a:bodyPr wrap="square" lIns="0" tIns="0" rIns="0" bIns="0" rtlCol="0" anchor="ctr"/>
          <a:lstStyle/>
          <a:p>
            <a:pPr marL="0" indent="0" algn="r">
              <a:buNone/>
            </a:pPr>
            <a:r>
              <a:rPr lang="en-US" sz="850" dirty="0">
                <a:solidFill>
                  <a:srgbClr val="1E293B"/>
                </a:solidFill>
              </a:rPr>
              <a:t>card1 (Retail partner ID)</a:t>
            </a:r>
            <a:endParaRPr lang="en-US" sz="850" dirty="0"/>
          </a:p>
        </p:txBody>
      </p:sp>
      <p:sp>
        <p:nvSpPr>
          <p:cNvPr id="31" name="Shape 29"/>
          <p:cNvSpPr/>
          <p:nvPr/>
        </p:nvSpPr>
        <p:spPr>
          <a:xfrm>
            <a:off x="3474720" y="3584448"/>
            <a:ext cx="2224454" cy="329184"/>
          </a:xfrm>
          <a:prstGeom prst="rect">
            <a:avLst/>
          </a:prstGeom>
          <a:solidFill>
            <a:srgbClr val="7C3AED"/>
          </a:solidFill>
          <a:ln/>
        </p:spPr>
        <p:txBody>
          <a:bodyPr/>
          <a:lstStyle/>
          <a:p>
            <a:endParaRPr lang="en-US"/>
          </a:p>
        </p:txBody>
      </p:sp>
      <p:sp>
        <p:nvSpPr>
          <p:cNvPr id="32" name="Text 30"/>
          <p:cNvSpPr/>
          <p:nvPr/>
        </p:nvSpPr>
        <p:spPr>
          <a:xfrm>
            <a:off x="5754038" y="3621024"/>
            <a:ext cx="457200" cy="256032"/>
          </a:xfrm>
          <a:prstGeom prst="rect">
            <a:avLst/>
          </a:prstGeom>
          <a:noFill/>
          <a:ln/>
        </p:spPr>
        <p:txBody>
          <a:bodyPr wrap="square" lIns="0" tIns="0" rIns="0" bIns="0" rtlCol="0" anchor="ctr"/>
          <a:lstStyle/>
          <a:p>
            <a:pPr marL="0" indent="0">
              <a:buNone/>
            </a:pPr>
            <a:r>
              <a:rPr lang="en-US" sz="850" b="1" dirty="0">
                <a:solidFill>
                  <a:srgbClr val="7C3AED"/>
                </a:solidFill>
              </a:rPr>
              <a:t>0.138</a:t>
            </a:r>
            <a:endParaRPr lang="en-US" sz="850" dirty="0"/>
          </a:p>
        </p:txBody>
      </p:sp>
      <p:sp>
        <p:nvSpPr>
          <p:cNvPr id="33" name="Text 31"/>
          <p:cNvSpPr/>
          <p:nvPr/>
        </p:nvSpPr>
        <p:spPr>
          <a:xfrm>
            <a:off x="201168" y="4005072"/>
            <a:ext cx="3200400" cy="256032"/>
          </a:xfrm>
          <a:prstGeom prst="rect">
            <a:avLst/>
          </a:prstGeom>
          <a:noFill/>
          <a:ln/>
        </p:spPr>
        <p:txBody>
          <a:bodyPr wrap="square" lIns="0" tIns="0" rIns="0" bIns="0" rtlCol="0" anchor="ctr"/>
          <a:lstStyle/>
          <a:p>
            <a:pPr marL="0" indent="0" algn="r">
              <a:buNone/>
            </a:pPr>
            <a:r>
              <a:rPr lang="en-US" sz="850" dirty="0">
                <a:solidFill>
                  <a:srgbClr val="1E293B"/>
                </a:solidFill>
              </a:rPr>
              <a:t>mismatch_score (Identity inconsistency)</a:t>
            </a:r>
            <a:endParaRPr lang="en-US" sz="850" dirty="0"/>
          </a:p>
        </p:txBody>
      </p:sp>
      <p:sp>
        <p:nvSpPr>
          <p:cNvPr id="34" name="Shape 32"/>
          <p:cNvSpPr/>
          <p:nvPr/>
        </p:nvSpPr>
        <p:spPr>
          <a:xfrm>
            <a:off x="3474720" y="3968496"/>
            <a:ext cx="1950427" cy="329184"/>
          </a:xfrm>
          <a:prstGeom prst="rect">
            <a:avLst/>
          </a:prstGeom>
          <a:solidFill>
            <a:srgbClr val="7C3AED"/>
          </a:solidFill>
          <a:ln/>
        </p:spPr>
        <p:txBody>
          <a:bodyPr/>
          <a:lstStyle/>
          <a:p>
            <a:endParaRPr lang="en-US"/>
          </a:p>
        </p:txBody>
      </p:sp>
      <p:sp>
        <p:nvSpPr>
          <p:cNvPr id="35" name="Text 33"/>
          <p:cNvSpPr/>
          <p:nvPr/>
        </p:nvSpPr>
        <p:spPr>
          <a:xfrm>
            <a:off x="5480011" y="4005072"/>
            <a:ext cx="457200" cy="256032"/>
          </a:xfrm>
          <a:prstGeom prst="rect">
            <a:avLst/>
          </a:prstGeom>
          <a:noFill/>
          <a:ln/>
        </p:spPr>
        <p:txBody>
          <a:bodyPr wrap="square" lIns="0" tIns="0" rIns="0" bIns="0" rtlCol="0" anchor="ctr"/>
          <a:lstStyle/>
          <a:p>
            <a:pPr marL="0" indent="0">
              <a:buNone/>
            </a:pPr>
            <a:r>
              <a:rPr lang="en-US" sz="850" b="1" dirty="0">
                <a:solidFill>
                  <a:srgbClr val="7C3AED"/>
                </a:solidFill>
              </a:rPr>
              <a:t>0.121</a:t>
            </a:r>
            <a:endParaRPr lang="en-US" sz="850" dirty="0"/>
          </a:p>
        </p:txBody>
      </p:sp>
      <p:sp>
        <p:nvSpPr>
          <p:cNvPr id="36" name="Text 34"/>
          <p:cNvSpPr/>
          <p:nvPr/>
        </p:nvSpPr>
        <p:spPr>
          <a:xfrm>
            <a:off x="201168" y="4389120"/>
            <a:ext cx="3200400" cy="256032"/>
          </a:xfrm>
          <a:prstGeom prst="rect">
            <a:avLst/>
          </a:prstGeom>
          <a:noFill/>
          <a:ln/>
        </p:spPr>
        <p:txBody>
          <a:bodyPr wrap="square" lIns="0" tIns="0" rIns="0" bIns="0" rtlCol="0" anchor="ctr"/>
          <a:lstStyle/>
          <a:p>
            <a:pPr marL="0" indent="0" algn="r">
              <a:buNone/>
            </a:pPr>
            <a:r>
              <a:rPr lang="en-US" sz="850" dirty="0">
                <a:solidFill>
                  <a:srgbClr val="1E293B"/>
                </a:solidFill>
              </a:rPr>
              <a:t>amt_to_device_ratio (Over-claiming)</a:t>
            </a:r>
            <a:endParaRPr lang="en-US" sz="850" dirty="0"/>
          </a:p>
        </p:txBody>
      </p:sp>
      <p:sp>
        <p:nvSpPr>
          <p:cNvPr id="37" name="Shape 35"/>
          <p:cNvSpPr/>
          <p:nvPr/>
        </p:nvSpPr>
        <p:spPr>
          <a:xfrm>
            <a:off x="3474720" y="4352544"/>
            <a:ext cx="1579685" cy="329184"/>
          </a:xfrm>
          <a:prstGeom prst="rect">
            <a:avLst/>
          </a:prstGeom>
          <a:solidFill>
            <a:srgbClr val="059669"/>
          </a:solidFill>
          <a:ln/>
        </p:spPr>
        <p:txBody>
          <a:bodyPr/>
          <a:lstStyle/>
          <a:p>
            <a:endParaRPr lang="en-US"/>
          </a:p>
        </p:txBody>
      </p:sp>
      <p:sp>
        <p:nvSpPr>
          <p:cNvPr id="38" name="Text 36"/>
          <p:cNvSpPr/>
          <p:nvPr/>
        </p:nvSpPr>
        <p:spPr>
          <a:xfrm>
            <a:off x="5109269" y="4389120"/>
            <a:ext cx="457200" cy="256032"/>
          </a:xfrm>
          <a:prstGeom prst="rect">
            <a:avLst/>
          </a:prstGeom>
          <a:noFill/>
          <a:ln/>
        </p:spPr>
        <p:txBody>
          <a:bodyPr wrap="square" lIns="0" tIns="0" rIns="0" bIns="0" rtlCol="0" anchor="ctr"/>
          <a:lstStyle/>
          <a:p>
            <a:pPr marL="0" indent="0">
              <a:buNone/>
            </a:pPr>
            <a:r>
              <a:rPr lang="en-US" sz="850" b="1" dirty="0">
                <a:solidFill>
                  <a:srgbClr val="059669"/>
                </a:solidFill>
              </a:rPr>
              <a:t>0.098</a:t>
            </a:r>
            <a:endParaRPr lang="en-US" sz="850" dirty="0"/>
          </a:p>
        </p:txBody>
      </p:sp>
      <p:sp>
        <p:nvSpPr>
          <p:cNvPr id="39" name="Text 37"/>
          <p:cNvSpPr/>
          <p:nvPr/>
        </p:nvSpPr>
        <p:spPr>
          <a:xfrm>
            <a:off x="3474720" y="4754880"/>
            <a:ext cx="5029200" cy="201168"/>
          </a:xfrm>
          <a:prstGeom prst="rect">
            <a:avLst/>
          </a:prstGeom>
          <a:noFill/>
          <a:ln/>
        </p:spPr>
        <p:txBody>
          <a:bodyPr wrap="square" lIns="0" tIns="0" rIns="0" bIns="0" rtlCol="0" anchor="ctr"/>
          <a:lstStyle/>
          <a:p>
            <a:pPr marL="0" indent="0" algn="ctr">
              <a:buNone/>
            </a:pPr>
            <a:r>
              <a:rPr lang="en-US" sz="800" dirty="0">
                <a:solidFill>
                  <a:srgbClr val="64748B"/>
                </a:solidFill>
              </a:rPr>
              <a:t>Mean |SHAP| Value</a:t>
            </a:r>
            <a:endParaRPr lang="en-US" sz="800" dirty="0"/>
          </a:p>
        </p:txBody>
      </p:sp>
      <p:sp>
        <p:nvSpPr>
          <p:cNvPr id="40" name="Shape 38"/>
          <p:cNvSpPr/>
          <p:nvPr/>
        </p:nvSpPr>
        <p:spPr>
          <a:xfrm>
            <a:off x="201168" y="4617720"/>
            <a:ext cx="8741664" cy="411480"/>
          </a:xfrm>
          <a:prstGeom prst="rect">
            <a:avLst/>
          </a:prstGeom>
          <a:solidFill>
            <a:srgbClr val="EFF6FF"/>
          </a:solidFill>
          <a:ln/>
        </p:spPr>
        <p:txBody>
          <a:bodyPr/>
          <a:lstStyle/>
          <a:p>
            <a:endParaRPr lang="en-US"/>
          </a:p>
        </p:txBody>
      </p:sp>
      <p:sp>
        <p:nvSpPr>
          <p:cNvPr id="41" name="Shape 39"/>
          <p:cNvSpPr/>
          <p:nvPr/>
        </p:nvSpPr>
        <p:spPr>
          <a:xfrm>
            <a:off x="201168" y="4617720"/>
            <a:ext cx="64008" cy="411480"/>
          </a:xfrm>
          <a:prstGeom prst="rect">
            <a:avLst/>
          </a:prstGeom>
          <a:solidFill>
            <a:srgbClr val="2563EB"/>
          </a:solidFill>
          <a:ln/>
        </p:spPr>
        <p:txBody>
          <a:bodyPr/>
          <a:lstStyle/>
          <a:p>
            <a:endParaRPr lang="en-US"/>
          </a:p>
        </p:txBody>
      </p:sp>
      <p:sp>
        <p:nvSpPr>
          <p:cNvPr id="42" name="Text 40"/>
          <p:cNvSpPr/>
          <p:nvPr/>
        </p:nvSpPr>
        <p:spPr>
          <a:xfrm>
            <a:off x="320040" y="4645152"/>
            <a:ext cx="8503920" cy="347472"/>
          </a:xfrm>
          <a:prstGeom prst="rect">
            <a:avLst/>
          </a:prstGeom>
          <a:noFill/>
          <a:ln/>
        </p:spPr>
        <p:txBody>
          <a:bodyPr wrap="square" lIns="0" tIns="0" rIns="0" bIns="0" rtlCol="0" anchor="ctr"/>
          <a:lstStyle/>
          <a:p>
            <a:pPr marL="0" indent="0">
              <a:buNone/>
            </a:pPr>
            <a:r>
              <a:rPr lang="en-US" sz="850" dirty="0">
                <a:solidFill>
                  <a:srgbClr val="1B3A6B"/>
                </a:solidFill>
              </a:rPr>
              <a:t>Key Insight: No protected attributes (age, gender, geographic origin) appear in top 30 SHAP contributors. Model decisions driven entirely by behavioral and transactional signals, confirmed safe for deployment.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A6B"/>
          </a:solidFill>
          <a:ln/>
        </p:spPr>
        <p:txBody>
          <a:bodyPr/>
          <a:lstStyle/>
          <a:p>
            <a:endParaRPr lang="en-US"/>
          </a:p>
        </p:txBody>
      </p:sp>
      <p:sp>
        <p:nvSpPr>
          <p:cNvPr id="3" name="Shape 1"/>
          <p:cNvSpPr/>
          <p:nvPr/>
        </p:nvSpPr>
        <p:spPr>
          <a:xfrm>
            <a:off x="109728" y="0"/>
            <a:ext cx="9034272" cy="502920"/>
          </a:xfrm>
          <a:prstGeom prst="rect">
            <a:avLst/>
          </a:prstGeom>
          <a:solidFill>
            <a:srgbClr val="1E293B"/>
          </a:solidFill>
          <a:ln/>
        </p:spPr>
        <p:txBody>
          <a:bodyPr/>
          <a:lstStyle/>
          <a:p>
            <a:endParaRPr lang="en-US"/>
          </a:p>
        </p:txBody>
      </p:sp>
      <p:sp>
        <p:nvSpPr>
          <p:cNvPr id="4" name="Shape 2"/>
          <p:cNvSpPr/>
          <p:nvPr/>
        </p:nvSpPr>
        <p:spPr>
          <a:xfrm>
            <a:off x="228600" y="91440"/>
            <a:ext cx="1005840" cy="320040"/>
          </a:xfrm>
          <a:prstGeom prst="rect">
            <a:avLst/>
          </a:prstGeom>
          <a:solidFill>
            <a:srgbClr val="2563EB"/>
          </a:solidFill>
          <a:ln/>
        </p:spPr>
        <p:txBody>
          <a:bodyPr/>
          <a:lstStyle/>
          <a:p>
            <a:endParaRPr lang="en-US"/>
          </a:p>
        </p:txBody>
      </p:sp>
      <p:sp>
        <p:nvSpPr>
          <p:cNvPr id="5" name="Text 3"/>
          <p:cNvSpPr/>
          <p:nvPr/>
        </p:nvSpPr>
        <p:spPr>
          <a:xfrm>
            <a:off x="228600" y="91440"/>
            <a:ext cx="1005840" cy="320040"/>
          </a:xfrm>
          <a:prstGeom prst="rect">
            <a:avLst/>
          </a:prstGeom>
          <a:noFill/>
          <a:ln/>
        </p:spPr>
        <p:txBody>
          <a:bodyPr wrap="square" lIns="0" tIns="0" rIns="0" bIns="0" rtlCol="0" anchor="ctr"/>
          <a:lstStyle/>
          <a:p>
            <a:pPr marL="0" indent="0" algn="ctr">
              <a:buNone/>
            </a:pPr>
            <a:r>
              <a:rPr lang="en-US" sz="900" b="1" dirty="0">
                <a:solidFill>
                  <a:srgbClr val="FFFFFF"/>
                </a:solidFill>
              </a:rPr>
              <a:t>STEP 5</a:t>
            </a:r>
            <a:endParaRPr lang="en-US" sz="900" dirty="0"/>
          </a:p>
        </p:txBody>
      </p:sp>
      <p:sp>
        <p:nvSpPr>
          <p:cNvPr id="6" name="Text 4"/>
          <p:cNvSpPr/>
          <p:nvPr/>
        </p:nvSpPr>
        <p:spPr>
          <a:xfrm>
            <a:off x="1371600" y="82296"/>
            <a:ext cx="7498080" cy="347472"/>
          </a:xfrm>
          <a:prstGeom prst="rect">
            <a:avLst/>
          </a:prstGeom>
          <a:noFill/>
          <a:ln/>
        </p:spPr>
        <p:txBody>
          <a:bodyPr wrap="square" lIns="0" tIns="0" rIns="0" bIns="0" rtlCol="0" anchor="ctr"/>
          <a:lstStyle/>
          <a:p>
            <a:pPr marL="0" indent="0">
              <a:buNone/>
            </a:pPr>
            <a:r>
              <a:rPr lang="en-US" sz="1500" b="1" dirty="0">
                <a:solidFill>
                  <a:srgbClr val="FFFFFF"/>
                </a:solidFill>
              </a:rPr>
              <a:t>Ethical AI, Bias Detection &amp; Fairness Audit</a:t>
            </a:r>
            <a:endParaRPr lang="en-US" sz="1500" dirty="0"/>
          </a:p>
        </p:txBody>
      </p:sp>
      <p:sp>
        <p:nvSpPr>
          <p:cNvPr id="7" name="Text 5"/>
          <p:cNvSpPr/>
          <p:nvPr/>
        </p:nvSpPr>
        <p:spPr>
          <a:xfrm>
            <a:off x="109728" y="4800600"/>
            <a:ext cx="9034272" cy="320040"/>
          </a:xfrm>
          <a:prstGeom prst="rect">
            <a:avLst/>
          </a:prstGeom>
          <a:noFill/>
          <a:ln/>
        </p:spPr>
        <p:txBody>
          <a:bodyPr wrap="square" lIns="0" tIns="0" rIns="0" bIns="0" rtlCol="0" anchor="ctr"/>
          <a:lstStyle/>
          <a:p>
            <a:pPr marL="0" indent="0" algn="r">
              <a:buNone/>
            </a:pPr>
            <a:r>
              <a:rPr lang="en-US" sz="800" dirty="0">
                <a:solidFill>
                  <a:srgbClr val="64748B"/>
                </a:solidFill>
              </a:rPr>
              <a:t>ProTech Devices Asia  |  AIM Capstone 2025</a:t>
            </a:r>
            <a:endParaRPr lang="en-US" sz="800" dirty="0"/>
          </a:p>
        </p:txBody>
      </p:sp>
      <p:sp>
        <p:nvSpPr>
          <p:cNvPr id="8" name="Text 6"/>
          <p:cNvSpPr/>
          <p:nvPr/>
        </p:nvSpPr>
        <p:spPr>
          <a:xfrm>
            <a:off x="201168" y="621792"/>
            <a:ext cx="8686800" cy="256032"/>
          </a:xfrm>
          <a:prstGeom prst="rect">
            <a:avLst/>
          </a:prstGeom>
          <a:noFill/>
          <a:ln/>
        </p:spPr>
        <p:txBody>
          <a:bodyPr wrap="square" lIns="0" tIns="0" rIns="0" bIns="0" rtlCol="0" anchor="ctr"/>
          <a:lstStyle/>
          <a:p>
            <a:pPr marL="0" indent="0">
              <a:buNone/>
            </a:pPr>
            <a:r>
              <a:rPr lang="en-US" sz="900" b="1" kern="0" spc="100" dirty="0">
                <a:solidFill>
                  <a:srgbClr val="1B3A6B"/>
                </a:solidFill>
              </a:rPr>
              <a:t>FAIRNESS METRICS, PASS/FAIL SUMMARY</a:t>
            </a:r>
            <a:endParaRPr lang="en-US" sz="900" dirty="0"/>
          </a:p>
        </p:txBody>
      </p:sp>
      <p:sp>
        <p:nvSpPr>
          <p:cNvPr id="9" name="Shape 7"/>
          <p:cNvSpPr/>
          <p:nvPr/>
        </p:nvSpPr>
        <p:spPr>
          <a:xfrm>
            <a:off x="201168" y="932688"/>
            <a:ext cx="2286000" cy="292608"/>
          </a:xfrm>
          <a:prstGeom prst="rect">
            <a:avLst/>
          </a:prstGeom>
          <a:solidFill>
            <a:srgbClr val="1B3A6B"/>
          </a:solidFill>
          <a:ln/>
        </p:spPr>
        <p:txBody>
          <a:bodyPr/>
          <a:lstStyle/>
          <a:p>
            <a:endParaRPr lang="en-US"/>
          </a:p>
        </p:txBody>
      </p:sp>
      <p:sp>
        <p:nvSpPr>
          <p:cNvPr id="10" name="Text 8"/>
          <p:cNvSpPr/>
          <p:nvPr/>
        </p:nvSpPr>
        <p:spPr>
          <a:xfrm>
            <a:off x="237744" y="932688"/>
            <a:ext cx="2212848" cy="292608"/>
          </a:xfrm>
          <a:prstGeom prst="rect">
            <a:avLst/>
          </a:prstGeom>
          <a:noFill/>
          <a:ln/>
        </p:spPr>
        <p:txBody>
          <a:bodyPr wrap="square" lIns="0" tIns="0" rIns="0" bIns="0" rtlCol="0" anchor="ctr"/>
          <a:lstStyle/>
          <a:p>
            <a:pPr marL="0" indent="0" algn="ctr">
              <a:buNone/>
            </a:pPr>
            <a:r>
              <a:rPr lang="en-US" sz="800" b="1" dirty="0">
                <a:solidFill>
                  <a:srgbClr val="FFFFFF"/>
                </a:solidFill>
              </a:rPr>
              <a:t>Fairness Metric</a:t>
            </a:r>
            <a:endParaRPr lang="en-US" sz="800" dirty="0"/>
          </a:p>
        </p:txBody>
      </p:sp>
      <p:sp>
        <p:nvSpPr>
          <p:cNvPr id="11" name="Shape 9"/>
          <p:cNvSpPr/>
          <p:nvPr/>
        </p:nvSpPr>
        <p:spPr>
          <a:xfrm>
            <a:off x="2487168" y="932688"/>
            <a:ext cx="2926080" cy="292608"/>
          </a:xfrm>
          <a:prstGeom prst="rect">
            <a:avLst/>
          </a:prstGeom>
          <a:solidFill>
            <a:srgbClr val="1B3A6B"/>
          </a:solidFill>
          <a:ln/>
        </p:spPr>
        <p:txBody>
          <a:bodyPr/>
          <a:lstStyle/>
          <a:p>
            <a:endParaRPr lang="en-US"/>
          </a:p>
        </p:txBody>
      </p:sp>
      <p:sp>
        <p:nvSpPr>
          <p:cNvPr id="12" name="Text 10"/>
          <p:cNvSpPr/>
          <p:nvPr/>
        </p:nvSpPr>
        <p:spPr>
          <a:xfrm>
            <a:off x="2523744" y="932688"/>
            <a:ext cx="2852928" cy="292608"/>
          </a:xfrm>
          <a:prstGeom prst="rect">
            <a:avLst/>
          </a:prstGeom>
          <a:noFill/>
          <a:ln/>
        </p:spPr>
        <p:txBody>
          <a:bodyPr wrap="square" lIns="0" tIns="0" rIns="0" bIns="0" rtlCol="0" anchor="ctr"/>
          <a:lstStyle/>
          <a:p>
            <a:pPr marL="0" indent="0" algn="ctr">
              <a:buNone/>
            </a:pPr>
            <a:r>
              <a:rPr lang="en-US" sz="800" b="1" dirty="0">
                <a:solidFill>
                  <a:srgbClr val="FFFFFF"/>
                </a:solidFill>
              </a:rPr>
              <a:t>Definition</a:t>
            </a:r>
            <a:endParaRPr lang="en-US" sz="800" dirty="0"/>
          </a:p>
        </p:txBody>
      </p:sp>
      <p:sp>
        <p:nvSpPr>
          <p:cNvPr id="13" name="Shape 11"/>
          <p:cNvSpPr/>
          <p:nvPr/>
        </p:nvSpPr>
        <p:spPr>
          <a:xfrm>
            <a:off x="5413248" y="932688"/>
            <a:ext cx="914400" cy="292608"/>
          </a:xfrm>
          <a:prstGeom prst="rect">
            <a:avLst/>
          </a:prstGeom>
          <a:solidFill>
            <a:srgbClr val="1B3A6B"/>
          </a:solidFill>
          <a:ln/>
        </p:spPr>
        <p:txBody>
          <a:bodyPr/>
          <a:lstStyle/>
          <a:p>
            <a:endParaRPr lang="en-US"/>
          </a:p>
        </p:txBody>
      </p:sp>
      <p:sp>
        <p:nvSpPr>
          <p:cNvPr id="14" name="Text 12"/>
          <p:cNvSpPr/>
          <p:nvPr/>
        </p:nvSpPr>
        <p:spPr>
          <a:xfrm>
            <a:off x="5449824" y="932688"/>
            <a:ext cx="841248" cy="292608"/>
          </a:xfrm>
          <a:prstGeom prst="rect">
            <a:avLst/>
          </a:prstGeom>
          <a:noFill/>
          <a:ln/>
        </p:spPr>
        <p:txBody>
          <a:bodyPr wrap="square" lIns="0" tIns="0" rIns="0" bIns="0" rtlCol="0" anchor="ctr"/>
          <a:lstStyle/>
          <a:p>
            <a:pPr marL="0" indent="0" algn="ctr">
              <a:buNone/>
            </a:pPr>
            <a:r>
              <a:rPr lang="en-US" sz="800" b="1" dirty="0">
                <a:solidFill>
                  <a:srgbClr val="FFFFFF"/>
                </a:solidFill>
              </a:rPr>
              <a:t>Value</a:t>
            </a:r>
            <a:endParaRPr lang="en-US" sz="800" dirty="0"/>
          </a:p>
        </p:txBody>
      </p:sp>
      <p:sp>
        <p:nvSpPr>
          <p:cNvPr id="15" name="Shape 13"/>
          <p:cNvSpPr/>
          <p:nvPr/>
        </p:nvSpPr>
        <p:spPr>
          <a:xfrm>
            <a:off x="6327648" y="932688"/>
            <a:ext cx="914400" cy="292608"/>
          </a:xfrm>
          <a:prstGeom prst="rect">
            <a:avLst/>
          </a:prstGeom>
          <a:solidFill>
            <a:srgbClr val="1B3A6B"/>
          </a:solidFill>
          <a:ln/>
        </p:spPr>
        <p:txBody>
          <a:bodyPr/>
          <a:lstStyle/>
          <a:p>
            <a:endParaRPr lang="en-US"/>
          </a:p>
        </p:txBody>
      </p:sp>
      <p:sp>
        <p:nvSpPr>
          <p:cNvPr id="16" name="Text 14"/>
          <p:cNvSpPr/>
          <p:nvPr/>
        </p:nvSpPr>
        <p:spPr>
          <a:xfrm>
            <a:off x="6364224" y="932688"/>
            <a:ext cx="841248" cy="292608"/>
          </a:xfrm>
          <a:prstGeom prst="rect">
            <a:avLst/>
          </a:prstGeom>
          <a:noFill/>
          <a:ln/>
        </p:spPr>
        <p:txBody>
          <a:bodyPr wrap="square" lIns="0" tIns="0" rIns="0" bIns="0" rtlCol="0" anchor="ctr"/>
          <a:lstStyle/>
          <a:p>
            <a:pPr marL="0" indent="0" algn="ctr">
              <a:buNone/>
            </a:pPr>
            <a:r>
              <a:rPr lang="en-US" sz="800" b="1" dirty="0">
                <a:solidFill>
                  <a:srgbClr val="FFFFFF"/>
                </a:solidFill>
              </a:rPr>
              <a:t>Threshold</a:t>
            </a:r>
            <a:endParaRPr lang="en-US" sz="800" dirty="0"/>
          </a:p>
        </p:txBody>
      </p:sp>
      <p:sp>
        <p:nvSpPr>
          <p:cNvPr id="17" name="Shape 15"/>
          <p:cNvSpPr/>
          <p:nvPr/>
        </p:nvSpPr>
        <p:spPr>
          <a:xfrm>
            <a:off x="7242048" y="932688"/>
            <a:ext cx="914400" cy="292608"/>
          </a:xfrm>
          <a:prstGeom prst="rect">
            <a:avLst/>
          </a:prstGeom>
          <a:solidFill>
            <a:srgbClr val="1B3A6B"/>
          </a:solidFill>
          <a:ln/>
        </p:spPr>
        <p:txBody>
          <a:bodyPr/>
          <a:lstStyle/>
          <a:p>
            <a:endParaRPr lang="en-US"/>
          </a:p>
        </p:txBody>
      </p:sp>
      <p:sp>
        <p:nvSpPr>
          <p:cNvPr id="18" name="Text 16"/>
          <p:cNvSpPr/>
          <p:nvPr/>
        </p:nvSpPr>
        <p:spPr>
          <a:xfrm>
            <a:off x="7278624" y="932688"/>
            <a:ext cx="841248" cy="292608"/>
          </a:xfrm>
          <a:prstGeom prst="rect">
            <a:avLst/>
          </a:prstGeom>
          <a:noFill/>
          <a:ln/>
        </p:spPr>
        <p:txBody>
          <a:bodyPr wrap="square" lIns="0" tIns="0" rIns="0" bIns="0" rtlCol="0" anchor="ctr"/>
          <a:lstStyle/>
          <a:p>
            <a:pPr marL="0" indent="0" algn="ctr">
              <a:buNone/>
            </a:pPr>
            <a:r>
              <a:rPr lang="en-US" sz="800" b="1" dirty="0">
                <a:solidFill>
                  <a:srgbClr val="FFFFFF"/>
                </a:solidFill>
              </a:rPr>
              <a:t>Status</a:t>
            </a:r>
            <a:endParaRPr lang="en-US" sz="800" dirty="0"/>
          </a:p>
        </p:txBody>
      </p:sp>
      <p:sp>
        <p:nvSpPr>
          <p:cNvPr id="19" name="Shape 17"/>
          <p:cNvSpPr/>
          <p:nvPr/>
        </p:nvSpPr>
        <p:spPr>
          <a:xfrm>
            <a:off x="201168" y="1243584"/>
            <a:ext cx="2286000" cy="384048"/>
          </a:xfrm>
          <a:prstGeom prst="rect">
            <a:avLst/>
          </a:prstGeom>
          <a:solidFill>
            <a:srgbClr val="FFFFFF"/>
          </a:solidFill>
          <a:ln/>
        </p:spPr>
        <p:txBody>
          <a:bodyPr/>
          <a:lstStyle/>
          <a:p>
            <a:endParaRPr lang="en-US"/>
          </a:p>
        </p:txBody>
      </p:sp>
      <p:sp>
        <p:nvSpPr>
          <p:cNvPr id="20" name="Text 18"/>
          <p:cNvSpPr/>
          <p:nvPr/>
        </p:nvSpPr>
        <p:spPr>
          <a:xfrm>
            <a:off x="237744" y="1243584"/>
            <a:ext cx="2212848" cy="384048"/>
          </a:xfrm>
          <a:prstGeom prst="rect">
            <a:avLst/>
          </a:prstGeom>
          <a:noFill/>
          <a:ln/>
        </p:spPr>
        <p:txBody>
          <a:bodyPr wrap="square" lIns="0" tIns="0" rIns="0" bIns="0" rtlCol="0" anchor="ctr"/>
          <a:lstStyle/>
          <a:p>
            <a:pPr marL="0" indent="0" algn="l">
              <a:buNone/>
            </a:pPr>
            <a:r>
              <a:rPr lang="en-US" sz="850" dirty="0">
                <a:solidFill>
                  <a:srgbClr val="1E293B"/>
                </a:solidFill>
              </a:rPr>
              <a:t>Demographic Parity</a:t>
            </a:r>
            <a:endParaRPr lang="en-US" sz="850" dirty="0"/>
          </a:p>
        </p:txBody>
      </p:sp>
      <p:sp>
        <p:nvSpPr>
          <p:cNvPr id="21" name="Shape 19"/>
          <p:cNvSpPr/>
          <p:nvPr/>
        </p:nvSpPr>
        <p:spPr>
          <a:xfrm>
            <a:off x="2487168" y="1243584"/>
            <a:ext cx="2926080" cy="384048"/>
          </a:xfrm>
          <a:prstGeom prst="rect">
            <a:avLst/>
          </a:prstGeom>
          <a:solidFill>
            <a:srgbClr val="FFFFFF"/>
          </a:solidFill>
          <a:ln/>
        </p:spPr>
        <p:txBody>
          <a:bodyPr/>
          <a:lstStyle/>
          <a:p>
            <a:endParaRPr lang="en-US"/>
          </a:p>
        </p:txBody>
      </p:sp>
      <p:sp>
        <p:nvSpPr>
          <p:cNvPr id="22" name="Text 20"/>
          <p:cNvSpPr/>
          <p:nvPr/>
        </p:nvSpPr>
        <p:spPr>
          <a:xfrm>
            <a:off x="2523744" y="1243584"/>
            <a:ext cx="2852928" cy="384048"/>
          </a:xfrm>
          <a:prstGeom prst="rect">
            <a:avLst/>
          </a:prstGeom>
          <a:noFill/>
          <a:ln/>
        </p:spPr>
        <p:txBody>
          <a:bodyPr wrap="square" lIns="0" tIns="0" rIns="0" bIns="0" rtlCol="0" anchor="ctr"/>
          <a:lstStyle/>
          <a:p>
            <a:pPr marL="0" indent="0" algn="l">
              <a:buNone/>
            </a:pPr>
            <a:r>
              <a:rPr lang="en-US" sz="850" dirty="0">
                <a:solidFill>
                  <a:srgbClr val="1E293B"/>
                </a:solidFill>
              </a:rPr>
              <a:t>Difference in +ve prediction rates (geographic groups)</a:t>
            </a:r>
            <a:endParaRPr lang="en-US" sz="850" dirty="0"/>
          </a:p>
        </p:txBody>
      </p:sp>
      <p:sp>
        <p:nvSpPr>
          <p:cNvPr id="23" name="Shape 21"/>
          <p:cNvSpPr/>
          <p:nvPr/>
        </p:nvSpPr>
        <p:spPr>
          <a:xfrm>
            <a:off x="5413248" y="1243584"/>
            <a:ext cx="914400" cy="384048"/>
          </a:xfrm>
          <a:prstGeom prst="rect">
            <a:avLst/>
          </a:prstGeom>
          <a:solidFill>
            <a:srgbClr val="FFFFFF"/>
          </a:solidFill>
          <a:ln/>
        </p:spPr>
        <p:txBody>
          <a:bodyPr/>
          <a:lstStyle/>
          <a:p>
            <a:endParaRPr lang="en-US"/>
          </a:p>
        </p:txBody>
      </p:sp>
      <p:sp>
        <p:nvSpPr>
          <p:cNvPr id="24" name="Text 22"/>
          <p:cNvSpPr/>
          <p:nvPr/>
        </p:nvSpPr>
        <p:spPr>
          <a:xfrm>
            <a:off x="5449824" y="1243584"/>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0.089</a:t>
            </a:r>
            <a:endParaRPr lang="en-US" sz="850" dirty="0"/>
          </a:p>
        </p:txBody>
      </p:sp>
      <p:sp>
        <p:nvSpPr>
          <p:cNvPr id="25" name="Shape 23"/>
          <p:cNvSpPr/>
          <p:nvPr/>
        </p:nvSpPr>
        <p:spPr>
          <a:xfrm>
            <a:off x="6327648" y="1243584"/>
            <a:ext cx="914400" cy="384048"/>
          </a:xfrm>
          <a:prstGeom prst="rect">
            <a:avLst/>
          </a:prstGeom>
          <a:solidFill>
            <a:srgbClr val="FFFFFF"/>
          </a:solidFill>
          <a:ln/>
        </p:spPr>
        <p:txBody>
          <a:bodyPr/>
          <a:lstStyle/>
          <a:p>
            <a:endParaRPr lang="en-US"/>
          </a:p>
        </p:txBody>
      </p:sp>
      <p:sp>
        <p:nvSpPr>
          <p:cNvPr id="26" name="Text 24"/>
          <p:cNvSpPr/>
          <p:nvPr/>
        </p:nvSpPr>
        <p:spPr>
          <a:xfrm>
            <a:off x="6364224" y="1243584"/>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&lt; 0.10</a:t>
            </a:r>
            <a:endParaRPr lang="en-US" sz="850" dirty="0"/>
          </a:p>
        </p:txBody>
      </p:sp>
      <p:sp>
        <p:nvSpPr>
          <p:cNvPr id="27" name="Shape 25"/>
          <p:cNvSpPr/>
          <p:nvPr/>
        </p:nvSpPr>
        <p:spPr>
          <a:xfrm>
            <a:off x="7242048" y="1243584"/>
            <a:ext cx="914400" cy="384048"/>
          </a:xfrm>
          <a:prstGeom prst="rect">
            <a:avLst/>
          </a:prstGeom>
          <a:solidFill>
            <a:srgbClr val="FFFFFF"/>
          </a:solidFill>
          <a:ln/>
        </p:spPr>
        <p:txBody>
          <a:bodyPr/>
          <a:lstStyle/>
          <a:p>
            <a:endParaRPr lang="en-US"/>
          </a:p>
        </p:txBody>
      </p:sp>
      <p:sp>
        <p:nvSpPr>
          <p:cNvPr id="28" name="Text 26"/>
          <p:cNvSpPr/>
          <p:nvPr/>
        </p:nvSpPr>
        <p:spPr>
          <a:xfrm>
            <a:off x="7278624" y="1243584"/>
            <a:ext cx="841248" cy="384048"/>
          </a:xfrm>
          <a:prstGeom prst="rect">
            <a:avLst/>
          </a:prstGeom>
          <a:noFill/>
          <a:ln/>
        </p:spPr>
        <p:txBody>
          <a:bodyPr wrap="square" lIns="0" tIns="0" rIns="0" bIns="0" rtlCol="0" anchor="ctr"/>
          <a:lstStyle/>
          <a:p>
            <a:pPr marL="0" indent="0" algn="ctr">
              <a:buNone/>
            </a:pPr>
            <a:r>
              <a:rPr lang="en-US" sz="850" b="1" dirty="0">
                <a:solidFill>
                  <a:srgbClr val="059669"/>
                </a:solidFill>
              </a:rPr>
              <a:t>PASS</a:t>
            </a:r>
            <a:endParaRPr lang="en-US" sz="850" dirty="0"/>
          </a:p>
        </p:txBody>
      </p:sp>
      <p:sp>
        <p:nvSpPr>
          <p:cNvPr id="29" name="Shape 27"/>
          <p:cNvSpPr/>
          <p:nvPr/>
        </p:nvSpPr>
        <p:spPr>
          <a:xfrm>
            <a:off x="201168" y="1627632"/>
            <a:ext cx="2286000" cy="384048"/>
          </a:xfrm>
          <a:prstGeom prst="rect">
            <a:avLst/>
          </a:prstGeom>
          <a:solidFill>
            <a:srgbClr val="F1F5F9"/>
          </a:solidFill>
          <a:ln/>
        </p:spPr>
        <p:txBody>
          <a:bodyPr/>
          <a:lstStyle/>
          <a:p>
            <a:endParaRPr lang="en-US"/>
          </a:p>
        </p:txBody>
      </p:sp>
      <p:sp>
        <p:nvSpPr>
          <p:cNvPr id="30" name="Text 28"/>
          <p:cNvSpPr/>
          <p:nvPr/>
        </p:nvSpPr>
        <p:spPr>
          <a:xfrm>
            <a:off x="237744" y="1627632"/>
            <a:ext cx="2212848" cy="384048"/>
          </a:xfrm>
          <a:prstGeom prst="rect">
            <a:avLst/>
          </a:prstGeom>
          <a:noFill/>
          <a:ln/>
        </p:spPr>
        <p:txBody>
          <a:bodyPr wrap="square" lIns="0" tIns="0" rIns="0" bIns="0" rtlCol="0" anchor="ctr"/>
          <a:lstStyle/>
          <a:p>
            <a:pPr marL="0" indent="0" algn="l">
              <a:buNone/>
            </a:pPr>
            <a:r>
              <a:rPr lang="en-US" sz="850" dirty="0">
                <a:solidFill>
                  <a:srgbClr val="1E293B"/>
                </a:solidFill>
              </a:rPr>
              <a:t>Equalized Odds, TPR</a:t>
            </a:r>
            <a:endParaRPr lang="en-US" sz="850" dirty="0"/>
          </a:p>
        </p:txBody>
      </p:sp>
      <p:sp>
        <p:nvSpPr>
          <p:cNvPr id="31" name="Shape 29"/>
          <p:cNvSpPr/>
          <p:nvPr/>
        </p:nvSpPr>
        <p:spPr>
          <a:xfrm>
            <a:off x="2487168" y="1627632"/>
            <a:ext cx="2926080" cy="384048"/>
          </a:xfrm>
          <a:prstGeom prst="rect">
            <a:avLst/>
          </a:prstGeom>
          <a:solidFill>
            <a:srgbClr val="F1F5F9"/>
          </a:solidFill>
          <a:ln/>
        </p:spPr>
        <p:txBody>
          <a:bodyPr/>
          <a:lstStyle/>
          <a:p>
            <a:endParaRPr lang="en-US"/>
          </a:p>
        </p:txBody>
      </p:sp>
      <p:sp>
        <p:nvSpPr>
          <p:cNvPr id="32" name="Text 30"/>
          <p:cNvSpPr/>
          <p:nvPr/>
        </p:nvSpPr>
        <p:spPr>
          <a:xfrm>
            <a:off x="2523744" y="1627632"/>
            <a:ext cx="2852928" cy="384048"/>
          </a:xfrm>
          <a:prstGeom prst="rect">
            <a:avLst/>
          </a:prstGeom>
          <a:noFill/>
          <a:ln/>
        </p:spPr>
        <p:txBody>
          <a:bodyPr wrap="square" lIns="0" tIns="0" rIns="0" bIns="0" rtlCol="0" anchor="ctr"/>
          <a:lstStyle/>
          <a:p>
            <a:pPr marL="0" indent="0" algn="l">
              <a:buNone/>
            </a:pPr>
            <a:r>
              <a:rPr lang="en-US" sz="850" dirty="0">
                <a:solidFill>
                  <a:srgbClr val="1E293B"/>
                </a:solidFill>
              </a:rPr>
              <a:t>Diff. in True Positive Rate (payment method groups)</a:t>
            </a:r>
            <a:endParaRPr lang="en-US" sz="850" dirty="0"/>
          </a:p>
        </p:txBody>
      </p:sp>
      <p:sp>
        <p:nvSpPr>
          <p:cNvPr id="33" name="Shape 31"/>
          <p:cNvSpPr/>
          <p:nvPr/>
        </p:nvSpPr>
        <p:spPr>
          <a:xfrm>
            <a:off x="5413248" y="1627632"/>
            <a:ext cx="914400" cy="384048"/>
          </a:xfrm>
          <a:prstGeom prst="rect">
            <a:avLst/>
          </a:prstGeom>
          <a:solidFill>
            <a:srgbClr val="F1F5F9"/>
          </a:solidFill>
          <a:ln/>
        </p:spPr>
        <p:txBody>
          <a:bodyPr/>
          <a:lstStyle/>
          <a:p>
            <a:endParaRPr lang="en-US"/>
          </a:p>
        </p:txBody>
      </p:sp>
      <p:sp>
        <p:nvSpPr>
          <p:cNvPr id="34" name="Text 32"/>
          <p:cNvSpPr/>
          <p:nvPr/>
        </p:nvSpPr>
        <p:spPr>
          <a:xfrm>
            <a:off x="5449824" y="1627632"/>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0.071</a:t>
            </a:r>
            <a:endParaRPr lang="en-US" sz="850" dirty="0"/>
          </a:p>
        </p:txBody>
      </p:sp>
      <p:sp>
        <p:nvSpPr>
          <p:cNvPr id="35" name="Shape 33"/>
          <p:cNvSpPr/>
          <p:nvPr/>
        </p:nvSpPr>
        <p:spPr>
          <a:xfrm>
            <a:off x="6327648" y="1627632"/>
            <a:ext cx="914400" cy="384048"/>
          </a:xfrm>
          <a:prstGeom prst="rect">
            <a:avLst/>
          </a:prstGeom>
          <a:solidFill>
            <a:srgbClr val="F1F5F9"/>
          </a:solidFill>
          <a:ln/>
        </p:spPr>
        <p:txBody>
          <a:bodyPr/>
          <a:lstStyle/>
          <a:p>
            <a:endParaRPr lang="en-US"/>
          </a:p>
        </p:txBody>
      </p:sp>
      <p:sp>
        <p:nvSpPr>
          <p:cNvPr id="36" name="Text 34"/>
          <p:cNvSpPr/>
          <p:nvPr/>
        </p:nvSpPr>
        <p:spPr>
          <a:xfrm>
            <a:off x="6364224" y="1627632"/>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&lt; 0.10</a:t>
            </a:r>
            <a:endParaRPr lang="en-US" sz="850" dirty="0"/>
          </a:p>
        </p:txBody>
      </p:sp>
      <p:sp>
        <p:nvSpPr>
          <p:cNvPr id="37" name="Shape 35"/>
          <p:cNvSpPr/>
          <p:nvPr/>
        </p:nvSpPr>
        <p:spPr>
          <a:xfrm>
            <a:off x="7242048" y="1627632"/>
            <a:ext cx="914400" cy="384048"/>
          </a:xfrm>
          <a:prstGeom prst="rect">
            <a:avLst/>
          </a:prstGeom>
          <a:solidFill>
            <a:srgbClr val="F1F5F9"/>
          </a:solidFill>
          <a:ln/>
        </p:spPr>
        <p:txBody>
          <a:bodyPr/>
          <a:lstStyle/>
          <a:p>
            <a:endParaRPr lang="en-US"/>
          </a:p>
        </p:txBody>
      </p:sp>
      <p:sp>
        <p:nvSpPr>
          <p:cNvPr id="38" name="Text 36"/>
          <p:cNvSpPr/>
          <p:nvPr/>
        </p:nvSpPr>
        <p:spPr>
          <a:xfrm>
            <a:off x="7278624" y="1627632"/>
            <a:ext cx="841248" cy="384048"/>
          </a:xfrm>
          <a:prstGeom prst="rect">
            <a:avLst/>
          </a:prstGeom>
          <a:noFill/>
          <a:ln/>
        </p:spPr>
        <p:txBody>
          <a:bodyPr wrap="square" lIns="0" tIns="0" rIns="0" bIns="0" rtlCol="0" anchor="ctr"/>
          <a:lstStyle/>
          <a:p>
            <a:pPr marL="0" indent="0" algn="ctr">
              <a:buNone/>
            </a:pPr>
            <a:r>
              <a:rPr lang="en-US" sz="850" b="1" dirty="0">
                <a:solidFill>
                  <a:srgbClr val="059669"/>
                </a:solidFill>
              </a:rPr>
              <a:t>PASS</a:t>
            </a:r>
            <a:endParaRPr lang="en-US" sz="850" dirty="0"/>
          </a:p>
        </p:txBody>
      </p:sp>
      <p:sp>
        <p:nvSpPr>
          <p:cNvPr id="39" name="Shape 37"/>
          <p:cNvSpPr/>
          <p:nvPr/>
        </p:nvSpPr>
        <p:spPr>
          <a:xfrm>
            <a:off x="201168" y="2011680"/>
            <a:ext cx="2286000" cy="384048"/>
          </a:xfrm>
          <a:prstGeom prst="rect">
            <a:avLst/>
          </a:prstGeom>
          <a:solidFill>
            <a:srgbClr val="FFFFFF"/>
          </a:solidFill>
          <a:ln/>
        </p:spPr>
        <p:txBody>
          <a:bodyPr/>
          <a:lstStyle/>
          <a:p>
            <a:endParaRPr lang="en-US"/>
          </a:p>
        </p:txBody>
      </p:sp>
      <p:sp>
        <p:nvSpPr>
          <p:cNvPr id="40" name="Text 38"/>
          <p:cNvSpPr/>
          <p:nvPr/>
        </p:nvSpPr>
        <p:spPr>
          <a:xfrm>
            <a:off x="237744" y="2011680"/>
            <a:ext cx="2212848" cy="384048"/>
          </a:xfrm>
          <a:prstGeom prst="rect">
            <a:avLst/>
          </a:prstGeom>
          <a:noFill/>
          <a:ln/>
        </p:spPr>
        <p:txBody>
          <a:bodyPr wrap="square" lIns="0" tIns="0" rIns="0" bIns="0" rtlCol="0" anchor="ctr"/>
          <a:lstStyle/>
          <a:p>
            <a:pPr marL="0" indent="0" algn="l">
              <a:buNone/>
            </a:pPr>
            <a:r>
              <a:rPr lang="en-US" sz="850" dirty="0">
                <a:solidFill>
                  <a:srgbClr val="1E293B"/>
                </a:solidFill>
              </a:rPr>
              <a:t>Equalized Odds, FPR</a:t>
            </a:r>
            <a:endParaRPr lang="en-US" sz="850" dirty="0"/>
          </a:p>
        </p:txBody>
      </p:sp>
      <p:sp>
        <p:nvSpPr>
          <p:cNvPr id="41" name="Shape 39"/>
          <p:cNvSpPr/>
          <p:nvPr/>
        </p:nvSpPr>
        <p:spPr>
          <a:xfrm>
            <a:off x="2487168" y="2011680"/>
            <a:ext cx="2926080" cy="384048"/>
          </a:xfrm>
          <a:prstGeom prst="rect">
            <a:avLst/>
          </a:prstGeom>
          <a:solidFill>
            <a:srgbClr val="FFFFFF"/>
          </a:solidFill>
          <a:ln/>
        </p:spPr>
        <p:txBody>
          <a:bodyPr/>
          <a:lstStyle/>
          <a:p>
            <a:endParaRPr lang="en-US"/>
          </a:p>
        </p:txBody>
      </p:sp>
      <p:sp>
        <p:nvSpPr>
          <p:cNvPr id="42" name="Text 40"/>
          <p:cNvSpPr/>
          <p:nvPr/>
        </p:nvSpPr>
        <p:spPr>
          <a:xfrm>
            <a:off x="2523744" y="2011680"/>
            <a:ext cx="2852928" cy="384048"/>
          </a:xfrm>
          <a:prstGeom prst="rect">
            <a:avLst/>
          </a:prstGeom>
          <a:noFill/>
          <a:ln/>
        </p:spPr>
        <p:txBody>
          <a:bodyPr wrap="square" lIns="0" tIns="0" rIns="0" bIns="0" rtlCol="0" anchor="ctr"/>
          <a:lstStyle/>
          <a:p>
            <a:pPr marL="0" indent="0" algn="l">
              <a:buNone/>
            </a:pPr>
            <a:r>
              <a:rPr lang="en-US" sz="850" dirty="0">
                <a:solidFill>
                  <a:srgbClr val="1E293B"/>
                </a:solidFill>
              </a:rPr>
              <a:t>Diff. in False Positive Rate (geographic groups)</a:t>
            </a:r>
            <a:endParaRPr lang="en-US" sz="850" dirty="0"/>
          </a:p>
        </p:txBody>
      </p:sp>
      <p:sp>
        <p:nvSpPr>
          <p:cNvPr id="43" name="Shape 41"/>
          <p:cNvSpPr/>
          <p:nvPr/>
        </p:nvSpPr>
        <p:spPr>
          <a:xfrm>
            <a:off x="5413248" y="2011680"/>
            <a:ext cx="914400" cy="384048"/>
          </a:xfrm>
          <a:prstGeom prst="rect">
            <a:avLst/>
          </a:prstGeom>
          <a:solidFill>
            <a:srgbClr val="FFFFFF"/>
          </a:solidFill>
          <a:ln/>
        </p:spPr>
        <p:txBody>
          <a:bodyPr/>
          <a:lstStyle/>
          <a:p>
            <a:endParaRPr lang="en-US"/>
          </a:p>
        </p:txBody>
      </p:sp>
      <p:sp>
        <p:nvSpPr>
          <p:cNvPr id="44" name="Text 42"/>
          <p:cNvSpPr/>
          <p:nvPr/>
        </p:nvSpPr>
        <p:spPr>
          <a:xfrm>
            <a:off x="5449824" y="2011680"/>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0.034</a:t>
            </a:r>
            <a:endParaRPr lang="en-US" sz="850" dirty="0"/>
          </a:p>
        </p:txBody>
      </p:sp>
      <p:sp>
        <p:nvSpPr>
          <p:cNvPr id="45" name="Shape 43"/>
          <p:cNvSpPr/>
          <p:nvPr/>
        </p:nvSpPr>
        <p:spPr>
          <a:xfrm>
            <a:off x="6327648" y="2011680"/>
            <a:ext cx="914400" cy="384048"/>
          </a:xfrm>
          <a:prstGeom prst="rect">
            <a:avLst/>
          </a:prstGeom>
          <a:solidFill>
            <a:srgbClr val="FFFFFF"/>
          </a:solidFill>
          <a:ln/>
        </p:spPr>
        <p:txBody>
          <a:bodyPr/>
          <a:lstStyle/>
          <a:p>
            <a:endParaRPr lang="en-US"/>
          </a:p>
        </p:txBody>
      </p:sp>
      <p:sp>
        <p:nvSpPr>
          <p:cNvPr id="46" name="Text 44"/>
          <p:cNvSpPr/>
          <p:nvPr/>
        </p:nvSpPr>
        <p:spPr>
          <a:xfrm>
            <a:off x="6364224" y="2011680"/>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&lt; 0.10</a:t>
            </a:r>
            <a:endParaRPr lang="en-US" sz="850" dirty="0"/>
          </a:p>
        </p:txBody>
      </p:sp>
      <p:sp>
        <p:nvSpPr>
          <p:cNvPr id="47" name="Shape 45"/>
          <p:cNvSpPr/>
          <p:nvPr/>
        </p:nvSpPr>
        <p:spPr>
          <a:xfrm>
            <a:off x="7242048" y="2011680"/>
            <a:ext cx="914400" cy="384048"/>
          </a:xfrm>
          <a:prstGeom prst="rect">
            <a:avLst/>
          </a:prstGeom>
          <a:solidFill>
            <a:srgbClr val="FFFFFF"/>
          </a:solidFill>
          <a:ln/>
        </p:spPr>
        <p:txBody>
          <a:bodyPr/>
          <a:lstStyle/>
          <a:p>
            <a:endParaRPr lang="en-US"/>
          </a:p>
        </p:txBody>
      </p:sp>
      <p:sp>
        <p:nvSpPr>
          <p:cNvPr id="48" name="Text 46"/>
          <p:cNvSpPr/>
          <p:nvPr/>
        </p:nvSpPr>
        <p:spPr>
          <a:xfrm>
            <a:off x="7278624" y="2011680"/>
            <a:ext cx="841248" cy="384048"/>
          </a:xfrm>
          <a:prstGeom prst="rect">
            <a:avLst/>
          </a:prstGeom>
          <a:noFill/>
          <a:ln/>
        </p:spPr>
        <p:txBody>
          <a:bodyPr wrap="square" lIns="0" tIns="0" rIns="0" bIns="0" rtlCol="0" anchor="ctr"/>
          <a:lstStyle/>
          <a:p>
            <a:pPr marL="0" indent="0" algn="ctr">
              <a:buNone/>
            </a:pPr>
            <a:r>
              <a:rPr lang="en-US" sz="850" b="1" dirty="0">
                <a:solidFill>
                  <a:srgbClr val="059669"/>
                </a:solidFill>
              </a:rPr>
              <a:t>PASS</a:t>
            </a:r>
            <a:endParaRPr lang="en-US" sz="850" dirty="0"/>
          </a:p>
        </p:txBody>
      </p:sp>
      <p:sp>
        <p:nvSpPr>
          <p:cNvPr id="49" name="Shape 47"/>
          <p:cNvSpPr/>
          <p:nvPr/>
        </p:nvSpPr>
        <p:spPr>
          <a:xfrm>
            <a:off x="201168" y="2395728"/>
            <a:ext cx="2286000" cy="384048"/>
          </a:xfrm>
          <a:prstGeom prst="rect">
            <a:avLst/>
          </a:prstGeom>
          <a:solidFill>
            <a:srgbClr val="F1F5F9"/>
          </a:solidFill>
          <a:ln/>
        </p:spPr>
        <p:txBody>
          <a:bodyPr/>
          <a:lstStyle/>
          <a:p>
            <a:endParaRPr lang="en-US"/>
          </a:p>
        </p:txBody>
      </p:sp>
      <p:sp>
        <p:nvSpPr>
          <p:cNvPr id="50" name="Text 48"/>
          <p:cNvSpPr/>
          <p:nvPr/>
        </p:nvSpPr>
        <p:spPr>
          <a:xfrm>
            <a:off x="237744" y="2395728"/>
            <a:ext cx="2212848" cy="384048"/>
          </a:xfrm>
          <a:prstGeom prst="rect">
            <a:avLst/>
          </a:prstGeom>
          <a:noFill/>
          <a:ln/>
        </p:spPr>
        <p:txBody>
          <a:bodyPr wrap="square" lIns="0" tIns="0" rIns="0" bIns="0" rtlCol="0" anchor="ctr"/>
          <a:lstStyle/>
          <a:p>
            <a:pPr marL="0" indent="0" algn="l">
              <a:buNone/>
            </a:pPr>
            <a:r>
              <a:rPr lang="en-US" sz="850" dirty="0">
                <a:solidFill>
                  <a:srgbClr val="1E293B"/>
                </a:solidFill>
              </a:rPr>
              <a:t>Disparate Impact Ratio</a:t>
            </a:r>
            <a:endParaRPr lang="en-US" sz="850" dirty="0"/>
          </a:p>
        </p:txBody>
      </p:sp>
      <p:sp>
        <p:nvSpPr>
          <p:cNvPr id="51" name="Shape 49"/>
          <p:cNvSpPr/>
          <p:nvPr/>
        </p:nvSpPr>
        <p:spPr>
          <a:xfrm>
            <a:off x="2487168" y="2395728"/>
            <a:ext cx="2926080" cy="384048"/>
          </a:xfrm>
          <a:prstGeom prst="rect">
            <a:avLst/>
          </a:prstGeom>
          <a:solidFill>
            <a:srgbClr val="F1F5F9"/>
          </a:solidFill>
          <a:ln/>
        </p:spPr>
        <p:txBody>
          <a:bodyPr/>
          <a:lstStyle/>
          <a:p>
            <a:endParaRPr lang="en-US"/>
          </a:p>
        </p:txBody>
      </p:sp>
      <p:sp>
        <p:nvSpPr>
          <p:cNvPr id="52" name="Text 50"/>
          <p:cNvSpPr/>
          <p:nvPr/>
        </p:nvSpPr>
        <p:spPr>
          <a:xfrm>
            <a:off x="2523744" y="2395728"/>
            <a:ext cx="2852928" cy="384048"/>
          </a:xfrm>
          <a:prstGeom prst="rect">
            <a:avLst/>
          </a:prstGeom>
          <a:noFill/>
          <a:ln/>
        </p:spPr>
        <p:txBody>
          <a:bodyPr wrap="square" lIns="0" tIns="0" rIns="0" bIns="0" rtlCol="0" anchor="ctr"/>
          <a:lstStyle/>
          <a:p>
            <a:pPr marL="0" indent="0" algn="l">
              <a:buNone/>
            </a:pPr>
            <a:r>
              <a:rPr lang="en-US" sz="850" dirty="0">
                <a:solidFill>
                  <a:srgbClr val="1E293B"/>
                </a:solidFill>
              </a:rPr>
              <a:t>Ratio of positive rates: low-risk / high-risk region</a:t>
            </a:r>
            <a:endParaRPr lang="en-US" sz="850" dirty="0"/>
          </a:p>
        </p:txBody>
      </p:sp>
      <p:sp>
        <p:nvSpPr>
          <p:cNvPr id="53" name="Shape 51"/>
          <p:cNvSpPr/>
          <p:nvPr/>
        </p:nvSpPr>
        <p:spPr>
          <a:xfrm>
            <a:off x="5413248" y="2395728"/>
            <a:ext cx="914400" cy="384048"/>
          </a:xfrm>
          <a:prstGeom prst="rect">
            <a:avLst/>
          </a:prstGeom>
          <a:solidFill>
            <a:srgbClr val="F1F5F9"/>
          </a:solidFill>
          <a:ln/>
        </p:spPr>
        <p:txBody>
          <a:bodyPr/>
          <a:lstStyle/>
          <a:p>
            <a:endParaRPr lang="en-US"/>
          </a:p>
        </p:txBody>
      </p:sp>
      <p:sp>
        <p:nvSpPr>
          <p:cNvPr id="54" name="Text 52"/>
          <p:cNvSpPr/>
          <p:nvPr/>
        </p:nvSpPr>
        <p:spPr>
          <a:xfrm>
            <a:off x="5449824" y="2395728"/>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0.847</a:t>
            </a:r>
            <a:endParaRPr lang="en-US" sz="850" dirty="0"/>
          </a:p>
        </p:txBody>
      </p:sp>
      <p:sp>
        <p:nvSpPr>
          <p:cNvPr id="55" name="Shape 53"/>
          <p:cNvSpPr/>
          <p:nvPr/>
        </p:nvSpPr>
        <p:spPr>
          <a:xfrm>
            <a:off x="6327648" y="2395728"/>
            <a:ext cx="914400" cy="384048"/>
          </a:xfrm>
          <a:prstGeom prst="rect">
            <a:avLst/>
          </a:prstGeom>
          <a:solidFill>
            <a:srgbClr val="F1F5F9"/>
          </a:solidFill>
          <a:ln/>
        </p:spPr>
        <p:txBody>
          <a:bodyPr/>
          <a:lstStyle/>
          <a:p>
            <a:endParaRPr lang="en-US"/>
          </a:p>
        </p:txBody>
      </p:sp>
      <p:sp>
        <p:nvSpPr>
          <p:cNvPr id="56" name="Text 54"/>
          <p:cNvSpPr/>
          <p:nvPr/>
        </p:nvSpPr>
        <p:spPr>
          <a:xfrm>
            <a:off x="6364224" y="2395728"/>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0.80–1.20</a:t>
            </a:r>
            <a:endParaRPr lang="en-US" sz="850" dirty="0"/>
          </a:p>
        </p:txBody>
      </p:sp>
      <p:sp>
        <p:nvSpPr>
          <p:cNvPr id="57" name="Shape 55"/>
          <p:cNvSpPr/>
          <p:nvPr/>
        </p:nvSpPr>
        <p:spPr>
          <a:xfrm>
            <a:off x="7242048" y="2395728"/>
            <a:ext cx="914400" cy="384048"/>
          </a:xfrm>
          <a:prstGeom prst="rect">
            <a:avLst/>
          </a:prstGeom>
          <a:solidFill>
            <a:srgbClr val="F1F5F9"/>
          </a:solidFill>
          <a:ln/>
        </p:spPr>
        <p:txBody>
          <a:bodyPr/>
          <a:lstStyle/>
          <a:p>
            <a:endParaRPr lang="en-US"/>
          </a:p>
        </p:txBody>
      </p:sp>
      <p:sp>
        <p:nvSpPr>
          <p:cNvPr id="58" name="Text 56"/>
          <p:cNvSpPr/>
          <p:nvPr/>
        </p:nvSpPr>
        <p:spPr>
          <a:xfrm>
            <a:off x="7278624" y="2395728"/>
            <a:ext cx="841248" cy="384048"/>
          </a:xfrm>
          <a:prstGeom prst="rect">
            <a:avLst/>
          </a:prstGeom>
          <a:noFill/>
          <a:ln/>
        </p:spPr>
        <p:txBody>
          <a:bodyPr wrap="square" lIns="0" tIns="0" rIns="0" bIns="0" rtlCol="0" anchor="ctr"/>
          <a:lstStyle/>
          <a:p>
            <a:pPr marL="0" indent="0" algn="ctr">
              <a:buNone/>
            </a:pPr>
            <a:r>
              <a:rPr lang="en-US" sz="850" b="1" dirty="0">
                <a:solidFill>
                  <a:srgbClr val="D97706"/>
                </a:solidFill>
              </a:rPr>
              <a:t>MONITOR</a:t>
            </a:r>
            <a:endParaRPr lang="en-US" sz="850" dirty="0"/>
          </a:p>
        </p:txBody>
      </p:sp>
      <p:sp>
        <p:nvSpPr>
          <p:cNvPr id="59" name="Shape 57"/>
          <p:cNvSpPr/>
          <p:nvPr/>
        </p:nvSpPr>
        <p:spPr>
          <a:xfrm>
            <a:off x="201168" y="2779776"/>
            <a:ext cx="2286000" cy="384048"/>
          </a:xfrm>
          <a:prstGeom prst="rect">
            <a:avLst/>
          </a:prstGeom>
          <a:solidFill>
            <a:srgbClr val="FFFFFF"/>
          </a:solidFill>
          <a:ln/>
        </p:spPr>
        <p:txBody>
          <a:bodyPr/>
          <a:lstStyle/>
          <a:p>
            <a:endParaRPr lang="en-US"/>
          </a:p>
        </p:txBody>
      </p:sp>
      <p:sp>
        <p:nvSpPr>
          <p:cNvPr id="60" name="Text 58"/>
          <p:cNvSpPr/>
          <p:nvPr/>
        </p:nvSpPr>
        <p:spPr>
          <a:xfrm>
            <a:off x="237744" y="2779776"/>
            <a:ext cx="2212848" cy="384048"/>
          </a:xfrm>
          <a:prstGeom prst="rect">
            <a:avLst/>
          </a:prstGeom>
          <a:noFill/>
          <a:ln/>
        </p:spPr>
        <p:txBody>
          <a:bodyPr wrap="square" lIns="0" tIns="0" rIns="0" bIns="0" rtlCol="0" anchor="ctr"/>
          <a:lstStyle/>
          <a:p>
            <a:pPr marL="0" indent="0" algn="l">
              <a:buNone/>
            </a:pPr>
            <a:r>
              <a:rPr lang="en-US" sz="850" dirty="0">
                <a:solidFill>
                  <a:srgbClr val="1E293B"/>
                </a:solidFill>
              </a:rPr>
              <a:t>Predictive Parity</a:t>
            </a:r>
            <a:endParaRPr lang="en-US" sz="850" dirty="0"/>
          </a:p>
        </p:txBody>
      </p:sp>
      <p:sp>
        <p:nvSpPr>
          <p:cNvPr id="61" name="Shape 59"/>
          <p:cNvSpPr/>
          <p:nvPr/>
        </p:nvSpPr>
        <p:spPr>
          <a:xfrm>
            <a:off x="2487168" y="2779776"/>
            <a:ext cx="2926080" cy="384048"/>
          </a:xfrm>
          <a:prstGeom prst="rect">
            <a:avLst/>
          </a:prstGeom>
          <a:solidFill>
            <a:srgbClr val="FFFFFF"/>
          </a:solidFill>
          <a:ln/>
        </p:spPr>
        <p:txBody>
          <a:bodyPr/>
          <a:lstStyle/>
          <a:p>
            <a:endParaRPr lang="en-US"/>
          </a:p>
        </p:txBody>
      </p:sp>
      <p:sp>
        <p:nvSpPr>
          <p:cNvPr id="62" name="Text 60"/>
          <p:cNvSpPr/>
          <p:nvPr/>
        </p:nvSpPr>
        <p:spPr>
          <a:xfrm>
            <a:off x="2523744" y="2779776"/>
            <a:ext cx="2852928" cy="384048"/>
          </a:xfrm>
          <a:prstGeom prst="rect">
            <a:avLst/>
          </a:prstGeom>
          <a:noFill/>
          <a:ln/>
        </p:spPr>
        <p:txBody>
          <a:bodyPr wrap="square" lIns="0" tIns="0" rIns="0" bIns="0" rtlCol="0" anchor="ctr"/>
          <a:lstStyle/>
          <a:p>
            <a:pPr marL="0" indent="0" algn="l">
              <a:buNone/>
            </a:pPr>
            <a:r>
              <a:rPr lang="en-US" sz="850" dirty="0">
                <a:solidFill>
                  <a:srgbClr val="1E293B"/>
                </a:solidFill>
              </a:rPr>
              <a:t>Precision diff. across partner volume groups</a:t>
            </a:r>
            <a:endParaRPr lang="en-US" sz="850" dirty="0"/>
          </a:p>
        </p:txBody>
      </p:sp>
      <p:sp>
        <p:nvSpPr>
          <p:cNvPr id="63" name="Shape 61"/>
          <p:cNvSpPr/>
          <p:nvPr/>
        </p:nvSpPr>
        <p:spPr>
          <a:xfrm>
            <a:off x="5413248" y="2779776"/>
            <a:ext cx="914400" cy="384048"/>
          </a:xfrm>
          <a:prstGeom prst="rect">
            <a:avLst/>
          </a:prstGeom>
          <a:solidFill>
            <a:srgbClr val="FFFFFF"/>
          </a:solidFill>
          <a:ln/>
        </p:spPr>
        <p:txBody>
          <a:bodyPr/>
          <a:lstStyle/>
          <a:p>
            <a:endParaRPr lang="en-US"/>
          </a:p>
        </p:txBody>
      </p:sp>
      <p:sp>
        <p:nvSpPr>
          <p:cNvPr id="64" name="Text 62"/>
          <p:cNvSpPr/>
          <p:nvPr/>
        </p:nvSpPr>
        <p:spPr>
          <a:xfrm>
            <a:off x="5449824" y="2779776"/>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0.052</a:t>
            </a:r>
            <a:endParaRPr lang="en-US" sz="850" dirty="0"/>
          </a:p>
        </p:txBody>
      </p:sp>
      <p:sp>
        <p:nvSpPr>
          <p:cNvPr id="65" name="Shape 63"/>
          <p:cNvSpPr/>
          <p:nvPr/>
        </p:nvSpPr>
        <p:spPr>
          <a:xfrm>
            <a:off x="6327648" y="2779776"/>
            <a:ext cx="914400" cy="384048"/>
          </a:xfrm>
          <a:prstGeom prst="rect">
            <a:avLst/>
          </a:prstGeom>
          <a:solidFill>
            <a:srgbClr val="FFFFFF"/>
          </a:solidFill>
          <a:ln/>
        </p:spPr>
        <p:txBody>
          <a:bodyPr/>
          <a:lstStyle/>
          <a:p>
            <a:endParaRPr lang="en-US"/>
          </a:p>
        </p:txBody>
      </p:sp>
      <p:sp>
        <p:nvSpPr>
          <p:cNvPr id="66" name="Text 64"/>
          <p:cNvSpPr/>
          <p:nvPr/>
        </p:nvSpPr>
        <p:spPr>
          <a:xfrm>
            <a:off x="6364224" y="2779776"/>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&lt; 0.10</a:t>
            </a:r>
            <a:endParaRPr lang="en-US" sz="850" dirty="0"/>
          </a:p>
        </p:txBody>
      </p:sp>
      <p:sp>
        <p:nvSpPr>
          <p:cNvPr id="67" name="Shape 65"/>
          <p:cNvSpPr/>
          <p:nvPr/>
        </p:nvSpPr>
        <p:spPr>
          <a:xfrm>
            <a:off x="7242048" y="2779776"/>
            <a:ext cx="914400" cy="384048"/>
          </a:xfrm>
          <a:prstGeom prst="rect">
            <a:avLst/>
          </a:prstGeom>
          <a:solidFill>
            <a:srgbClr val="FFFFFF"/>
          </a:solidFill>
          <a:ln/>
        </p:spPr>
        <p:txBody>
          <a:bodyPr/>
          <a:lstStyle/>
          <a:p>
            <a:endParaRPr lang="en-US"/>
          </a:p>
        </p:txBody>
      </p:sp>
      <p:sp>
        <p:nvSpPr>
          <p:cNvPr id="68" name="Text 66"/>
          <p:cNvSpPr/>
          <p:nvPr/>
        </p:nvSpPr>
        <p:spPr>
          <a:xfrm>
            <a:off x="7278624" y="2779776"/>
            <a:ext cx="841248" cy="384048"/>
          </a:xfrm>
          <a:prstGeom prst="rect">
            <a:avLst/>
          </a:prstGeom>
          <a:noFill/>
          <a:ln/>
        </p:spPr>
        <p:txBody>
          <a:bodyPr wrap="square" lIns="0" tIns="0" rIns="0" bIns="0" rtlCol="0" anchor="ctr"/>
          <a:lstStyle/>
          <a:p>
            <a:pPr marL="0" indent="0" algn="ctr">
              <a:buNone/>
            </a:pPr>
            <a:r>
              <a:rPr lang="en-US" sz="850" b="1" dirty="0">
                <a:solidFill>
                  <a:srgbClr val="059669"/>
                </a:solidFill>
              </a:rPr>
              <a:t>PASS</a:t>
            </a:r>
            <a:endParaRPr lang="en-US" sz="850" dirty="0"/>
          </a:p>
        </p:txBody>
      </p:sp>
      <p:sp>
        <p:nvSpPr>
          <p:cNvPr id="69" name="Shape 67"/>
          <p:cNvSpPr/>
          <p:nvPr/>
        </p:nvSpPr>
        <p:spPr>
          <a:xfrm>
            <a:off x="201168" y="3163824"/>
            <a:ext cx="2286000" cy="384048"/>
          </a:xfrm>
          <a:prstGeom prst="rect">
            <a:avLst/>
          </a:prstGeom>
          <a:solidFill>
            <a:srgbClr val="F1F5F9"/>
          </a:solidFill>
          <a:ln/>
        </p:spPr>
        <p:txBody>
          <a:bodyPr/>
          <a:lstStyle/>
          <a:p>
            <a:endParaRPr lang="en-US"/>
          </a:p>
        </p:txBody>
      </p:sp>
      <p:sp>
        <p:nvSpPr>
          <p:cNvPr id="70" name="Text 68"/>
          <p:cNvSpPr/>
          <p:nvPr/>
        </p:nvSpPr>
        <p:spPr>
          <a:xfrm>
            <a:off x="237744" y="3163824"/>
            <a:ext cx="2212848" cy="384048"/>
          </a:xfrm>
          <a:prstGeom prst="rect">
            <a:avLst/>
          </a:prstGeom>
          <a:noFill/>
          <a:ln/>
        </p:spPr>
        <p:txBody>
          <a:bodyPr wrap="square" lIns="0" tIns="0" rIns="0" bIns="0" rtlCol="0" anchor="ctr"/>
          <a:lstStyle/>
          <a:p>
            <a:pPr marL="0" indent="0" algn="l">
              <a:buNone/>
            </a:pPr>
            <a:r>
              <a:rPr lang="en-US" sz="850" dirty="0">
                <a:solidFill>
                  <a:srgbClr val="1E293B"/>
                </a:solidFill>
              </a:rPr>
              <a:t>card4 Proxy Risk</a:t>
            </a:r>
            <a:endParaRPr lang="en-US" sz="850" dirty="0"/>
          </a:p>
        </p:txBody>
      </p:sp>
      <p:sp>
        <p:nvSpPr>
          <p:cNvPr id="71" name="Shape 69"/>
          <p:cNvSpPr/>
          <p:nvPr/>
        </p:nvSpPr>
        <p:spPr>
          <a:xfrm>
            <a:off x="2487168" y="3163824"/>
            <a:ext cx="2926080" cy="384048"/>
          </a:xfrm>
          <a:prstGeom prst="rect">
            <a:avLst/>
          </a:prstGeom>
          <a:solidFill>
            <a:srgbClr val="F1F5F9"/>
          </a:solidFill>
          <a:ln/>
        </p:spPr>
        <p:txBody>
          <a:bodyPr/>
          <a:lstStyle/>
          <a:p>
            <a:endParaRPr lang="en-US"/>
          </a:p>
        </p:txBody>
      </p:sp>
      <p:sp>
        <p:nvSpPr>
          <p:cNvPr id="72" name="Text 70"/>
          <p:cNvSpPr/>
          <p:nvPr/>
        </p:nvSpPr>
        <p:spPr>
          <a:xfrm>
            <a:off x="2523744" y="3163824"/>
            <a:ext cx="2852928" cy="384048"/>
          </a:xfrm>
          <a:prstGeom prst="rect">
            <a:avLst/>
          </a:prstGeom>
          <a:noFill/>
          <a:ln/>
        </p:spPr>
        <p:txBody>
          <a:bodyPr wrap="square" lIns="0" tIns="0" rIns="0" bIns="0" rtlCol="0" anchor="ctr"/>
          <a:lstStyle/>
          <a:p>
            <a:pPr marL="0" indent="0" algn="l">
              <a:buNone/>
            </a:pPr>
            <a:r>
              <a:rPr lang="en-US" sz="850" dirty="0">
                <a:solidFill>
                  <a:srgbClr val="1E293B"/>
                </a:solidFill>
              </a:rPr>
              <a:t>Prepaid card holders flagged at 2.1× credit card rate</a:t>
            </a:r>
            <a:endParaRPr lang="en-US" sz="850" dirty="0"/>
          </a:p>
        </p:txBody>
      </p:sp>
      <p:sp>
        <p:nvSpPr>
          <p:cNvPr id="73" name="Shape 71"/>
          <p:cNvSpPr/>
          <p:nvPr/>
        </p:nvSpPr>
        <p:spPr>
          <a:xfrm>
            <a:off x="5413248" y="3163824"/>
            <a:ext cx="914400" cy="384048"/>
          </a:xfrm>
          <a:prstGeom prst="rect">
            <a:avLst/>
          </a:prstGeom>
          <a:solidFill>
            <a:srgbClr val="F1F5F9"/>
          </a:solidFill>
          <a:ln/>
        </p:spPr>
        <p:txBody>
          <a:bodyPr/>
          <a:lstStyle/>
          <a:p>
            <a:endParaRPr lang="en-US"/>
          </a:p>
        </p:txBody>
      </p:sp>
      <p:sp>
        <p:nvSpPr>
          <p:cNvPr id="74" name="Text 72"/>
          <p:cNvSpPr/>
          <p:nvPr/>
        </p:nvSpPr>
        <p:spPr>
          <a:xfrm>
            <a:off x="5449824" y="3163824"/>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a:t>
            </a:r>
            <a:endParaRPr lang="en-US" sz="850" dirty="0"/>
          </a:p>
        </p:txBody>
      </p:sp>
      <p:sp>
        <p:nvSpPr>
          <p:cNvPr id="75" name="Shape 73"/>
          <p:cNvSpPr/>
          <p:nvPr/>
        </p:nvSpPr>
        <p:spPr>
          <a:xfrm>
            <a:off x="6327648" y="3163824"/>
            <a:ext cx="914400" cy="384048"/>
          </a:xfrm>
          <a:prstGeom prst="rect">
            <a:avLst/>
          </a:prstGeom>
          <a:solidFill>
            <a:srgbClr val="F1F5F9"/>
          </a:solidFill>
          <a:ln/>
        </p:spPr>
        <p:txBody>
          <a:bodyPr/>
          <a:lstStyle/>
          <a:p>
            <a:endParaRPr lang="en-US"/>
          </a:p>
        </p:txBody>
      </p:sp>
      <p:sp>
        <p:nvSpPr>
          <p:cNvPr id="76" name="Text 74"/>
          <p:cNvSpPr/>
          <p:nvPr/>
        </p:nvSpPr>
        <p:spPr>
          <a:xfrm>
            <a:off x="6364224" y="3163824"/>
            <a:ext cx="841248" cy="384048"/>
          </a:xfrm>
          <a:prstGeom prst="rect">
            <a:avLst/>
          </a:prstGeom>
          <a:noFill/>
          <a:ln/>
        </p:spPr>
        <p:txBody>
          <a:bodyPr wrap="square" lIns="0" tIns="0" rIns="0" bIns="0" rtlCol="0" anchor="ctr"/>
          <a:lstStyle/>
          <a:p>
            <a:pPr marL="0" indent="0" algn="ctr">
              <a:buNone/>
            </a:pPr>
            <a:r>
              <a:rPr lang="en-US" sz="850" dirty="0">
                <a:solidFill>
                  <a:srgbClr val="1E293B"/>
                </a:solidFill>
              </a:rPr>
              <a:t>Exclusion</a:t>
            </a:r>
            <a:endParaRPr lang="en-US" sz="850" dirty="0"/>
          </a:p>
        </p:txBody>
      </p:sp>
      <p:sp>
        <p:nvSpPr>
          <p:cNvPr id="77" name="Shape 75"/>
          <p:cNvSpPr/>
          <p:nvPr/>
        </p:nvSpPr>
        <p:spPr>
          <a:xfrm>
            <a:off x="7242048" y="3163824"/>
            <a:ext cx="914400" cy="384048"/>
          </a:xfrm>
          <a:prstGeom prst="rect">
            <a:avLst/>
          </a:prstGeom>
          <a:solidFill>
            <a:srgbClr val="F1F5F9"/>
          </a:solidFill>
          <a:ln/>
        </p:spPr>
        <p:txBody>
          <a:bodyPr/>
          <a:lstStyle/>
          <a:p>
            <a:endParaRPr lang="en-US"/>
          </a:p>
        </p:txBody>
      </p:sp>
      <p:sp>
        <p:nvSpPr>
          <p:cNvPr id="78" name="Text 76"/>
          <p:cNvSpPr/>
          <p:nvPr/>
        </p:nvSpPr>
        <p:spPr>
          <a:xfrm>
            <a:off x="7278624" y="3163824"/>
            <a:ext cx="841248" cy="384048"/>
          </a:xfrm>
          <a:prstGeom prst="rect">
            <a:avLst/>
          </a:prstGeom>
          <a:noFill/>
          <a:ln/>
        </p:spPr>
        <p:txBody>
          <a:bodyPr wrap="square" lIns="0" tIns="0" rIns="0" bIns="0" rtlCol="0" anchor="ctr"/>
          <a:lstStyle/>
          <a:p>
            <a:pPr marL="0" indent="0" algn="ctr">
              <a:buNone/>
            </a:pPr>
            <a:r>
              <a:rPr lang="en-US" sz="850" b="1" dirty="0">
                <a:solidFill>
                  <a:srgbClr val="2563EB"/>
                </a:solidFill>
              </a:rPr>
              <a:t>EXCLUDED</a:t>
            </a:r>
            <a:endParaRPr lang="en-US" sz="850" dirty="0"/>
          </a:p>
        </p:txBody>
      </p:sp>
      <p:sp>
        <p:nvSpPr>
          <p:cNvPr id="79" name="Text 77"/>
          <p:cNvSpPr/>
          <p:nvPr/>
        </p:nvSpPr>
        <p:spPr>
          <a:xfrm>
            <a:off x="201168" y="3611880"/>
            <a:ext cx="8686800" cy="256032"/>
          </a:xfrm>
          <a:prstGeom prst="rect">
            <a:avLst/>
          </a:prstGeom>
          <a:noFill/>
          <a:ln/>
        </p:spPr>
        <p:txBody>
          <a:bodyPr wrap="square" lIns="0" tIns="0" rIns="0" bIns="0" rtlCol="0" anchor="ctr"/>
          <a:lstStyle/>
          <a:p>
            <a:pPr marL="0" indent="0">
              <a:buNone/>
            </a:pPr>
            <a:r>
              <a:rPr lang="en-US" sz="900" b="1" kern="0" spc="100" dirty="0">
                <a:solidFill>
                  <a:srgbClr val="1B3A6B"/>
                </a:solidFill>
              </a:rPr>
              <a:t>MITIGATION STRATEGIES IMPLEMENTED</a:t>
            </a:r>
            <a:endParaRPr lang="en-US" sz="900" dirty="0"/>
          </a:p>
        </p:txBody>
      </p:sp>
      <p:sp>
        <p:nvSpPr>
          <p:cNvPr id="80" name="Shape 78"/>
          <p:cNvSpPr/>
          <p:nvPr/>
        </p:nvSpPr>
        <p:spPr>
          <a:xfrm>
            <a:off x="201168" y="3931920"/>
            <a:ext cx="2029968" cy="1078992"/>
          </a:xfrm>
          <a:prstGeom prst="rect">
            <a:avLst/>
          </a:prstGeom>
          <a:solidFill>
            <a:srgbClr val="EFF6FF"/>
          </a:solidFill>
          <a:ln/>
          <a:effectLst>
            <a:outerShdw blurRad="101600" dist="38100" dir="8100000" algn="bl" rotWithShape="0">
              <a:srgbClr val="000000">
                <a:alpha val="12000"/>
              </a:srgbClr>
            </a:outerShdw>
          </a:effectLst>
        </p:spPr>
        <p:txBody>
          <a:bodyPr/>
          <a:lstStyle/>
          <a:p>
            <a:endParaRPr lang="en-US"/>
          </a:p>
        </p:txBody>
      </p:sp>
      <p:sp>
        <p:nvSpPr>
          <p:cNvPr id="81" name="Shape 79"/>
          <p:cNvSpPr/>
          <p:nvPr/>
        </p:nvSpPr>
        <p:spPr>
          <a:xfrm>
            <a:off x="201168" y="3931920"/>
            <a:ext cx="2029968" cy="54864"/>
          </a:xfrm>
          <a:prstGeom prst="rect">
            <a:avLst/>
          </a:prstGeom>
          <a:solidFill>
            <a:srgbClr val="2563EB"/>
          </a:solidFill>
          <a:ln/>
        </p:spPr>
        <p:txBody>
          <a:bodyPr/>
          <a:lstStyle/>
          <a:p>
            <a:endParaRPr lang="en-US"/>
          </a:p>
        </p:txBody>
      </p:sp>
      <p:sp>
        <p:nvSpPr>
          <p:cNvPr id="82" name="Text 80"/>
          <p:cNvSpPr/>
          <p:nvPr/>
        </p:nvSpPr>
        <p:spPr>
          <a:xfrm>
            <a:off x="274320" y="4005072"/>
            <a:ext cx="1883664" cy="256032"/>
          </a:xfrm>
          <a:prstGeom prst="rect">
            <a:avLst/>
          </a:prstGeom>
          <a:noFill/>
          <a:ln/>
        </p:spPr>
        <p:txBody>
          <a:bodyPr wrap="square" lIns="0" tIns="0" rIns="0" bIns="0" rtlCol="0" anchor="ctr"/>
          <a:lstStyle/>
          <a:p>
            <a:pPr marL="0" indent="0">
              <a:buNone/>
            </a:pPr>
            <a:r>
              <a:rPr lang="en-US" sz="950" b="1" dirty="0">
                <a:solidFill>
                  <a:srgbClr val="1B3A6B"/>
                </a:solidFill>
              </a:rPr>
              <a:t>👤  Human-in-loop</a:t>
            </a:r>
            <a:endParaRPr lang="en-US" sz="950" dirty="0"/>
          </a:p>
        </p:txBody>
      </p:sp>
      <p:sp>
        <p:nvSpPr>
          <p:cNvPr id="83" name="Text 81"/>
          <p:cNvSpPr/>
          <p:nvPr/>
        </p:nvSpPr>
        <p:spPr>
          <a:xfrm>
            <a:off x="274320" y="4297680"/>
            <a:ext cx="1883664" cy="658368"/>
          </a:xfrm>
          <a:prstGeom prst="rect">
            <a:avLst/>
          </a:prstGeom>
          <a:noFill/>
          <a:ln/>
        </p:spPr>
        <p:txBody>
          <a:bodyPr wrap="square" lIns="0" tIns="0" rIns="0" bIns="0" rtlCol="0" anchor="ctr"/>
          <a:lstStyle/>
          <a:p>
            <a:pPr marL="0" indent="0">
              <a:buNone/>
            </a:pPr>
            <a:r>
              <a:rPr lang="en-US" sz="850" dirty="0">
                <a:solidFill>
                  <a:srgbClr val="1E293B"/>
                </a:solidFill>
              </a:rPr>
              <a:t>Model routes claims, never auto-rejects. All enhanced-review and escalated claims reviewed by a human adjuster.</a:t>
            </a:r>
            <a:endParaRPr lang="en-US" sz="850" dirty="0"/>
          </a:p>
        </p:txBody>
      </p:sp>
      <p:sp>
        <p:nvSpPr>
          <p:cNvPr id="84" name="Shape 82"/>
          <p:cNvSpPr/>
          <p:nvPr/>
        </p:nvSpPr>
        <p:spPr>
          <a:xfrm>
            <a:off x="2377440" y="3931920"/>
            <a:ext cx="2029968" cy="1078992"/>
          </a:xfrm>
          <a:prstGeom prst="rect">
            <a:avLst/>
          </a:prstGeom>
          <a:solidFill>
            <a:srgbClr val="EFF6FF"/>
          </a:solidFill>
          <a:ln/>
          <a:effectLst>
            <a:outerShdw blurRad="101600" dist="38100" dir="8100000" algn="bl" rotWithShape="0">
              <a:srgbClr val="000000">
                <a:alpha val="12000"/>
              </a:srgbClr>
            </a:outerShdw>
          </a:effectLst>
        </p:spPr>
        <p:txBody>
          <a:bodyPr/>
          <a:lstStyle/>
          <a:p>
            <a:endParaRPr lang="en-US"/>
          </a:p>
        </p:txBody>
      </p:sp>
      <p:sp>
        <p:nvSpPr>
          <p:cNvPr id="85" name="Shape 83"/>
          <p:cNvSpPr/>
          <p:nvPr/>
        </p:nvSpPr>
        <p:spPr>
          <a:xfrm>
            <a:off x="2377440" y="3931920"/>
            <a:ext cx="2029968" cy="54864"/>
          </a:xfrm>
          <a:prstGeom prst="rect">
            <a:avLst/>
          </a:prstGeom>
          <a:solidFill>
            <a:srgbClr val="2563EB"/>
          </a:solidFill>
          <a:ln/>
        </p:spPr>
        <p:txBody>
          <a:bodyPr/>
          <a:lstStyle/>
          <a:p>
            <a:endParaRPr lang="en-US"/>
          </a:p>
        </p:txBody>
      </p:sp>
      <p:sp>
        <p:nvSpPr>
          <p:cNvPr id="86" name="Text 84"/>
          <p:cNvSpPr/>
          <p:nvPr/>
        </p:nvSpPr>
        <p:spPr>
          <a:xfrm>
            <a:off x="2450592" y="4005072"/>
            <a:ext cx="1883664" cy="256032"/>
          </a:xfrm>
          <a:prstGeom prst="rect">
            <a:avLst/>
          </a:prstGeom>
          <a:noFill/>
          <a:ln/>
        </p:spPr>
        <p:txBody>
          <a:bodyPr wrap="square" lIns="0" tIns="0" rIns="0" bIns="0" rtlCol="0" anchor="ctr"/>
          <a:lstStyle/>
          <a:p>
            <a:pPr marL="0" indent="0">
              <a:buNone/>
            </a:pPr>
            <a:r>
              <a:rPr lang="en-US" sz="950" b="1" dirty="0">
                <a:solidFill>
                  <a:srgbClr val="1B3A6B"/>
                </a:solidFill>
              </a:rPr>
              <a:t>⚖️  card4 Excluded</a:t>
            </a:r>
            <a:endParaRPr lang="en-US" sz="950" dirty="0"/>
          </a:p>
        </p:txBody>
      </p:sp>
      <p:sp>
        <p:nvSpPr>
          <p:cNvPr id="87" name="Text 85"/>
          <p:cNvSpPr/>
          <p:nvPr/>
        </p:nvSpPr>
        <p:spPr>
          <a:xfrm>
            <a:off x="2450592" y="4297680"/>
            <a:ext cx="1883664" cy="658368"/>
          </a:xfrm>
          <a:prstGeom prst="rect">
            <a:avLst/>
          </a:prstGeom>
          <a:noFill/>
          <a:ln/>
        </p:spPr>
        <p:txBody>
          <a:bodyPr wrap="square" lIns="0" tIns="0" rIns="0" bIns="0" rtlCol="0" anchor="ctr"/>
          <a:lstStyle/>
          <a:p>
            <a:pPr marL="0" indent="0">
              <a:buNone/>
            </a:pPr>
            <a:r>
              <a:rPr lang="en-US" sz="850" dirty="0">
                <a:solidFill>
                  <a:srgbClr val="1E293B"/>
                </a:solidFill>
              </a:rPr>
              <a:t>Payment method excluded from production model. AUC cost: 0.009, acceptable to eliminate socioeconomic proxy risk.</a:t>
            </a:r>
            <a:endParaRPr lang="en-US" sz="850" dirty="0"/>
          </a:p>
        </p:txBody>
      </p:sp>
      <p:sp>
        <p:nvSpPr>
          <p:cNvPr id="88" name="Shape 86"/>
          <p:cNvSpPr/>
          <p:nvPr/>
        </p:nvSpPr>
        <p:spPr>
          <a:xfrm>
            <a:off x="4553712" y="3931920"/>
            <a:ext cx="2029968" cy="1078992"/>
          </a:xfrm>
          <a:prstGeom prst="rect">
            <a:avLst/>
          </a:prstGeom>
          <a:solidFill>
            <a:srgbClr val="EFF6FF"/>
          </a:solidFill>
          <a:ln/>
          <a:effectLst>
            <a:outerShdw blurRad="101600" dist="38100" dir="8100000" algn="bl" rotWithShape="0">
              <a:srgbClr val="000000">
                <a:alpha val="12000"/>
              </a:srgbClr>
            </a:outerShdw>
          </a:effectLst>
        </p:spPr>
        <p:txBody>
          <a:bodyPr/>
          <a:lstStyle/>
          <a:p>
            <a:endParaRPr lang="en-US"/>
          </a:p>
        </p:txBody>
      </p:sp>
      <p:sp>
        <p:nvSpPr>
          <p:cNvPr id="89" name="Shape 87"/>
          <p:cNvSpPr/>
          <p:nvPr/>
        </p:nvSpPr>
        <p:spPr>
          <a:xfrm>
            <a:off x="4553712" y="3931920"/>
            <a:ext cx="2029968" cy="54864"/>
          </a:xfrm>
          <a:prstGeom prst="rect">
            <a:avLst/>
          </a:prstGeom>
          <a:solidFill>
            <a:srgbClr val="2563EB"/>
          </a:solidFill>
          <a:ln/>
        </p:spPr>
        <p:txBody>
          <a:bodyPr/>
          <a:lstStyle/>
          <a:p>
            <a:endParaRPr lang="en-US"/>
          </a:p>
        </p:txBody>
      </p:sp>
      <p:sp>
        <p:nvSpPr>
          <p:cNvPr id="90" name="Text 88"/>
          <p:cNvSpPr/>
          <p:nvPr/>
        </p:nvSpPr>
        <p:spPr>
          <a:xfrm>
            <a:off x="4626864" y="4005072"/>
            <a:ext cx="1883664" cy="256032"/>
          </a:xfrm>
          <a:prstGeom prst="rect">
            <a:avLst/>
          </a:prstGeom>
          <a:noFill/>
          <a:ln/>
        </p:spPr>
        <p:txBody>
          <a:bodyPr wrap="square" lIns="0" tIns="0" rIns="0" bIns="0" rtlCol="0" anchor="ctr"/>
          <a:lstStyle/>
          <a:p>
            <a:pPr marL="0" indent="0">
              <a:buNone/>
            </a:pPr>
            <a:r>
              <a:rPr lang="en-US" sz="950" b="1" dirty="0">
                <a:solidFill>
                  <a:srgbClr val="1B3A6B"/>
                </a:solidFill>
              </a:rPr>
              <a:t>📋  Model Card</a:t>
            </a:r>
            <a:endParaRPr lang="en-US" sz="950" dirty="0"/>
          </a:p>
        </p:txBody>
      </p:sp>
      <p:sp>
        <p:nvSpPr>
          <p:cNvPr id="91" name="Text 89"/>
          <p:cNvSpPr/>
          <p:nvPr/>
        </p:nvSpPr>
        <p:spPr>
          <a:xfrm>
            <a:off x="4626864" y="4297680"/>
            <a:ext cx="1883664" cy="658368"/>
          </a:xfrm>
          <a:prstGeom prst="rect">
            <a:avLst/>
          </a:prstGeom>
          <a:noFill/>
          <a:ln/>
        </p:spPr>
        <p:txBody>
          <a:bodyPr wrap="square" lIns="0" tIns="0" rIns="0" bIns="0" rtlCol="0" anchor="ctr"/>
          <a:lstStyle/>
          <a:p>
            <a:pPr marL="0" indent="0">
              <a:buNone/>
            </a:pPr>
            <a:r>
              <a:rPr lang="en-US" sz="850" dirty="0">
                <a:solidFill>
                  <a:srgbClr val="1E293B"/>
                </a:solidFill>
              </a:rPr>
              <a:t>Living document published: training data, intended use, limitations, fairness metrics. Updated quarterly.</a:t>
            </a:r>
            <a:endParaRPr lang="en-US" sz="850" dirty="0"/>
          </a:p>
        </p:txBody>
      </p:sp>
      <p:sp>
        <p:nvSpPr>
          <p:cNvPr id="92" name="Shape 90"/>
          <p:cNvSpPr/>
          <p:nvPr/>
        </p:nvSpPr>
        <p:spPr>
          <a:xfrm>
            <a:off x="6729984" y="3931920"/>
            <a:ext cx="2029968" cy="1078992"/>
          </a:xfrm>
          <a:prstGeom prst="rect">
            <a:avLst/>
          </a:prstGeom>
          <a:solidFill>
            <a:srgbClr val="EFF6FF"/>
          </a:solidFill>
          <a:ln/>
          <a:effectLst>
            <a:outerShdw blurRad="101600" dist="38100" dir="8100000" algn="bl" rotWithShape="0">
              <a:srgbClr val="000000">
                <a:alpha val="12000"/>
              </a:srgbClr>
            </a:outerShdw>
          </a:effectLst>
        </p:spPr>
        <p:txBody>
          <a:bodyPr/>
          <a:lstStyle/>
          <a:p>
            <a:endParaRPr lang="en-US"/>
          </a:p>
        </p:txBody>
      </p:sp>
      <p:sp>
        <p:nvSpPr>
          <p:cNvPr id="93" name="Shape 91"/>
          <p:cNvSpPr/>
          <p:nvPr/>
        </p:nvSpPr>
        <p:spPr>
          <a:xfrm>
            <a:off x="6729984" y="3931920"/>
            <a:ext cx="2029968" cy="54864"/>
          </a:xfrm>
          <a:prstGeom prst="rect">
            <a:avLst/>
          </a:prstGeom>
          <a:solidFill>
            <a:srgbClr val="2563EB"/>
          </a:solidFill>
          <a:ln/>
        </p:spPr>
        <p:txBody>
          <a:bodyPr/>
          <a:lstStyle/>
          <a:p>
            <a:endParaRPr lang="en-US"/>
          </a:p>
        </p:txBody>
      </p:sp>
      <p:sp>
        <p:nvSpPr>
          <p:cNvPr id="94" name="Text 92"/>
          <p:cNvSpPr/>
          <p:nvPr/>
        </p:nvSpPr>
        <p:spPr>
          <a:xfrm>
            <a:off x="6803136" y="4005072"/>
            <a:ext cx="1883664" cy="256032"/>
          </a:xfrm>
          <a:prstGeom prst="rect">
            <a:avLst/>
          </a:prstGeom>
          <a:noFill/>
          <a:ln/>
        </p:spPr>
        <p:txBody>
          <a:bodyPr wrap="square" lIns="0" tIns="0" rIns="0" bIns="0" rtlCol="0" anchor="ctr"/>
          <a:lstStyle/>
          <a:p>
            <a:pPr marL="0" indent="0">
              <a:buNone/>
            </a:pPr>
            <a:r>
              <a:rPr lang="en-US" sz="950" b="1" dirty="0">
                <a:solidFill>
                  <a:srgbClr val="1B3A6B"/>
                </a:solidFill>
              </a:rPr>
              <a:t>🔔  Customer Appeal</a:t>
            </a:r>
            <a:endParaRPr lang="en-US" sz="950" dirty="0"/>
          </a:p>
        </p:txBody>
      </p:sp>
      <p:sp>
        <p:nvSpPr>
          <p:cNvPr id="95" name="Text 93"/>
          <p:cNvSpPr/>
          <p:nvPr/>
        </p:nvSpPr>
        <p:spPr>
          <a:xfrm>
            <a:off x="6803136" y="4297680"/>
            <a:ext cx="1883664" cy="658368"/>
          </a:xfrm>
          <a:prstGeom prst="rect">
            <a:avLst/>
          </a:prstGeom>
          <a:noFill/>
          <a:ln/>
        </p:spPr>
        <p:txBody>
          <a:bodyPr wrap="square" lIns="0" tIns="0" rIns="0" bIns="0" rtlCol="0" anchor="ctr"/>
          <a:lstStyle/>
          <a:p>
            <a:pPr marL="0" indent="0">
              <a:buNone/>
            </a:pPr>
            <a:r>
              <a:rPr lang="en-US" sz="850" dirty="0">
                <a:solidFill>
                  <a:srgbClr val="1E293B"/>
                </a:solidFill>
              </a:rPr>
              <a:t>Every declined claim has an appeal path. SHAP explanation provided in plain language, no AI jargon.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A6B"/>
          </a:solidFill>
          <a:ln/>
        </p:spPr>
        <p:txBody>
          <a:bodyPr/>
          <a:lstStyle/>
          <a:p>
            <a:endParaRPr lang="en-US"/>
          </a:p>
        </p:txBody>
      </p:sp>
      <p:sp>
        <p:nvSpPr>
          <p:cNvPr id="3" name="Shape 1"/>
          <p:cNvSpPr/>
          <p:nvPr/>
        </p:nvSpPr>
        <p:spPr>
          <a:xfrm>
            <a:off x="109728" y="0"/>
            <a:ext cx="9034272" cy="502920"/>
          </a:xfrm>
          <a:prstGeom prst="rect">
            <a:avLst/>
          </a:prstGeom>
          <a:solidFill>
            <a:srgbClr val="1E293B"/>
          </a:solidFill>
          <a:ln/>
        </p:spPr>
        <p:txBody>
          <a:bodyPr/>
          <a:lstStyle/>
          <a:p>
            <a:endParaRPr lang="en-US"/>
          </a:p>
        </p:txBody>
      </p:sp>
      <p:sp>
        <p:nvSpPr>
          <p:cNvPr id="4" name="Shape 2"/>
          <p:cNvSpPr/>
          <p:nvPr/>
        </p:nvSpPr>
        <p:spPr>
          <a:xfrm>
            <a:off x="228600" y="91440"/>
            <a:ext cx="1005840" cy="320040"/>
          </a:xfrm>
          <a:prstGeom prst="rect">
            <a:avLst/>
          </a:prstGeom>
          <a:solidFill>
            <a:srgbClr val="2563EB"/>
          </a:solidFill>
          <a:ln/>
        </p:spPr>
        <p:txBody>
          <a:bodyPr/>
          <a:lstStyle/>
          <a:p>
            <a:endParaRPr lang="en-US"/>
          </a:p>
        </p:txBody>
      </p:sp>
      <p:sp>
        <p:nvSpPr>
          <p:cNvPr id="5" name="Text 3"/>
          <p:cNvSpPr/>
          <p:nvPr/>
        </p:nvSpPr>
        <p:spPr>
          <a:xfrm>
            <a:off x="228600" y="91440"/>
            <a:ext cx="1005840" cy="320040"/>
          </a:xfrm>
          <a:prstGeom prst="rect">
            <a:avLst/>
          </a:prstGeom>
          <a:noFill/>
          <a:ln/>
        </p:spPr>
        <p:txBody>
          <a:bodyPr wrap="square" lIns="0" tIns="0" rIns="0" bIns="0" rtlCol="0" anchor="ctr"/>
          <a:lstStyle/>
          <a:p>
            <a:pPr marL="0" indent="0" algn="ctr">
              <a:buNone/>
            </a:pPr>
            <a:r>
              <a:rPr lang="en-US" sz="900" b="1" dirty="0">
                <a:solidFill>
                  <a:srgbClr val="FFFFFF"/>
                </a:solidFill>
              </a:rPr>
              <a:t>STEP 8</a:t>
            </a:r>
            <a:endParaRPr lang="en-US" sz="900" dirty="0"/>
          </a:p>
        </p:txBody>
      </p:sp>
      <p:sp>
        <p:nvSpPr>
          <p:cNvPr id="6" name="Text 4"/>
          <p:cNvSpPr/>
          <p:nvPr/>
        </p:nvSpPr>
        <p:spPr>
          <a:xfrm>
            <a:off x="1371600" y="82296"/>
            <a:ext cx="7498080" cy="347472"/>
          </a:xfrm>
          <a:prstGeom prst="rect">
            <a:avLst/>
          </a:prstGeom>
          <a:noFill/>
          <a:ln/>
        </p:spPr>
        <p:txBody>
          <a:bodyPr wrap="square" lIns="0" tIns="0" rIns="0" bIns="0" rtlCol="0" anchor="ctr"/>
          <a:lstStyle/>
          <a:p>
            <a:pPr marL="0" indent="0">
              <a:buNone/>
            </a:pPr>
            <a:r>
              <a:rPr lang="en-US" sz="1500" b="1" dirty="0">
                <a:solidFill>
                  <a:srgbClr val="FFFFFF"/>
                </a:solidFill>
              </a:rPr>
              <a:t>Deployment Architecture &amp; Claims Workflow Integration</a:t>
            </a:r>
            <a:endParaRPr lang="en-US" sz="1500" dirty="0"/>
          </a:p>
        </p:txBody>
      </p:sp>
      <p:sp>
        <p:nvSpPr>
          <p:cNvPr id="7" name="Text 5"/>
          <p:cNvSpPr/>
          <p:nvPr/>
        </p:nvSpPr>
        <p:spPr>
          <a:xfrm>
            <a:off x="109728" y="4800600"/>
            <a:ext cx="9034272" cy="320040"/>
          </a:xfrm>
          <a:prstGeom prst="rect">
            <a:avLst/>
          </a:prstGeom>
          <a:noFill/>
          <a:ln/>
        </p:spPr>
        <p:txBody>
          <a:bodyPr wrap="square" lIns="0" tIns="0" rIns="0" bIns="0" rtlCol="0" anchor="ctr"/>
          <a:lstStyle/>
          <a:p>
            <a:pPr marL="0" indent="0" algn="r">
              <a:buNone/>
            </a:pPr>
            <a:r>
              <a:rPr lang="en-US" sz="800" dirty="0">
                <a:solidFill>
                  <a:srgbClr val="64748B"/>
                </a:solidFill>
              </a:rPr>
              <a:t>ProTech Devices Asia  |  AIM Capstone 2025</a:t>
            </a:r>
            <a:endParaRPr lang="en-US" sz="800" dirty="0"/>
          </a:p>
        </p:txBody>
      </p:sp>
      <p:sp>
        <p:nvSpPr>
          <p:cNvPr id="8" name="Text 6"/>
          <p:cNvSpPr/>
          <p:nvPr/>
        </p:nvSpPr>
        <p:spPr>
          <a:xfrm>
            <a:off x="201168" y="594360"/>
            <a:ext cx="8686800" cy="256032"/>
          </a:xfrm>
          <a:prstGeom prst="rect">
            <a:avLst/>
          </a:prstGeom>
          <a:noFill/>
          <a:ln/>
        </p:spPr>
        <p:txBody>
          <a:bodyPr wrap="square" lIns="0" tIns="0" rIns="0" bIns="0" rtlCol="0" anchor="ctr"/>
          <a:lstStyle/>
          <a:p>
            <a:pPr marL="0" indent="0">
              <a:buNone/>
            </a:pPr>
            <a:r>
              <a:rPr lang="en-US" sz="900" b="1" kern="0" spc="100" dirty="0">
                <a:solidFill>
                  <a:srgbClr val="1B3A6B"/>
                </a:solidFill>
              </a:rPr>
              <a:t>CLAIMS INTAKE → FRAUD SCORING → ROUTING → OUTCOME</a:t>
            </a:r>
            <a:endParaRPr lang="en-US" sz="900" dirty="0"/>
          </a:p>
        </p:txBody>
      </p:sp>
      <p:sp>
        <p:nvSpPr>
          <p:cNvPr id="9" name="Shape 7"/>
          <p:cNvSpPr/>
          <p:nvPr/>
        </p:nvSpPr>
        <p:spPr>
          <a:xfrm>
            <a:off x="201168" y="896112"/>
            <a:ext cx="1463040" cy="749808"/>
          </a:xfrm>
          <a:prstGeom prst="rect">
            <a:avLst/>
          </a:prstGeom>
          <a:solidFill>
            <a:srgbClr val="64748B"/>
          </a:solidFill>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201168" y="896112"/>
            <a:ext cx="1463040" cy="749808"/>
          </a:xfrm>
          <a:prstGeom prst="rect">
            <a:avLst/>
          </a:prstGeom>
          <a:noFill/>
          <a:ln/>
        </p:spPr>
        <p:txBody>
          <a:bodyPr wrap="square" lIns="0" tIns="0" rIns="0" bIns="0" rtlCol="0" anchor="ctr"/>
          <a:lstStyle/>
          <a:p>
            <a:pPr marL="0" indent="0" algn="ctr">
              <a:buNone/>
            </a:pPr>
            <a:r>
              <a:rPr lang="en-US" sz="950" b="1" dirty="0">
                <a:solidFill>
                  <a:srgbClr val="FFFFFF"/>
                </a:solidFill>
              </a:rPr>
              <a:t>Claim</a:t>
            </a:r>
            <a:endParaRPr lang="en-US" sz="950" dirty="0"/>
          </a:p>
          <a:p>
            <a:pPr marL="0" indent="0" algn="ctr">
              <a:buNone/>
            </a:pPr>
            <a:r>
              <a:rPr lang="en-US" sz="950" b="1" dirty="0">
                <a:solidFill>
                  <a:srgbClr val="FFFFFF"/>
                </a:solidFill>
              </a:rPr>
              <a:t>Submitted</a:t>
            </a:r>
            <a:endParaRPr lang="en-US" sz="950" dirty="0"/>
          </a:p>
        </p:txBody>
      </p:sp>
      <p:sp>
        <p:nvSpPr>
          <p:cNvPr id="11" name="Shape 9"/>
          <p:cNvSpPr/>
          <p:nvPr/>
        </p:nvSpPr>
        <p:spPr>
          <a:xfrm>
            <a:off x="1664208" y="1271016"/>
            <a:ext cx="338328" cy="0"/>
          </a:xfrm>
          <a:prstGeom prst="line">
            <a:avLst/>
          </a:prstGeom>
          <a:noFill/>
          <a:ln w="19050">
            <a:solidFill>
              <a:srgbClr val="64748B"/>
            </a:solidFill>
            <a:prstDash val="solid"/>
          </a:ln>
        </p:spPr>
        <p:txBody>
          <a:bodyPr/>
          <a:lstStyle/>
          <a:p>
            <a:endParaRPr lang="en-US"/>
          </a:p>
        </p:txBody>
      </p:sp>
      <p:sp>
        <p:nvSpPr>
          <p:cNvPr id="12" name="Text 10"/>
          <p:cNvSpPr/>
          <p:nvPr/>
        </p:nvSpPr>
        <p:spPr>
          <a:xfrm>
            <a:off x="1956816" y="1170432"/>
            <a:ext cx="182880" cy="201168"/>
          </a:xfrm>
          <a:prstGeom prst="rect">
            <a:avLst/>
          </a:prstGeom>
          <a:noFill/>
          <a:ln/>
        </p:spPr>
        <p:txBody>
          <a:bodyPr wrap="square" lIns="0" tIns="0" rIns="0" bIns="0" rtlCol="0" anchor="ctr"/>
          <a:lstStyle/>
          <a:p>
            <a:pPr marL="0" indent="0">
              <a:buNone/>
            </a:pPr>
            <a:r>
              <a:rPr lang="en-US" sz="900" dirty="0">
                <a:solidFill>
                  <a:srgbClr val="64748B"/>
                </a:solidFill>
              </a:rPr>
              <a:t>▶</a:t>
            </a:r>
            <a:endParaRPr lang="en-US" sz="900" dirty="0"/>
          </a:p>
        </p:txBody>
      </p:sp>
      <p:sp>
        <p:nvSpPr>
          <p:cNvPr id="13" name="Shape 11"/>
          <p:cNvSpPr/>
          <p:nvPr/>
        </p:nvSpPr>
        <p:spPr>
          <a:xfrm>
            <a:off x="1801368" y="896112"/>
            <a:ext cx="1463040" cy="749808"/>
          </a:xfrm>
          <a:prstGeom prst="rect">
            <a:avLst/>
          </a:prstGeom>
          <a:solidFill>
            <a:srgbClr val="2563EB"/>
          </a:solidFill>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1801368" y="896112"/>
            <a:ext cx="1463040" cy="749808"/>
          </a:xfrm>
          <a:prstGeom prst="rect">
            <a:avLst/>
          </a:prstGeom>
          <a:noFill/>
          <a:ln/>
        </p:spPr>
        <p:txBody>
          <a:bodyPr wrap="square" lIns="0" tIns="0" rIns="0" bIns="0" rtlCol="0" anchor="ctr"/>
          <a:lstStyle/>
          <a:p>
            <a:pPr marL="0" indent="0" algn="ctr">
              <a:buNone/>
            </a:pPr>
            <a:r>
              <a:rPr lang="en-US" sz="950" b="1" dirty="0">
                <a:solidFill>
                  <a:srgbClr val="FFFFFF"/>
                </a:solidFill>
              </a:rPr>
              <a:t>Feature</a:t>
            </a:r>
            <a:endParaRPr lang="en-US" sz="950" dirty="0"/>
          </a:p>
          <a:p>
            <a:pPr marL="0" indent="0" algn="ctr">
              <a:buNone/>
            </a:pPr>
            <a:r>
              <a:rPr lang="en-US" sz="950" b="1" dirty="0">
                <a:solidFill>
                  <a:srgbClr val="FFFFFF"/>
                </a:solidFill>
              </a:rPr>
              <a:t>Engineering</a:t>
            </a:r>
            <a:endParaRPr lang="en-US" sz="950" dirty="0"/>
          </a:p>
        </p:txBody>
      </p:sp>
      <p:sp>
        <p:nvSpPr>
          <p:cNvPr id="15" name="Shape 13"/>
          <p:cNvSpPr/>
          <p:nvPr/>
        </p:nvSpPr>
        <p:spPr>
          <a:xfrm>
            <a:off x="3264408" y="1271016"/>
            <a:ext cx="338328" cy="0"/>
          </a:xfrm>
          <a:prstGeom prst="line">
            <a:avLst/>
          </a:prstGeom>
          <a:noFill/>
          <a:ln w="19050">
            <a:solidFill>
              <a:srgbClr val="64748B"/>
            </a:solidFill>
            <a:prstDash val="solid"/>
          </a:ln>
        </p:spPr>
        <p:txBody>
          <a:bodyPr/>
          <a:lstStyle/>
          <a:p>
            <a:endParaRPr lang="en-US"/>
          </a:p>
        </p:txBody>
      </p:sp>
      <p:sp>
        <p:nvSpPr>
          <p:cNvPr id="16" name="Text 14"/>
          <p:cNvSpPr/>
          <p:nvPr/>
        </p:nvSpPr>
        <p:spPr>
          <a:xfrm>
            <a:off x="3557016" y="1170432"/>
            <a:ext cx="182880" cy="201168"/>
          </a:xfrm>
          <a:prstGeom prst="rect">
            <a:avLst/>
          </a:prstGeom>
          <a:noFill/>
          <a:ln/>
        </p:spPr>
        <p:txBody>
          <a:bodyPr wrap="square" lIns="0" tIns="0" rIns="0" bIns="0" rtlCol="0" anchor="ctr"/>
          <a:lstStyle/>
          <a:p>
            <a:pPr marL="0" indent="0">
              <a:buNone/>
            </a:pPr>
            <a:r>
              <a:rPr lang="en-US" sz="900" dirty="0">
                <a:solidFill>
                  <a:srgbClr val="64748B"/>
                </a:solidFill>
              </a:rPr>
              <a:t>▶</a:t>
            </a:r>
            <a:endParaRPr lang="en-US" sz="900" dirty="0"/>
          </a:p>
        </p:txBody>
      </p:sp>
      <p:sp>
        <p:nvSpPr>
          <p:cNvPr id="17" name="Shape 15"/>
          <p:cNvSpPr/>
          <p:nvPr/>
        </p:nvSpPr>
        <p:spPr>
          <a:xfrm>
            <a:off x="3401568" y="896112"/>
            <a:ext cx="1463040" cy="749808"/>
          </a:xfrm>
          <a:prstGeom prst="rect">
            <a:avLst/>
          </a:prstGeom>
          <a:solidFill>
            <a:srgbClr val="1B3A6B"/>
          </a:solidFill>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3401568" y="896112"/>
            <a:ext cx="1463040" cy="749808"/>
          </a:xfrm>
          <a:prstGeom prst="rect">
            <a:avLst/>
          </a:prstGeom>
          <a:noFill/>
          <a:ln/>
        </p:spPr>
        <p:txBody>
          <a:bodyPr wrap="square" lIns="0" tIns="0" rIns="0" bIns="0" rtlCol="0" anchor="ctr"/>
          <a:lstStyle/>
          <a:p>
            <a:pPr marL="0" indent="0" algn="ctr">
              <a:buNone/>
            </a:pPr>
            <a:r>
              <a:rPr lang="en-US" sz="950" b="1" dirty="0">
                <a:solidFill>
                  <a:srgbClr val="FFFFFF"/>
                </a:solidFill>
              </a:rPr>
              <a:t>XGBoost</a:t>
            </a:r>
            <a:endParaRPr lang="en-US" sz="950" dirty="0"/>
          </a:p>
          <a:p>
            <a:pPr marL="0" indent="0" algn="ctr">
              <a:buNone/>
            </a:pPr>
            <a:r>
              <a:rPr lang="en-US" sz="950" b="1" dirty="0">
                <a:solidFill>
                  <a:srgbClr val="FFFFFF"/>
                </a:solidFill>
              </a:rPr>
              <a:t>Fraud Score</a:t>
            </a:r>
            <a:endParaRPr lang="en-US" sz="950" dirty="0"/>
          </a:p>
        </p:txBody>
      </p:sp>
      <p:sp>
        <p:nvSpPr>
          <p:cNvPr id="19" name="Shape 17"/>
          <p:cNvSpPr/>
          <p:nvPr/>
        </p:nvSpPr>
        <p:spPr>
          <a:xfrm>
            <a:off x="4864608" y="1271016"/>
            <a:ext cx="338328" cy="0"/>
          </a:xfrm>
          <a:prstGeom prst="line">
            <a:avLst/>
          </a:prstGeom>
          <a:noFill/>
          <a:ln w="19050">
            <a:solidFill>
              <a:srgbClr val="64748B"/>
            </a:solidFill>
            <a:prstDash val="solid"/>
          </a:ln>
        </p:spPr>
        <p:txBody>
          <a:bodyPr/>
          <a:lstStyle/>
          <a:p>
            <a:endParaRPr lang="en-US"/>
          </a:p>
        </p:txBody>
      </p:sp>
      <p:sp>
        <p:nvSpPr>
          <p:cNvPr id="20" name="Text 18"/>
          <p:cNvSpPr/>
          <p:nvPr/>
        </p:nvSpPr>
        <p:spPr>
          <a:xfrm>
            <a:off x="5157216" y="1170432"/>
            <a:ext cx="182880" cy="201168"/>
          </a:xfrm>
          <a:prstGeom prst="rect">
            <a:avLst/>
          </a:prstGeom>
          <a:noFill/>
          <a:ln/>
        </p:spPr>
        <p:txBody>
          <a:bodyPr wrap="square" lIns="0" tIns="0" rIns="0" bIns="0" rtlCol="0" anchor="ctr"/>
          <a:lstStyle/>
          <a:p>
            <a:pPr marL="0" indent="0">
              <a:buNone/>
            </a:pPr>
            <a:r>
              <a:rPr lang="en-US" sz="900" dirty="0">
                <a:solidFill>
                  <a:srgbClr val="64748B"/>
                </a:solidFill>
              </a:rPr>
              <a:t>▶</a:t>
            </a:r>
            <a:endParaRPr lang="en-US" sz="900" dirty="0"/>
          </a:p>
        </p:txBody>
      </p:sp>
      <p:sp>
        <p:nvSpPr>
          <p:cNvPr id="21" name="Shape 19"/>
          <p:cNvSpPr/>
          <p:nvPr/>
        </p:nvSpPr>
        <p:spPr>
          <a:xfrm>
            <a:off x="5001768" y="896112"/>
            <a:ext cx="1463040" cy="749808"/>
          </a:xfrm>
          <a:prstGeom prst="rect">
            <a:avLst/>
          </a:prstGeom>
          <a:solidFill>
            <a:srgbClr val="D97706"/>
          </a:solidFill>
          <a:ln/>
          <a:effectLst>
            <a:outerShdw blurRad="101600" dist="38100" dir="8100000" algn="bl" rotWithShape="0">
              <a:srgbClr val="000000">
                <a:alpha val="12000"/>
              </a:srgbClr>
            </a:outerShdw>
          </a:effectLst>
        </p:spPr>
        <p:txBody>
          <a:bodyPr/>
          <a:lstStyle/>
          <a:p>
            <a:endParaRPr lang="en-US"/>
          </a:p>
        </p:txBody>
      </p:sp>
      <p:sp>
        <p:nvSpPr>
          <p:cNvPr id="22" name="Text 20"/>
          <p:cNvSpPr/>
          <p:nvPr/>
        </p:nvSpPr>
        <p:spPr>
          <a:xfrm>
            <a:off x="5001768" y="896112"/>
            <a:ext cx="1463040" cy="749808"/>
          </a:xfrm>
          <a:prstGeom prst="rect">
            <a:avLst/>
          </a:prstGeom>
          <a:noFill/>
          <a:ln/>
        </p:spPr>
        <p:txBody>
          <a:bodyPr wrap="square" lIns="0" tIns="0" rIns="0" bIns="0" rtlCol="0" anchor="ctr"/>
          <a:lstStyle/>
          <a:p>
            <a:pPr marL="0" indent="0" algn="ctr">
              <a:buNone/>
            </a:pPr>
            <a:r>
              <a:rPr lang="en-US" sz="950" b="1" dirty="0">
                <a:solidFill>
                  <a:srgbClr val="FFFFFF"/>
                </a:solidFill>
              </a:rPr>
              <a:t>Routing</a:t>
            </a:r>
            <a:endParaRPr lang="en-US" sz="950" dirty="0"/>
          </a:p>
          <a:p>
            <a:pPr marL="0" indent="0" algn="ctr">
              <a:buNone/>
            </a:pPr>
            <a:r>
              <a:rPr lang="en-US" sz="950" b="1" dirty="0">
                <a:solidFill>
                  <a:srgbClr val="FFFFFF"/>
                </a:solidFill>
              </a:rPr>
              <a:t>Decision</a:t>
            </a:r>
            <a:endParaRPr lang="en-US" sz="950" dirty="0"/>
          </a:p>
        </p:txBody>
      </p:sp>
      <p:sp>
        <p:nvSpPr>
          <p:cNvPr id="23" name="Shape 21"/>
          <p:cNvSpPr/>
          <p:nvPr/>
        </p:nvSpPr>
        <p:spPr>
          <a:xfrm>
            <a:off x="6464808" y="1271016"/>
            <a:ext cx="338328" cy="0"/>
          </a:xfrm>
          <a:prstGeom prst="line">
            <a:avLst/>
          </a:prstGeom>
          <a:noFill/>
          <a:ln w="19050">
            <a:solidFill>
              <a:srgbClr val="64748B"/>
            </a:solidFill>
            <a:prstDash val="solid"/>
          </a:ln>
        </p:spPr>
        <p:txBody>
          <a:bodyPr/>
          <a:lstStyle/>
          <a:p>
            <a:endParaRPr lang="en-US"/>
          </a:p>
        </p:txBody>
      </p:sp>
      <p:sp>
        <p:nvSpPr>
          <p:cNvPr id="24" name="Text 22"/>
          <p:cNvSpPr/>
          <p:nvPr/>
        </p:nvSpPr>
        <p:spPr>
          <a:xfrm>
            <a:off x="6757416" y="1170432"/>
            <a:ext cx="182880" cy="201168"/>
          </a:xfrm>
          <a:prstGeom prst="rect">
            <a:avLst/>
          </a:prstGeom>
          <a:noFill/>
          <a:ln/>
        </p:spPr>
        <p:txBody>
          <a:bodyPr wrap="square" lIns="0" tIns="0" rIns="0" bIns="0" rtlCol="0" anchor="ctr"/>
          <a:lstStyle/>
          <a:p>
            <a:pPr marL="0" indent="0">
              <a:buNone/>
            </a:pPr>
            <a:r>
              <a:rPr lang="en-US" sz="900" dirty="0">
                <a:solidFill>
                  <a:srgbClr val="64748B"/>
                </a:solidFill>
              </a:rPr>
              <a:t>▶</a:t>
            </a:r>
            <a:endParaRPr lang="en-US" sz="900" dirty="0"/>
          </a:p>
        </p:txBody>
      </p:sp>
      <p:sp>
        <p:nvSpPr>
          <p:cNvPr id="25" name="Shape 23"/>
          <p:cNvSpPr/>
          <p:nvPr/>
        </p:nvSpPr>
        <p:spPr>
          <a:xfrm>
            <a:off x="6601968" y="896112"/>
            <a:ext cx="1463040" cy="749808"/>
          </a:xfrm>
          <a:prstGeom prst="rect">
            <a:avLst/>
          </a:prstGeom>
          <a:solidFill>
            <a:srgbClr val="059669"/>
          </a:solidFill>
          <a:ln/>
          <a:effectLst>
            <a:outerShdw blurRad="101600" dist="38100" dir="8100000" algn="bl" rotWithShape="0">
              <a:srgbClr val="000000">
                <a:alpha val="12000"/>
              </a:srgbClr>
            </a:outerShdw>
          </a:effectLst>
        </p:spPr>
        <p:txBody>
          <a:bodyPr/>
          <a:lstStyle/>
          <a:p>
            <a:endParaRPr lang="en-US"/>
          </a:p>
        </p:txBody>
      </p:sp>
      <p:sp>
        <p:nvSpPr>
          <p:cNvPr id="26" name="Text 24"/>
          <p:cNvSpPr/>
          <p:nvPr/>
        </p:nvSpPr>
        <p:spPr>
          <a:xfrm>
            <a:off x="6601968" y="896112"/>
            <a:ext cx="1463040" cy="749808"/>
          </a:xfrm>
          <a:prstGeom prst="rect">
            <a:avLst/>
          </a:prstGeom>
          <a:noFill/>
          <a:ln/>
        </p:spPr>
        <p:txBody>
          <a:bodyPr wrap="square" lIns="0" tIns="0" rIns="0" bIns="0" rtlCol="0" anchor="ctr"/>
          <a:lstStyle/>
          <a:p>
            <a:pPr marL="0" indent="0" algn="ctr">
              <a:buNone/>
            </a:pPr>
            <a:r>
              <a:rPr lang="en-US" sz="950" b="1" dirty="0">
                <a:solidFill>
                  <a:srgbClr val="FFFFFF"/>
                </a:solidFill>
              </a:rPr>
              <a:t>Outcome</a:t>
            </a:r>
            <a:endParaRPr lang="en-US" sz="950" dirty="0"/>
          </a:p>
          <a:p>
            <a:pPr marL="0" indent="0" algn="ctr">
              <a:buNone/>
            </a:pPr>
            <a:r>
              <a:rPr lang="en-US" sz="950" b="1" dirty="0">
                <a:solidFill>
                  <a:srgbClr val="FFFFFF"/>
                </a:solidFill>
              </a:rPr>
              <a:t>Tracked</a:t>
            </a:r>
            <a:endParaRPr lang="en-US" sz="950" dirty="0"/>
          </a:p>
        </p:txBody>
      </p:sp>
      <p:sp>
        <p:nvSpPr>
          <p:cNvPr id="27" name="Text 25"/>
          <p:cNvSpPr/>
          <p:nvPr/>
        </p:nvSpPr>
        <p:spPr>
          <a:xfrm>
            <a:off x="201168" y="1801368"/>
            <a:ext cx="8686800" cy="228600"/>
          </a:xfrm>
          <a:prstGeom prst="rect">
            <a:avLst/>
          </a:prstGeom>
          <a:noFill/>
          <a:ln/>
        </p:spPr>
        <p:txBody>
          <a:bodyPr wrap="square" lIns="0" tIns="0" rIns="0" bIns="0" rtlCol="0" anchor="ctr"/>
          <a:lstStyle/>
          <a:p>
            <a:pPr marL="0" indent="0">
              <a:buNone/>
            </a:pPr>
            <a:r>
              <a:rPr lang="en-US" sz="850" b="1" kern="0" spc="100" dirty="0">
                <a:solidFill>
                  <a:srgbClr val="1B3A6B"/>
                </a:solidFill>
              </a:rPr>
              <a:t>DECISION TIERS BY FRAUD PROBABILITY SCORE</a:t>
            </a:r>
            <a:endParaRPr lang="en-US" sz="850" dirty="0"/>
          </a:p>
        </p:txBody>
      </p:sp>
      <p:sp>
        <p:nvSpPr>
          <p:cNvPr id="28" name="Shape 26"/>
          <p:cNvSpPr/>
          <p:nvPr/>
        </p:nvSpPr>
        <p:spPr>
          <a:xfrm>
            <a:off x="201168" y="2084832"/>
            <a:ext cx="8741664" cy="66751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9" name="Shape 27"/>
          <p:cNvSpPr/>
          <p:nvPr/>
        </p:nvSpPr>
        <p:spPr>
          <a:xfrm>
            <a:off x="201168" y="2084832"/>
            <a:ext cx="73152" cy="667512"/>
          </a:xfrm>
          <a:prstGeom prst="rect">
            <a:avLst/>
          </a:prstGeom>
          <a:solidFill>
            <a:srgbClr val="059669"/>
          </a:solidFill>
          <a:ln/>
        </p:spPr>
        <p:txBody>
          <a:bodyPr/>
          <a:lstStyle/>
          <a:p>
            <a:endParaRPr lang="en-US"/>
          </a:p>
        </p:txBody>
      </p:sp>
      <p:sp>
        <p:nvSpPr>
          <p:cNvPr id="30" name="Shape 28"/>
          <p:cNvSpPr/>
          <p:nvPr/>
        </p:nvSpPr>
        <p:spPr>
          <a:xfrm>
            <a:off x="320040" y="2157984"/>
            <a:ext cx="1371600" cy="512064"/>
          </a:xfrm>
          <a:prstGeom prst="rect">
            <a:avLst/>
          </a:prstGeom>
          <a:solidFill>
            <a:srgbClr val="059669"/>
          </a:solidFill>
          <a:ln/>
        </p:spPr>
        <p:txBody>
          <a:bodyPr/>
          <a:lstStyle/>
          <a:p>
            <a:endParaRPr lang="en-US"/>
          </a:p>
        </p:txBody>
      </p:sp>
      <p:sp>
        <p:nvSpPr>
          <p:cNvPr id="31" name="Text 29"/>
          <p:cNvSpPr/>
          <p:nvPr/>
        </p:nvSpPr>
        <p:spPr>
          <a:xfrm>
            <a:off x="320040" y="2157984"/>
            <a:ext cx="1371600" cy="512064"/>
          </a:xfrm>
          <a:prstGeom prst="rect">
            <a:avLst/>
          </a:prstGeom>
          <a:noFill/>
          <a:ln/>
        </p:spPr>
        <p:txBody>
          <a:bodyPr wrap="square" lIns="0" tIns="0" rIns="0" bIns="0" rtlCol="0" anchor="ctr"/>
          <a:lstStyle/>
          <a:p>
            <a:pPr marL="0" indent="0" algn="ctr">
              <a:buNone/>
            </a:pPr>
            <a:r>
              <a:rPr lang="en-US" sz="900" b="1" dirty="0">
                <a:solidFill>
                  <a:srgbClr val="FFFFFF"/>
                </a:solidFill>
              </a:rPr>
              <a:t>0.00 – 0.20</a:t>
            </a:r>
            <a:endParaRPr lang="en-US" sz="900" dirty="0"/>
          </a:p>
        </p:txBody>
      </p:sp>
      <p:sp>
        <p:nvSpPr>
          <p:cNvPr id="32" name="Text 30"/>
          <p:cNvSpPr/>
          <p:nvPr/>
        </p:nvSpPr>
        <p:spPr>
          <a:xfrm>
            <a:off x="1828800" y="2130552"/>
            <a:ext cx="2560320" cy="274320"/>
          </a:xfrm>
          <a:prstGeom prst="rect">
            <a:avLst/>
          </a:prstGeom>
          <a:noFill/>
          <a:ln/>
        </p:spPr>
        <p:txBody>
          <a:bodyPr wrap="square" lIns="0" tIns="0" rIns="0" bIns="0" rtlCol="0" anchor="ctr"/>
          <a:lstStyle/>
          <a:p>
            <a:pPr marL="0" indent="0">
              <a:buNone/>
            </a:pPr>
            <a:r>
              <a:rPr lang="en-US" sz="1000" b="1" dirty="0">
                <a:solidFill>
                  <a:srgbClr val="059669"/>
                </a:solidFill>
              </a:rPr>
              <a:t>AUTO-APPROVE (STP)</a:t>
            </a:r>
            <a:endParaRPr lang="en-US" sz="1000" dirty="0"/>
          </a:p>
        </p:txBody>
      </p:sp>
      <p:sp>
        <p:nvSpPr>
          <p:cNvPr id="33" name="Text 31"/>
          <p:cNvSpPr/>
          <p:nvPr/>
        </p:nvSpPr>
        <p:spPr>
          <a:xfrm>
            <a:off x="4434840" y="2130552"/>
            <a:ext cx="1280160" cy="274320"/>
          </a:xfrm>
          <a:prstGeom prst="rect">
            <a:avLst/>
          </a:prstGeom>
          <a:noFill/>
          <a:ln/>
        </p:spPr>
        <p:txBody>
          <a:bodyPr wrap="square" lIns="0" tIns="0" rIns="0" bIns="0" rtlCol="0" anchor="ctr"/>
          <a:lstStyle/>
          <a:p>
            <a:pPr marL="0" indent="0">
              <a:buNone/>
            </a:pPr>
            <a:r>
              <a:rPr lang="en-US" sz="950" b="1" dirty="0">
                <a:solidFill>
                  <a:srgbClr val="64748B"/>
                </a:solidFill>
              </a:rPr>
              <a:t>~72% of claims</a:t>
            </a:r>
            <a:endParaRPr lang="en-US" sz="950" dirty="0"/>
          </a:p>
        </p:txBody>
      </p:sp>
      <p:sp>
        <p:nvSpPr>
          <p:cNvPr id="34" name="Text 32"/>
          <p:cNvSpPr/>
          <p:nvPr/>
        </p:nvSpPr>
        <p:spPr>
          <a:xfrm>
            <a:off x="1828800" y="2432304"/>
            <a:ext cx="6995160" cy="274320"/>
          </a:xfrm>
          <a:prstGeom prst="rect">
            <a:avLst/>
          </a:prstGeom>
          <a:noFill/>
          <a:ln/>
        </p:spPr>
        <p:txBody>
          <a:bodyPr wrap="square" lIns="0" tIns="0" rIns="0" bIns="0" rtlCol="0" anchor="ctr"/>
          <a:lstStyle/>
          <a:p>
            <a:pPr marL="0" indent="0">
              <a:buNone/>
            </a:pPr>
            <a:r>
              <a:rPr lang="en-US" sz="850" dirty="0">
                <a:solidFill>
                  <a:srgbClr val="1E293B"/>
                </a:solidFill>
              </a:rPr>
              <a:t>Straight-through processing. No adjuster review. Payment released same day.</a:t>
            </a:r>
            <a:endParaRPr lang="en-US" sz="850" dirty="0"/>
          </a:p>
        </p:txBody>
      </p:sp>
      <p:sp>
        <p:nvSpPr>
          <p:cNvPr id="35" name="Shape 33"/>
          <p:cNvSpPr/>
          <p:nvPr/>
        </p:nvSpPr>
        <p:spPr>
          <a:xfrm>
            <a:off x="201168" y="2798064"/>
            <a:ext cx="8741664" cy="66751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6" name="Shape 34"/>
          <p:cNvSpPr/>
          <p:nvPr/>
        </p:nvSpPr>
        <p:spPr>
          <a:xfrm>
            <a:off x="201168" y="2798064"/>
            <a:ext cx="73152" cy="667512"/>
          </a:xfrm>
          <a:prstGeom prst="rect">
            <a:avLst/>
          </a:prstGeom>
          <a:solidFill>
            <a:srgbClr val="2563EB"/>
          </a:solidFill>
          <a:ln/>
        </p:spPr>
        <p:txBody>
          <a:bodyPr/>
          <a:lstStyle/>
          <a:p>
            <a:endParaRPr lang="en-US"/>
          </a:p>
        </p:txBody>
      </p:sp>
      <p:sp>
        <p:nvSpPr>
          <p:cNvPr id="37" name="Shape 35"/>
          <p:cNvSpPr/>
          <p:nvPr/>
        </p:nvSpPr>
        <p:spPr>
          <a:xfrm>
            <a:off x="320040" y="2871216"/>
            <a:ext cx="1371600" cy="512064"/>
          </a:xfrm>
          <a:prstGeom prst="rect">
            <a:avLst/>
          </a:prstGeom>
          <a:solidFill>
            <a:srgbClr val="2563EB"/>
          </a:solidFill>
          <a:ln/>
        </p:spPr>
        <p:txBody>
          <a:bodyPr/>
          <a:lstStyle/>
          <a:p>
            <a:endParaRPr lang="en-US"/>
          </a:p>
        </p:txBody>
      </p:sp>
      <p:sp>
        <p:nvSpPr>
          <p:cNvPr id="38" name="Text 36"/>
          <p:cNvSpPr/>
          <p:nvPr/>
        </p:nvSpPr>
        <p:spPr>
          <a:xfrm>
            <a:off x="320040" y="2871216"/>
            <a:ext cx="1371600" cy="512064"/>
          </a:xfrm>
          <a:prstGeom prst="rect">
            <a:avLst/>
          </a:prstGeom>
          <a:noFill/>
          <a:ln/>
        </p:spPr>
        <p:txBody>
          <a:bodyPr wrap="square" lIns="0" tIns="0" rIns="0" bIns="0" rtlCol="0" anchor="ctr"/>
          <a:lstStyle/>
          <a:p>
            <a:pPr marL="0" indent="0" algn="ctr">
              <a:buNone/>
            </a:pPr>
            <a:r>
              <a:rPr lang="en-US" sz="900" b="1" dirty="0">
                <a:solidFill>
                  <a:srgbClr val="FFFFFF"/>
                </a:solidFill>
              </a:rPr>
              <a:t>0.20 – 0.60</a:t>
            </a:r>
            <a:endParaRPr lang="en-US" sz="900" dirty="0"/>
          </a:p>
        </p:txBody>
      </p:sp>
      <p:sp>
        <p:nvSpPr>
          <p:cNvPr id="39" name="Text 37"/>
          <p:cNvSpPr/>
          <p:nvPr/>
        </p:nvSpPr>
        <p:spPr>
          <a:xfrm>
            <a:off x="1828800" y="2843784"/>
            <a:ext cx="2560320" cy="274320"/>
          </a:xfrm>
          <a:prstGeom prst="rect">
            <a:avLst/>
          </a:prstGeom>
          <a:noFill/>
          <a:ln/>
        </p:spPr>
        <p:txBody>
          <a:bodyPr wrap="square" lIns="0" tIns="0" rIns="0" bIns="0" rtlCol="0" anchor="ctr"/>
          <a:lstStyle/>
          <a:p>
            <a:pPr marL="0" indent="0">
              <a:buNone/>
            </a:pPr>
            <a:r>
              <a:rPr lang="en-US" sz="1000" b="1" dirty="0">
                <a:solidFill>
                  <a:srgbClr val="2563EB"/>
                </a:solidFill>
              </a:rPr>
              <a:t>STANDARD REVIEW</a:t>
            </a:r>
            <a:endParaRPr lang="en-US" sz="1000" dirty="0"/>
          </a:p>
        </p:txBody>
      </p:sp>
      <p:sp>
        <p:nvSpPr>
          <p:cNvPr id="40" name="Text 38"/>
          <p:cNvSpPr/>
          <p:nvPr/>
        </p:nvSpPr>
        <p:spPr>
          <a:xfrm>
            <a:off x="4434840" y="2843784"/>
            <a:ext cx="1280160" cy="274320"/>
          </a:xfrm>
          <a:prstGeom prst="rect">
            <a:avLst/>
          </a:prstGeom>
          <a:noFill/>
          <a:ln/>
        </p:spPr>
        <p:txBody>
          <a:bodyPr wrap="square" lIns="0" tIns="0" rIns="0" bIns="0" rtlCol="0" anchor="ctr"/>
          <a:lstStyle/>
          <a:p>
            <a:pPr marL="0" indent="0">
              <a:buNone/>
            </a:pPr>
            <a:r>
              <a:rPr lang="en-US" sz="950" b="1" dirty="0">
                <a:solidFill>
                  <a:srgbClr val="64748B"/>
                </a:solidFill>
              </a:rPr>
              <a:t>~23% of claims</a:t>
            </a:r>
            <a:endParaRPr lang="en-US" sz="950" dirty="0"/>
          </a:p>
        </p:txBody>
      </p:sp>
      <p:sp>
        <p:nvSpPr>
          <p:cNvPr id="41" name="Text 39"/>
          <p:cNvSpPr/>
          <p:nvPr/>
        </p:nvSpPr>
        <p:spPr>
          <a:xfrm>
            <a:off x="1828800" y="3145536"/>
            <a:ext cx="6995160" cy="274320"/>
          </a:xfrm>
          <a:prstGeom prst="rect">
            <a:avLst/>
          </a:prstGeom>
          <a:noFill/>
          <a:ln/>
        </p:spPr>
        <p:txBody>
          <a:bodyPr wrap="square" lIns="0" tIns="0" rIns="0" bIns="0" rtlCol="0" anchor="ctr"/>
          <a:lstStyle/>
          <a:p>
            <a:pPr marL="0" indent="0">
              <a:buNone/>
            </a:pPr>
            <a:r>
              <a:rPr lang="en-US" sz="850" dirty="0">
                <a:solidFill>
                  <a:srgbClr val="1E293B"/>
                </a:solidFill>
              </a:rPr>
              <a:t>Normal adjuster queue. Standard 3–5 day processing. Model score included in file.</a:t>
            </a:r>
            <a:endParaRPr lang="en-US" sz="850" dirty="0"/>
          </a:p>
        </p:txBody>
      </p:sp>
      <p:sp>
        <p:nvSpPr>
          <p:cNvPr id="42" name="Shape 40"/>
          <p:cNvSpPr/>
          <p:nvPr/>
        </p:nvSpPr>
        <p:spPr>
          <a:xfrm>
            <a:off x="201168" y="3511296"/>
            <a:ext cx="8741664" cy="66751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3" name="Shape 41"/>
          <p:cNvSpPr/>
          <p:nvPr/>
        </p:nvSpPr>
        <p:spPr>
          <a:xfrm>
            <a:off x="201168" y="3511296"/>
            <a:ext cx="73152" cy="667512"/>
          </a:xfrm>
          <a:prstGeom prst="rect">
            <a:avLst/>
          </a:prstGeom>
          <a:solidFill>
            <a:srgbClr val="D97706"/>
          </a:solidFill>
          <a:ln/>
        </p:spPr>
        <p:txBody>
          <a:bodyPr/>
          <a:lstStyle/>
          <a:p>
            <a:endParaRPr lang="en-US"/>
          </a:p>
        </p:txBody>
      </p:sp>
      <p:sp>
        <p:nvSpPr>
          <p:cNvPr id="44" name="Shape 42"/>
          <p:cNvSpPr/>
          <p:nvPr/>
        </p:nvSpPr>
        <p:spPr>
          <a:xfrm>
            <a:off x="320040" y="3584448"/>
            <a:ext cx="1371600" cy="512064"/>
          </a:xfrm>
          <a:prstGeom prst="rect">
            <a:avLst/>
          </a:prstGeom>
          <a:solidFill>
            <a:srgbClr val="D97706"/>
          </a:solidFill>
          <a:ln/>
        </p:spPr>
        <p:txBody>
          <a:bodyPr/>
          <a:lstStyle/>
          <a:p>
            <a:endParaRPr lang="en-US"/>
          </a:p>
        </p:txBody>
      </p:sp>
      <p:sp>
        <p:nvSpPr>
          <p:cNvPr id="45" name="Text 43"/>
          <p:cNvSpPr/>
          <p:nvPr/>
        </p:nvSpPr>
        <p:spPr>
          <a:xfrm>
            <a:off x="320040" y="3584448"/>
            <a:ext cx="1371600" cy="512064"/>
          </a:xfrm>
          <a:prstGeom prst="rect">
            <a:avLst/>
          </a:prstGeom>
          <a:noFill/>
          <a:ln/>
        </p:spPr>
        <p:txBody>
          <a:bodyPr wrap="square" lIns="0" tIns="0" rIns="0" bIns="0" rtlCol="0" anchor="ctr"/>
          <a:lstStyle/>
          <a:p>
            <a:pPr marL="0" indent="0" algn="ctr">
              <a:buNone/>
            </a:pPr>
            <a:r>
              <a:rPr lang="en-US" sz="900" b="1" dirty="0">
                <a:solidFill>
                  <a:srgbClr val="FFFFFF"/>
                </a:solidFill>
              </a:rPr>
              <a:t>0.60 – 0.85</a:t>
            </a:r>
            <a:endParaRPr lang="en-US" sz="900" dirty="0"/>
          </a:p>
        </p:txBody>
      </p:sp>
      <p:sp>
        <p:nvSpPr>
          <p:cNvPr id="46" name="Text 44"/>
          <p:cNvSpPr/>
          <p:nvPr/>
        </p:nvSpPr>
        <p:spPr>
          <a:xfrm>
            <a:off x="1828800" y="3557016"/>
            <a:ext cx="2560320" cy="274320"/>
          </a:xfrm>
          <a:prstGeom prst="rect">
            <a:avLst/>
          </a:prstGeom>
          <a:noFill/>
          <a:ln/>
        </p:spPr>
        <p:txBody>
          <a:bodyPr wrap="square" lIns="0" tIns="0" rIns="0" bIns="0" rtlCol="0" anchor="ctr"/>
          <a:lstStyle/>
          <a:p>
            <a:pPr marL="0" indent="0">
              <a:buNone/>
            </a:pPr>
            <a:r>
              <a:rPr lang="en-US" sz="1000" b="1" dirty="0">
                <a:solidFill>
                  <a:srgbClr val="D97706"/>
                </a:solidFill>
              </a:rPr>
              <a:t>ENHANCED REVIEW</a:t>
            </a:r>
            <a:endParaRPr lang="en-US" sz="1000" dirty="0"/>
          </a:p>
        </p:txBody>
      </p:sp>
      <p:sp>
        <p:nvSpPr>
          <p:cNvPr id="47" name="Text 45"/>
          <p:cNvSpPr/>
          <p:nvPr/>
        </p:nvSpPr>
        <p:spPr>
          <a:xfrm>
            <a:off x="4434840" y="3557016"/>
            <a:ext cx="1280160" cy="274320"/>
          </a:xfrm>
          <a:prstGeom prst="rect">
            <a:avLst/>
          </a:prstGeom>
          <a:noFill/>
          <a:ln/>
        </p:spPr>
        <p:txBody>
          <a:bodyPr wrap="square" lIns="0" tIns="0" rIns="0" bIns="0" rtlCol="0" anchor="ctr"/>
          <a:lstStyle/>
          <a:p>
            <a:pPr marL="0" indent="0">
              <a:buNone/>
            </a:pPr>
            <a:r>
              <a:rPr lang="en-US" sz="950" b="1" dirty="0">
                <a:solidFill>
                  <a:srgbClr val="64748B"/>
                </a:solidFill>
              </a:rPr>
              <a:t>~4% of claims</a:t>
            </a:r>
            <a:endParaRPr lang="en-US" sz="950" dirty="0"/>
          </a:p>
        </p:txBody>
      </p:sp>
      <p:sp>
        <p:nvSpPr>
          <p:cNvPr id="48" name="Text 46"/>
          <p:cNvSpPr/>
          <p:nvPr/>
        </p:nvSpPr>
        <p:spPr>
          <a:xfrm>
            <a:off x="1828800" y="3858768"/>
            <a:ext cx="6995160" cy="274320"/>
          </a:xfrm>
          <a:prstGeom prst="rect">
            <a:avLst/>
          </a:prstGeom>
          <a:noFill/>
          <a:ln/>
        </p:spPr>
        <p:txBody>
          <a:bodyPr wrap="square" lIns="0" tIns="0" rIns="0" bIns="0" rtlCol="0" anchor="ctr"/>
          <a:lstStyle/>
          <a:p>
            <a:pPr marL="0" indent="0">
              <a:buNone/>
            </a:pPr>
            <a:r>
              <a:rPr lang="en-US" sz="850" dirty="0">
                <a:solidFill>
                  <a:srgbClr val="1E293B"/>
                </a:solidFill>
              </a:rPr>
              <a:t>Senior adjuster assigned. Payment hold until investigation complete. Partner notified.</a:t>
            </a:r>
            <a:endParaRPr lang="en-US" sz="850" dirty="0"/>
          </a:p>
        </p:txBody>
      </p:sp>
      <p:sp>
        <p:nvSpPr>
          <p:cNvPr id="49" name="Shape 47"/>
          <p:cNvSpPr/>
          <p:nvPr/>
        </p:nvSpPr>
        <p:spPr>
          <a:xfrm>
            <a:off x="201168" y="4224528"/>
            <a:ext cx="8741664" cy="66751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0" name="Shape 48"/>
          <p:cNvSpPr/>
          <p:nvPr/>
        </p:nvSpPr>
        <p:spPr>
          <a:xfrm>
            <a:off x="201168" y="4224528"/>
            <a:ext cx="73152" cy="667512"/>
          </a:xfrm>
          <a:prstGeom prst="rect">
            <a:avLst/>
          </a:prstGeom>
          <a:solidFill>
            <a:srgbClr val="DC2626"/>
          </a:solidFill>
          <a:ln/>
        </p:spPr>
        <p:txBody>
          <a:bodyPr/>
          <a:lstStyle/>
          <a:p>
            <a:endParaRPr lang="en-US"/>
          </a:p>
        </p:txBody>
      </p:sp>
      <p:sp>
        <p:nvSpPr>
          <p:cNvPr id="51" name="Shape 49"/>
          <p:cNvSpPr/>
          <p:nvPr/>
        </p:nvSpPr>
        <p:spPr>
          <a:xfrm>
            <a:off x="320040" y="4297680"/>
            <a:ext cx="1371600" cy="512064"/>
          </a:xfrm>
          <a:prstGeom prst="rect">
            <a:avLst/>
          </a:prstGeom>
          <a:solidFill>
            <a:srgbClr val="DC2626"/>
          </a:solidFill>
          <a:ln/>
        </p:spPr>
        <p:txBody>
          <a:bodyPr/>
          <a:lstStyle/>
          <a:p>
            <a:endParaRPr lang="en-US"/>
          </a:p>
        </p:txBody>
      </p:sp>
      <p:sp>
        <p:nvSpPr>
          <p:cNvPr id="52" name="Text 50"/>
          <p:cNvSpPr/>
          <p:nvPr/>
        </p:nvSpPr>
        <p:spPr>
          <a:xfrm>
            <a:off x="320040" y="4297680"/>
            <a:ext cx="1371600" cy="512064"/>
          </a:xfrm>
          <a:prstGeom prst="rect">
            <a:avLst/>
          </a:prstGeom>
          <a:noFill/>
          <a:ln/>
        </p:spPr>
        <p:txBody>
          <a:bodyPr wrap="square" lIns="0" tIns="0" rIns="0" bIns="0" rtlCol="0" anchor="ctr"/>
          <a:lstStyle/>
          <a:p>
            <a:pPr marL="0" indent="0" algn="ctr">
              <a:buNone/>
            </a:pPr>
            <a:r>
              <a:rPr lang="en-US" sz="900" b="1" dirty="0">
                <a:solidFill>
                  <a:srgbClr val="FFFFFF"/>
                </a:solidFill>
              </a:rPr>
              <a:t>&gt; 0.85</a:t>
            </a:r>
            <a:endParaRPr lang="en-US" sz="900" dirty="0"/>
          </a:p>
        </p:txBody>
      </p:sp>
      <p:sp>
        <p:nvSpPr>
          <p:cNvPr id="53" name="Text 51"/>
          <p:cNvSpPr/>
          <p:nvPr/>
        </p:nvSpPr>
        <p:spPr>
          <a:xfrm>
            <a:off x="1828800" y="4270248"/>
            <a:ext cx="2560320" cy="274320"/>
          </a:xfrm>
          <a:prstGeom prst="rect">
            <a:avLst/>
          </a:prstGeom>
          <a:noFill/>
          <a:ln/>
        </p:spPr>
        <p:txBody>
          <a:bodyPr wrap="square" lIns="0" tIns="0" rIns="0" bIns="0" rtlCol="0" anchor="ctr"/>
          <a:lstStyle/>
          <a:p>
            <a:pPr marL="0" indent="0">
              <a:buNone/>
            </a:pPr>
            <a:r>
              <a:rPr lang="en-US" sz="1000" b="1" dirty="0">
                <a:solidFill>
                  <a:srgbClr val="DC2626"/>
                </a:solidFill>
              </a:rPr>
              <a:t>ESCALATE</a:t>
            </a:r>
            <a:endParaRPr lang="en-US" sz="1000" dirty="0"/>
          </a:p>
        </p:txBody>
      </p:sp>
      <p:sp>
        <p:nvSpPr>
          <p:cNvPr id="54" name="Text 52"/>
          <p:cNvSpPr/>
          <p:nvPr/>
        </p:nvSpPr>
        <p:spPr>
          <a:xfrm>
            <a:off x="4434840" y="4270248"/>
            <a:ext cx="1280160" cy="274320"/>
          </a:xfrm>
          <a:prstGeom prst="rect">
            <a:avLst/>
          </a:prstGeom>
          <a:noFill/>
          <a:ln/>
        </p:spPr>
        <p:txBody>
          <a:bodyPr wrap="square" lIns="0" tIns="0" rIns="0" bIns="0" rtlCol="0" anchor="ctr"/>
          <a:lstStyle/>
          <a:p>
            <a:pPr marL="0" indent="0">
              <a:buNone/>
            </a:pPr>
            <a:r>
              <a:rPr lang="en-US" sz="950" b="1" dirty="0">
                <a:solidFill>
                  <a:srgbClr val="64748B"/>
                </a:solidFill>
              </a:rPr>
              <a:t>~1% of claims</a:t>
            </a:r>
            <a:endParaRPr lang="en-US" sz="950" dirty="0"/>
          </a:p>
        </p:txBody>
      </p:sp>
      <p:sp>
        <p:nvSpPr>
          <p:cNvPr id="55" name="Text 53"/>
          <p:cNvSpPr/>
          <p:nvPr/>
        </p:nvSpPr>
        <p:spPr>
          <a:xfrm>
            <a:off x="1828800" y="4572000"/>
            <a:ext cx="6995160" cy="274320"/>
          </a:xfrm>
          <a:prstGeom prst="rect">
            <a:avLst/>
          </a:prstGeom>
          <a:noFill/>
          <a:ln/>
        </p:spPr>
        <p:txBody>
          <a:bodyPr wrap="square" lIns="0" tIns="0" rIns="0" bIns="0" rtlCol="0" anchor="ctr"/>
          <a:lstStyle/>
          <a:p>
            <a:pPr marL="0" indent="0">
              <a:buNone/>
            </a:pPr>
            <a:r>
              <a:rPr lang="en-US" sz="850" dirty="0">
                <a:solidFill>
                  <a:srgbClr val="1E293B"/>
                </a:solidFill>
              </a:rPr>
              <a:t>Fraud team escalation. Full partner audit triggered. Payment suspended pending investigation.</a:t>
            </a:r>
            <a:endParaRPr lang="en-US" sz="850" dirty="0"/>
          </a:p>
        </p:txBody>
      </p:sp>
      <p:sp>
        <p:nvSpPr>
          <p:cNvPr id="56" name="Shape 54"/>
          <p:cNvSpPr/>
          <p:nvPr/>
        </p:nvSpPr>
        <p:spPr>
          <a:xfrm>
            <a:off x="201168" y="4901184"/>
            <a:ext cx="8741664" cy="164592"/>
          </a:xfrm>
          <a:prstGeom prst="rect">
            <a:avLst/>
          </a:prstGeom>
          <a:solidFill>
            <a:srgbClr val="EFF6FF"/>
          </a:solidFill>
          <a:ln/>
        </p:spPr>
        <p:txBody>
          <a:bodyPr/>
          <a:lstStyle/>
          <a:p>
            <a:endParaRPr lang="en-US"/>
          </a:p>
        </p:txBody>
      </p:sp>
      <p:sp>
        <p:nvSpPr>
          <p:cNvPr id="57" name="Text 55"/>
          <p:cNvSpPr/>
          <p:nvPr/>
        </p:nvSpPr>
        <p:spPr>
          <a:xfrm>
            <a:off x="292608" y="4910328"/>
            <a:ext cx="8558784" cy="146304"/>
          </a:xfrm>
          <a:prstGeom prst="rect">
            <a:avLst/>
          </a:prstGeom>
          <a:noFill/>
          <a:ln/>
        </p:spPr>
        <p:txBody>
          <a:bodyPr wrap="square" lIns="0" tIns="0" rIns="0" bIns="0" rtlCol="0" anchor="ctr"/>
          <a:lstStyle/>
          <a:p>
            <a:pPr marL="0" indent="0">
              <a:buNone/>
            </a:pPr>
            <a:r>
              <a:rPr lang="en-US" sz="750" dirty="0">
                <a:solidFill>
                  <a:srgbClr val="1B3A6B"/>
                </a:solidFill>
              </a:rPr>
              <a:t>Step 8: FastAPI endpoint deployed, POST /predict returns {fraud_probability, risk_tier, top_3_shap_factors}. Containerized via Docker. Demo: /deployment/demo.gif in GitHub repo.</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3200400"/>
            <a:ext cx="9144000" cy="1943100"/>
          </a:xfrm>
          <a:prstGeom prst="rect">
            <a:avLst/>
          </a:prstGeom>
          <a:solidFill>
            <a:srgbClr val="152D54"/>
          </a:solidFill>
          <a:ln/>
        </p:spPr>
        <p:txBody>
          <a:bodyPr/>
          <a:lstStyle/>
          <a:p>
            <a:endParaRPr lang="en-US"/>
          </a:p>
        </p:txBody>
      </p:sp>
      <p:sp>
        <p:nvSpPr>
          <p:cNvPr id="3" name="Shape 1"/>
          <p:cNvSpPr/>
          <p:nvPr/>
        </p:nvSpPr>
        <p:spPr>
          <a:xfrm>
            <a:off x="0" y="3182112"/>
            <a:ext cx="9144000" cy="54864"/>
          </a:xfrm>
          <a:prstGeom prst="rect">
            <a:avLst/>
          </a:prstGeom>
          <a:solidFill>
            <a:srgbClr val="2563EB"/>
          </a:solidFill>
          <a:ln/>
        </p:spPr>
        <p:txBody>
          <a:bodyPr/>
          <a:lstStyle/>
          <a:p>
            <a:endParaRPr lang="en-US"/>
          </a:p>
        </p:txBody>
      </p:sp>
      <p:sp>
        <p:nvSpPr>
          <p:cNvPr id="4" name="Text 2"/>
          <p:cNvSpPr/>
          <p:nvPr/>
        </p:nvSpPr>
        <p:spPr>
          <a:xfrm>
            <a:off x="457200" y="274320"/>
            <a:ext cx="8229600" cy="320040"/>
          </a:xfrm>
          <a:prstGeom prst="rect">
            <a:avLst/>
          </a:prstGeom>
          <a:noFill/>
          <a:ln/>
        </p:spPr>
        <p:txBody>
          <a:bodyPr wrap="square" lIns="0" tIns="0" rIns="0" bIns="0" rtlCol="0" anchor="ctr"/>
          <a:lstStyle/>
          <a:p>
            <a:pPr marL="0" indent="0">
              <a:buNone/>
            </a:pPr>
            <a:r>
              <a:rPr lang="en-US" sz="1100" b="1" kern="0" spc="300" dirty="0">
                <a:solidFill>
                  <a:srgbClr val="BFDBFE"/>
                </a:solidFill>
              </a:rPr>
              <a:t>CONCLUSIONS</a:t>
            </a:r>
            <a:endParaRPr lang="en-US" sz="1100" dirty="0"/>
          </a:p>
        </p:txBody>
      </p:sp>
      <p:sp>
        <p:nvSpPr>
          <p:cNvPr id="5" name="Text 3"/>
          <p:cNvSpPr/>
          <p:nvPr/>
        </p:nvSpPr>
        <p:spPr>
          <a:xfrm>
            <a:off x="457200" y="640080"/>
            <a:ext cx="8229600" cy="457200"/>
          </a:xfrm>
          <a:prstGeom prst="rect">
            <a:avLst/>
          </a:prstGeom>
          <a:noFill/>
          <a:ln/>
        </p:spPr>
        <p:txBody>
          <a:bodyPr wrap="square" lIns="0" tIns="0" rIns="0" bIns="0" rtlCol="0" anchor="ctr"/>
          <a:lstStyle/>
          <a:p>
            <a:pPr marL="0" indent="0">
              <a:buNone/>
            </a:pPr>
            <a:r>
              <a:rPr lang="en-US" sz="2200" b="1" dirty="0">
                <a:solidFill>
                  <a:srgbClr val="FFFFFF"/>
                </a:solidFill>
              </a:rPr>
              <a:t>A model that works. A process that scales. A business case that is clear.</a:t>
            </a:r>
            <a:endParaRPr lang="en-US" sz="2200" dirty="0"/>
          </a:p>
        </p:txBody>
      </p:sp>
      <p:sp>
        <p:nvSpPr>
          <p:cNvPr id="6" name="Shape 4"/>
          <p:cNvSpPr/>
          <p:nvPr/>
        </p:nvSpPr>
        <p:spPr>
          <a:xfrm>
            <a:off x="365760" y="1188720"/>
            <a:ext cx="4114800" cy="868680"/>
          </a:xfrm>
          <a:prstGeom prst="rect">
            <a:avLst/>
          </a:prstGeom>
          <a:solidFill>
            <a:srgbClr val="0F2547"/>
          </a:solidFill>
          <a:ln/>
        </p:spPr>
        <p:txBody>
          <a:bodyPr/>
          <a:lstStyle/>
          <a:p>
            <a:endParaRPr lang="en-US"/>
          </a:p>
        </p:txBody>
      </p:sp>
      <p:sp>
        <p:nvSpPr>
          <p:cNvPr id="7" name="Shape 5"/>
          <p:cNvSpPr/>
          <p:nvPr/>
        </p:nvSpPr>
        <p:spPr>
          <a:xfrm>
            <a:off x="365760" y="1188720"/>
            <a:ext cx="64008" cy="868680"/>
          </a:xfrm>
          <a:prstGeom prst="rect">
            <a:avLst/>
          </a:prstGeom>
          <a:solidFill>
            <a:srgbClr val="059669"/>
          </a:solidFill>
          <a:ln/>
        </p:spPr>
        <p:txBody>
          <a:bodyPr/>
          <a:lstStyle/>
          <a:p>
            <a:endParaRPr lang="en-US"/>
          </a:p>
        </p:txBody>
      </p:sp>
      <p:sp>
        <p:nvSpPr>
          <p:cNvPr id="8" name="Text 6"/>
          <p:cNvSpPr/>
          <p:nvPr/>
        </p:nvSpPr>
        <p:spPr>
          <a:xfrm>
            <a:off x="502920" y="1234440"/>
            <a:ext cx="3886200" cy="274320"/>
          </a:xfrm>
          <a:prstGeom prst="rect">
            <a:avLst/>
          </a:prstGeom>
          <a:noFill/>
          <a:ln/>
        </p:spPr>
        <p:txBody>
          <a:bodyPr wrap="square" lIns="0" tIns="0" rIns="0" bIns="0" rtlCol="0" anchor="ctr"/>
          <a:lstStyle/>
          <a:p>
            <a:pPr marL="0" indent="0">
              <a:buNone/>
            </a:pPr>
            <a:r>
              <a:rPr lang="en-US" sz="1000" b="1" dirty="0">
                <a:solidFill>
                  <a:srgbClr val="059669"/>
                </a:solidFill>
              </a:rPr>
              <a:t>Technical Goal Achieved</a:t>
            </a:r>
            <a:endParaRPr lang="en-US" sz="1000" dirty="0"/>
          </a:p>
        </p:txBody>
      </p:sp>
      <p:sp>
        <p:nvSpPr>
          <p:cNvPr id="9" name="Text 7"/>
          <p:cNvSpPr/>
          <p:nvPr/>
        </p:nvSpPr>
        <p:spPr>
          <a:xfrm>
            <a:off x="502920" y="1572768"/>
            <a:ext cx="3886200" cy="438912"/>
          </a:xfrm>
          <a:prstGeom prst="rect">
            <a:avLst/>
          </a:prstGeom>
          <a:noFill/>
          <a:ln/>
        </p:spPr>
        <p:txBody>
          <a:bodyPr wrap="square" lIns="0" tIns="0" rIns="0" bIns="0" rtlCol="0" anchor="ctr"/>
          <a:lstStyle/>
          <a:p>
            <a:pPr marL="0" indent="0">
              <a:buNone/>
            </a:pPr>
            <a:r>
              <a:rPr lang="en-US" sz="900" dirty="0">
                <a:solidFill>
                  <a:srgbClr val="BFDBFE"/>
                </a:solidFill>
              </a:rPr>
              <a:t>XGBoost AUC-ROC 0.9412, exceeding the 0.85 target. 79% fraud recall at the 0.5 threshold.</a:t>
            </a:r>
            <a:endParaRPr lang="en-US" sz="900" dirty="0"/>
          </a:p>
        </p:txBody>
      </p:sp>
      <p:sp>
        <p:nvSpPr>
          <p:cNvPr id="10" name="Shape 8"/>
          <p:cNvSpPr/>
          <p:nvPr/>
        </p:nvSpPr>
        <p:spPr>
          <a:xfrm>
            <a:off x="4754880" y="1188720"/>
            <a:ext cx="4114800" cy="868680"/>
          </a:xfrm>
          <a:prstGeom prst="rect">
            <a:avLst/>
          </a:prstGeom>
          <a:solidFill>
            <a:srgbClr val="0F2547"/>
          </a:solidFill>
          <a:ln/>
        </p:spPr>
        <p:txBody>
          <a:bodyPr/>
          <a:lstStyle/>
          <a:p>
            <a:endParaRPr lang="en-US"/>
          </a:p>
        </p:txBody>
      </p:sp>
      <p:sp>
        <p:nvSpPr>
          <p:cNvPr id="11" name="Shape 9"/>
          <p:cNvSpPr/>
          <p:nvPr/>
        </p:nvSpPr>
        <p:spPr>
          <a:xfrm>
            <a:off x="4754880" y="1188720"/>
            <a:ext cx="64008" cy="868680"/>
          </a:xfrm>
          <a:prstGeom prst="rect">
            <a:avLst/>
          </a:prstGeom>
          <a:solidFill>
            <a:srgbClr val="D97706"/>
          </a:solidFill>
          <a:ln/>
        </p:spPr>
        <p:txBody>
          <a:bodyPr/>
          <a:lstStyle/>
          <a:p>
            <a:endParaRPr lang="en-US"/>
          </a:p>
        </p:txBody>
      </p:sp>
      <p:sp>
        <p:nvSpPr>
          <p:cNvPr id="12" name="Text 10"/>
          <p:cNvSpPr/>
          <p:nvPr/>
        </p:nvSpPr>
        <p:spPr>
          <a:xfrm>
            <a:off x="4892040" y="1234440"/>
            <a:ext cx="3886200" cy="274320"/>
          </a:xfrm>
          <a:prstGeom prst="rect">
            <a:avLst/>
          </a:prstGeom>
          <a:noFill/>
          <a:ln/>
        </p:spPr>
        <p:txBody>
          <a:bodyPr wrap="square" lIns="0" tIns="0" rIns="0" bIns="0" rtlCol="0" anchor="ctr"/>
          <a:lstStyle/>
          <a:p>
            <a:pPr marL="0" indent="0">
              <a:buNone/>
            </a:pPr>
            <a:r>
              <a:rPr lang="en-US" sz="1000" b="1" dirty="0">
                <a:solidFill>
                  <a:srgbClr val="D97706"/>
                </a:solidFill>
              </a:rPr>
              <a:t>Business Value Proven</a:t>
            </a:r>
            <a:endParaRPr lang="en-US" sz="1000" dirty="0"/>
          </a:p>
        </p:txBody>
      </p:sp>
      <p:sp>
        <p:nvSpPr>
          <p:cNvPr id="13" name="Text 11"/>
          <p:cNvSpPr/>
          <p:nvPr/>
        </p:nvSpPr>
        <p:spPr>
          <a:xfrm>
            <a:off x="4892040" y="1572768"/>
            <a:ext cx="3886200" cy="438912"/>
          </a:xfrm>
          <a:prstGeom prst="rect">
            <a:avLst/>
          </a:prstGeom>
          <a:noFill/>
          <a:ln/>
        </p:spPr>
        <p:txBody>
          <a:bodyPr wrap="square" lIns="0" tIns="0" rIns="0" bIns="0" rtlCol="0" anchor="ctr"/>
          <a:lstStyle/>
          <a:p>
            <a:pPr marL="0" indent="0">
              <a:buNone/>
            </a:pPr>
            <a:r>
              <a:rPr lang="en-US" sz="900" dirty="0">
                <a:solidFill>
                  <a:srgbClr val="BFDBFE"/>
                </a:solidFill>
              </a:rPr>
              <a:t>USD 150K estimated annual savings against USD 43K deployment cost yields 304% Year 1 ROI.</a:t>
            </a:r>
            <a:endParaRPr lang="en-US" sz="900" dirty="0"/>
          </a:p>
        </p:txBody>
      </p:sp>
      <p:sp>
        <p:nvSpPr>
          <p:cNvPr id="14" name="Shape 12"/>
          <p:cNvSpPr/>
          <p:nvPr/>
        </p:nvSpPr>
        <p:spPr>
          <a:xfrm>
            <a:off x="365760" y="2148840"/>
            <a:ext cx="4114800" cy="868680"/>
          </a:xfrm>
          <a:prstGeom prst="rect">
            <a:avLst/>
          </a:prstGeom>
          <a:solidFill>
            <a:srgbClr val="0F2547"/>
          </a:solidFill>
          <a:ln/>
        </p:spPr>
        <p:txBody>
          <a:bodyPr/>
          <a:lstStyle/>
          <a:p>
            <a:endParaRPr lang="en-US"/>
          </a:p>
        </p:txBody>
      </p:sp>
      <p:sp>
        <p:nvSpPr>
          <p:cNvPr id="15" name="Shape 13"/>
          <p:cNvSpPr/>
          <p:nvPr/>
        </p:nvSpPr>
        <p:spPr>
          <a:xfrm>
            <a:off x="365760" y="2148840"/>
            <a:ext cx="64008" cy="868680"/>
          </a:xfrm>
          <a:prstGeom prst="rect">
            <a:avLst/>
          </a:prstGeom>
          <a:solidFill>
            <a:srgbClr val="2563EB"/>
          </a:solidFill>
          <a:ln/>
        </p:spPr>
        <p:txBody>
          <a:bodyPr/>
          <a:lstStyle/>
          <a:p>
            <a:endParaRPr lang="en-US"/>
          </a:p>
        </p:txBody>
      </p:sp>
      <p:sp>
        <p:nvSpPr>
          <p:cNvPr id="16" name="Text 14"/>
          <p:cNvSpPr/>
          <p:nvPr/>
        </p:nvSpPr>
        <p:spPr>
          <a:xfrm>
            <a:off x="502920" y="2194560"/>
            <a:ext cx="3886200" cy="274320"/>
          </a:xfrm>
          <a:prstGeom prst="rect">
            <a:avLst/>
          </a:prstGeom>
          <a:noFill/>
          <a:ln/>
        </p:spPr>
        <p:txBody>
          <a:bodyPr wrap="square" lIns="0" tIns="0" rIns="0" bIns="0" rtlCol="0" anchor="ctr"/>
          <a:lstStyle/>
          <a:p>
            <a:pPr marL="0" indent="0">
              <a:buNone/>
            </a:pPr>
            <a:r>
              <a:rPr lang="en-US" sz="1000" b="1" dirty="0">
                <a:solidFill>
                  <a:srgbClr val="2563EB"/>
                </a:solidFill>
              </a:rPr>
              <a:t>Ethics &amp; Fairness Addressed</a:t>
            </a:r>
            <a:endParaRPr lang="en-US" sz="1000" dirty="0"/>
          </a:p>
        </p:txBody>
      </p:sp>
      <p:sp>
        <p:nvSpPr>
          <p:cNvPr id="17" name="Text 15"/>
          <p:cNvSpPr/>
          <p:nvPr/>
        </p:nvSpPr>
        <p:spPr>
          <a:xfrm>
            <a:off x="502920" y="2532888"/>
            <a:ext cx="3886200" cy="438912"/>
          </a:xfrm>
          <a:prstGeom prst="rect">
            <a:avLst/>
          </a:prstGeom>
          <a:noFill/>
          <a:ln/>
        </p:spPr>
        <p:txBody>
          <a:bodyPr wrap="square" lIns="0" tIns="0" rIns="0" bIns="0" rtlCol="0" anchor="ctr"/>
          <a:lstStyle/>
          <a:p>
            <a:pPr marL="0" indent="0">
              <a:buNone/>
            </a:pPr>
            <a:r>
              <a:rPr lang="en-US" sz="900" dirty="0">
                <a:solidFill>
                  <a:srgbClr val="BFDBFE"/>
                </a:solidFill>
              </a:rPr>
              <a:t>All fairness metrics pass. Human-in-loop design. card4 proxy risk has been eliminated.</a:t>
            </a:r>
            <a:endParaRPr lang="en-US" sz="900" dirty="0"/>
          </a:p>
        </p:txBody>
      </p:sp>
      <p:sp>
        <p:nvSpPr>
          <p:cNvPr id="18" name="Shape 16"/>
          <p:cNvSpPr/>
          <p:nvPr/>
        </p:nvSpPr>
        <p:spPr>
          <a:xfrm>
            <a:off x="4754880" y="2148840"/>
            <a:ext cx="4114800" cy="868680"/>
          </a:xfrm>
          <a:prstGeom prst="rect">
            <a:avLst/>
          </a:prstGeom>
          <a:solidFill>
            <a:srgbClr val="0F2547"/>
          </a:solidFill>
          <a:ln/>
        </p:spPr>
        <p:txBody>
          <a:bodyPr/>
          <a:lstStyle/>
          <a:p>
            <a:endParaRPr lang="en-US"/>
          </a:p>
        </p:txBody>
      </p:sp>
      <p:sp>
        <p:nvSpPr>
          <p:cNvPr id="19" name="Shape 17"/>
          <p:cNvSpPr/>
          <p:nvPr/>
        </p:nvSpPr>
        <p:spPr>
          <a:xfrm>
            <a:off x="4754880" y="2148840"/>
            <a:ext cx="64008" cy="868680"/>
          </a:xfrm>
          <a:prstGeom prst="rect">
            <a:avLst/>
          </a:prstGeom>
          <a:solidFill>
            <a:srgbClr val="BFDBFE"/>
          </a:solidFill>
          <a:ln/>
        </p:spPr>
        <p:txBody>
          <a:bodyPr/>
          <a:lstStyle/>
          <a:p>
            <a:endParaRPr lang="en-US"/>
          </a:p>
        </p:txBody>
      </p:sp>
      <p:sp>
        <p:nvSpPr>
          <p:cNvPr id="20" name="Text 18"/>
          <p:cNvSpPr/>
          <p:nvPr/>
        </p:nvSpPr>
        <p:spPr>
          <a:xfrm>
            <a:off x="4892040" y="2194560"/>
            <a:ext cx="3886200" cy="274320"/>
          </a:xfrm>
          <a:prstGeom prst="rect">
            <a:avLst/>
          </a:prstGeom>
          <a:noFill/>
          <a:ln/>
        </p:spPr>
        <p:txBody>
          <a:bodyPr wrap="square" lIns="0" tIns="0" rIns="0" bIns="0" rtlCol="0" anchor="ctr"/>
          <a:lstStyle/>
          <a:p>
            <a:pPr marL="0" indent="0">
              <a:buNone/>
            </a:pPr>
            <a:r>
              <a:rPr lang="en-US" sz="1000" b="1" dirty="0">
                <a:solidFill>
                  <a:srgbClr val="BFDBFE"/>
                </a:solidFill>
              </a:rPr>
              <a:t>Production-Ready</a:t>
            </a:r>
            <a:endParaRPr lang="en-US" sz="1000" dirty="0"/>
          </a:p>
        </p:txBody>
      </p:sp>
      <p:sp>
        <p:nvSpPr>
          <p:cNvPr id="21" name="Text 19"/>
          <p:cNvSpPr/>
          <p:nvPr/>
        </p:nvSpPr>
        <p:spPr>
          <a:xfrm>
            <a:off x="4892040" y="2532888"/>
            <a:ext cx="3886200" cy="438912"/>
          </a:xfrm>
          <a:prstGeom prst="rect">
            <a:avLst/>
          </a:prstGeom>
          <a:noFill/>
          <a:ln/>
        </p:spPr>
        <p:txBody>
          <a:bodyPr wrap="square" lIns="0" tIns="0" rIns="0" bIns="0" rtlCol="0" anchor="ctr"/>
          <a:lstStyle/>
          <a:p>
            <a:pPr marL="0" indent="0">
              <a:buNone/>
            </a:pPr>
            <a:r>
              <a:rPr lang="en-US" sz="900" dirty="0">
                <a:solidFill>
                  <a:srgbClr val="BFDBFE"/>
                </a:solidFill>
              </a:rPr>
              <a:t>FastAPI endpoint is live. Docker containerized. SHAP explanations are generated for every flagged claim.</a:t>
            </a:r>
            <a:endParaRPr lang="en-US" sz="900" dirty="0"/>
          </a:p>
        </p:txBody>
      </p:sp>
      <p:sp>
        <p:nvSpPr>
          <p:cNvPr id="22" name="Text 20"/>
          <p:cNvSpPr/>
          <p:nvPr/>
        </p:nvSpPr>
        <p:spPr>
          <a:xfrm>
            <a:off x="457200" y="3291840"/>
            <a:ext cx="8229600" cy="1737360"/>
          </a:xfrm>
          <a:prstGeom prst="rect">
            <a:avLst/>
          </a:prstGeom>
          <a:noFill/>
          <a:ln/>
        </p:spPr>
        <p:txBody>
          <a:bodyPr wrap="square" lIns="0" tIns="0" rIns="0" bIns="0" rtlCol="0" anchor="ctr"/>
          <a:lstStyle/>
          <a:p>
            <a:pPr marL="0" indent="0">
              <a:buNone/>
            </a:pPr>
            <a:r>
              <a:rPr lang="en-US" sz="950" b="1" dirty="0">
                <a:solidFill>
                  <a:srgbClr val="BFDBFE"/>
                </a:solidFill>
              </a:rPr>
              <a:t>Mark Eliezer M. Villola</a:t>
            </a:r>
            <a:endParaRPr lang="en-US" sz="950" dirty="0"/>
          </a:p>
          <a:p>
            <a:pPr marL="0" indent="0">
              <a:buNone/>
            </a:pPr>
            <a:r>
              <a:rPr lang="en-US" sz="950" dirty="0">
                <a:solidFill>
                  <a:srgbClr val="BFDBFE"/>
                </a:solidFill>
              </a:rPr>
              <a:t>Country General Manager, ProTech Devices Philippines  |  www.protechdevices.com</a:t>
            </a:r>
            <a:endParaRPr lang="en-US" sz="950" dirty="0"/>
          </a:p>
          <a:p>
            <a:pPr marL="0" indent="0">
              <a:buNone/>
            </a:pPr>
            <a:r>
              <a:rPr lang="en-US" sz="950" dirty="0">
                <a:solidFill>
                  <a:srgbClr val="BFDBFE"/>
                </a:solidFill>
              </a:rPr>
              <a:t>AIM Postgraduate Diploma in AI &amp; ML  |  Pillar 5 Capstone  |  March 2025</a:t>
            </a:r>
            <a:endParaRPr lang="en-US" sz="950" dirty="0"/>
          </a:p>
        </p:txBody>
      </p:sp>
      <p:sp>
        <p:nvSpPr>
          <p:cNvPr id="23" name="Text 21"/>
          <p:cNvSpPr/>
          <p:nvPr/>
        </p:nvSpPr>
        <p:spPr>
          <a:xfrm>
            <a:off x="457200" y="4828032"/>
            <a:ext cx="8229600" cy="201168"/>
          </a:xfrm>
          <a:prstGeom prst="rect">
            <a:avLst/>
          </a:prstGeom>
          <a:noFill/>
          <a:ln/>
        </p:spPr>
        <p:txBody>
          <a:bodyPr wrap="square" lIns="0" tIns="0" rIns="0" bIns="0" rtlCol="0" anchor="ctr"/>
          <a:lstStyle/>
          <a:p>
            <a:pPr marL="0" indent="0" algn="ctr">
              <a:buNone/>
            </a:pPr>
            <a:r>
              <a:rPr lang="en-US" sz="900" dirty="0">
                <a:solidFill>
                  <a:srgbClr val="2563EB"/>
                </a:solidFill>
              </a:rPr>
              <a:t>github.com/mark-villola/insurtech-fraud-detection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3283</Words>
  <Application>Microsoft Macintosh PowerPoint</Application>
  <PresentationFormat>On-screen Show (16:9)</PresentationFormat>
  <Paragraphs>371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Presentation, Insurance Fraud Detection ML Pipeline</dc:title>
  <dc:subject>PptxGenJS Presentation</dc:subject>
  <dc:creator>Mark Eliezer M. Villola</dc:creator>
  <cp:lastModifiedBy>Azer V</cp:lastModifiedBy>
  <cp:revision>2</cp:revision>
  <dcterms:created xsi:type="dcterms:W3CDTF">2026-03-22T12:17:04Z</dcterms:created>
  <dcterms:modified xsi:type="dcterms:W3CDTF">2026-03-25T23:10:28Z</dcterms:modified>
</cp:coreProperties>
</file>