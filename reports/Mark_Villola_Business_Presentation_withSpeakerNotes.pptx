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635"/>
  </p:normalViewPr>
  <p:slideViewPr>
    <p:cSldViewPr snapToGrid="0" snapToObjects="1">
      <p:cViewPr varScale="1">
        <p:scale>
          <a:sx n="126" d="100"/>
          <a:sy n="126" d="100"/>
        </p:scale>
        <p:origin x="12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331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Good morning. I am Mark Villola, Country General Manager for </a:t>
            </a:r>
            <a:r>
              <a:rPr lang="en-PH" sz="1200" kern="1200" dirty="0" err="1">
                <a:solidFill>
                  <a:schemeClr val="tx1"/>
                </a:solidFill>
                <a:effectLst/>
                <a:latin typeface="+mn-lt"/>
                <a:ea typeface="+mn-ea"/>
                <a:cs typeface="+mn-cs"/>
              </a:rPr>
              <a:t>ProTech</a:t>
            </a:r>
            <a:r>
              <a:rPr lang="en-PH" sz="1200" kern="1200" dirty="0">
                <a:solidFill>
                  <a:schemeClr val="tx1"/>
                </a:solidFill>
                <a:effectLst/>
                <a:latin typeface="+mn-lt"/>
                <a:ea typeface="+mn-ea"/>
                <a:cs typeface="+mn-cs"/>
              </a:rPr>
              <a:t> Devices Philippines. What I am about to show you is not a research project. It is a response to a real operational problem that costs this company an estimated USD 193,600 every year in fraudulent payouts that we process without realizing they are fraudulent. This presentation makes the case for a specific investment: a machine learning fraud detection system we can deploy within seven months, with a first-year return on investment of 304%. I will cover the problem, the solution, the results, the risks, and what I need from this room today.</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Let me start with the number that matters most: USD 193,600 in estimated annual fraudulent payouts. That figure is based on a conservative 8% fraud rate applied to our portfolio, which is within the 6 to 12% range reported across Asian </a:t>
            </a:r>
            <a:r>
              <a:rPr lang="en-PH" sz="1200" kern="1200" dirty="0" err="1">
                <a:solidFill>
                  <a:schemeClr val="tx1"/>
                </a:solidFill>
                <a:effectLst/>
                <a:latin typeface="+mn-lt"/>
                <a:ea typeface="+mn-ea"/>
                <a:cs typeface="+mn-cs"/>
              </a:rPr>
              <a:t>InsurTech</a:t>
            </a:r>
            <a:r>
              <a:rPr lang="en-PH" sz="1200" kern="1200" dirty="0">
                <a:solidFill>
                  <a:schemeClr val="tx1"/>
                </a:solidFill>
                <a:effectLst/>
                <a:latin typeface="+mn-lt"/>
                <a:ea typeface="+mn-ea"/>
                <a:cs typeface="+mn-cs"/>
              </a:rPr>
              <a:t> markets. Three patterns drive the majority of that exposure. Timing manipulation is the most common: fraudulent claims are filed in the first 14 days after policy activation at four times the rate of legitimate claims. Retail channel abuse exploits our B2B2C distribution model. And device value arbitrage turns an insurance settlement into an arbitrage opportunity. All three patterns are currently invisible to our review process because we have no systematic intake scoring.</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Our current process has four structural weaknesses. We have no scoring at intake, which means every claim enters the queue with equal priority. We rely on threshold rules that flag claims above USD 300 or a second claim within 12 months. Sophisticated fraudsters stay under both thresholds. We depend entirely on individual adjuster experience, with no consistent methodology and no institutional memory across cases. And our capacity constraint means we process 400 to 600 claims per month at a 3 to 5 day SLA, with no room for deep investigation of every claim. The right column shows what changes with AI: every claim is scored at intake, and 72% are auto-approved, freeing the team for the 5% that need serious scrutiny.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The model works in five steps. A claim is submitted through any channel. The system reads 55 signals from that submission: the claim amount, the timing since policy activation, the email domain, the device fingerprint, the retail partner's historical fraud rate, and others. Within seconds, it assigns a fraud probability score from 0 to 100%. That score determines which routing tier handles the claim. And critically, for any claim in the enhanced review or escalate tiers, a human adjuster makes the final decision. The model never auto-denies. The five fraud signals at the bottom are the ones that matter most, in plain language: timing, claim amount, device fingerprint, partner history, and identity consistency.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Three findings from the model that we can act on regardless of whether we deploy the full AI system. Finding one: 28% of all fraud occurs in the first 14 days. We could implement an enhanced review rule for sub-14-day claims today, with no technology investment, and immediately reduce exposure. Finding two: 10 retail partners are responsible for 31% of all fraud but only 8% of our claim volume. Those partners are identifiable. A proactive audit </a:t>
            </a:r>
            <a:r>
              <a:rPr lang="en-PH" sz="1200" kern="1200" dirty="0" err="1">
                <a:solidFill>
                  <a:schemeClr val="tx1"/>
                </a:solidFill>
                <a:effectLst/>
                <a:latin typeface="+mn-lt"/>
                <a:ea typeface="+mn-ea"/>
                <a:cs typeface="+mn-cs"/>
              </a:rPr>
              <a:t>programme</a:t>
            </a:r>
            <a:r>
              <a:rPr lang="en-PH" sz="1200" kern="1200" dirty="0">
                <a:solidFill>
                  <a:schemeClr val="tx1"/>
                </a:solidFill>
                <a:effectLst/>
                <a:latin typeface="+mn-lt"/>
                <a:ea typeface="+mn-ea"/>
                <a:cs typeface="+mn-cs"/>
              </a:rPr>
              <a:t> targeting them is our highest-ROI intervention available right now. Finding three: unverified customers have a 9.3% fraud rate compared to 1.8% for verified customers. That is a 5.2 times difference that a mandatory verification requirement at policy inception would directly address.</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This slide shows exactly how the system operates in daily claims processing. Claims scoring below 20% are automatically cleared with no adjuster time required. We estimate this covers approximately 72% of our volume. Claims between 20% and 60% go into the standard adjuster queue with the model score and top risk factors visible. Claims between 60% and 85% trigger enhanced review: a senior adjuster or fraud analyst is assigned, payment is held, and the retail partner is notified. Claims above 85% go directly to the fraud team with a full partner audit triggered and payment suspended. The critical design principle to remember is this: the AI never auto-denies. A human adjuster makes every adverse decision.</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The model was validated on a held-out test set not used during training. Four numbers matter most. 79% of fraudulent claims are caught at the standard operating threshold. 76% precision means that when the model flags a claim, it is correct three times out of four. The false positive rate is below 5% of legitimate claims, which means the vast majority of genuine customers are not affected. And 72% of claims are auto-approved with no adjuster time. Translating to financial terms: 341 of an estimated 432 annual fraudulent claims would be caught by the model, preventing approximately USD 152,700 in fraudulent payouts. After subtracting the cost of false positive reviews, the net annual savings is approximately USD 150,000.</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Before deploying any AI system that affects customer outcomes, we must answer two questions: is it accurate, and is it fair? The fairness audit evaluated the model across four dimensions. The model does not treat customers differently by location. The payment method feature was found to be a socioeconomic proxy and was excluded entirely from the production model at an AUC cost of less than 1%. Precision is consistent across partner groups. And for any customer whose claim is declined, there is a defined appeal pathway with a plain-language explanation. The four safeguards on the right side are design commitments built into the system architecture, not aspirations.</a:t>
            </a:r>
            <a:r>
              <a:rPr lang="en-PH"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The investment case is straightforward. The one-time development cost is USD 35,000. Annual maintenance is USD 8,000. Against those costs, the model generates an estimated USD 150,000 in annual fraud savings. In Year 1, the net benefit after all costs is USD 107,000, a 304% return on investment. From Year 2 onwards, the net annual benefit is approximately USD 142,000 against USD 8,000 in maintenance costs. One important note: even if fraud savings come in at 50% of projection, Year 1 is still cash-positive. The investment is justified at any realistic fraud rate above 4%, and our estimated rate is 8%.</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kern="1200" dirty="0">
                <a:solidFill>
                  <a:schemeClr val="tx1"/>
                </a:solidFill>
                <a:effectLst/>
                <a:latin typeface="+mn-lt"/>
                <a:ea typeface="+mn-ea"/>
                <a:cs typeface="+mn-cs"/>
              </a:rPr>
              <a:t>The implementation runs in four phases over seven months. Phase 1 is a three-month shadow pilot where the model scores every claim but no routing decisions are made, building confidence in performance on </a:t>
            </a:r>
            <a:r>
              <a:rPr lang="en-PH" sz="1200" kern="1200" dirty="0" err="1">
                <a:solidFill>
                  <a:schemeClr val="tx1"/>
                </a:solidFill>
                <a:effectLst/>
                <a:latin typeface="+mn-lt"/>
                <a:ea typeface="+mn-ea"/>
                <a:cs typeface="+mn-cs"/>
              </a:rPr>
              <a:t>ProTech</a:t>
            </a:r>
            <a:r>
              <a:rPr lang="en-PH" sz="1200" kern="1200" dirty="0">
                <a:solidFill>
                  <a:schemeClr val="tx1"/>
                </a:solidFill>
                <a:effectLst/>
                <a:latin typeface="+mn-lt"/>
                <a:ea typeface="+mn-ea"/>
                <a:cs typeface="+mn-cs"/>
              </a:rPr>
              <a:t> data. Phase 2 sets the operational thresholds based on </a:t>
            </a:r>
            <a:r>
              <a:rPr lang="en-PH" sz="1200" kern="1200" dirty="0" err="1">
                <a:solidFill>
                  <a:schemeClr val="tx1"/>
                </a:solidFill>
                <a:effectLst/>
                <a:latin typeface="+mn-lt"/>
                <a:ea typeface="+mn-ea"/>
                <a:cs typeface="+mn-cs"/>
              </a:rPr>
              <a:t>ProTech's</a:t>
            </a:r>
            <a:r>
              <a:rPr lang="en-PH" sz="1200" kern="1200" dirty="0">
                <a:solidFill>
                  <a:schemeClr val="tx1"/>
                </a:solidFill>
                <a:effectLst/>
                <a:latin typeface="+mn-lt"/>
                <a:ea typeface="+mn-ea"/>
                <a:cs typeface="+mn-cs"/>
              </a:rPr>
              <a:t> actual fraud rate. Phase 3 is a soft launch enabling STP and Enhanced Review routing. Phase 4 is full production with the partner fraud monitoring dashboard live. Total investment: USD 35,000 one-time and USD 8,000 annually. </a:t>
            </a:r>
            <a:r>
              <a:rPr lang="en-PH" sz="1200" kern="1200">
                <a:solidFill>
                  <a:schemeClr val="tx1"/>
                </a:solidFill>
                <a:effectLst/>
                <a:latin typeface="+mn-lt"/>
                <a:ea typeface="+mn-ea"/>
                <a:cs typeface="+mn-cs"/>
              </a:rPr>
              <a:t>I need three decisions from this room today: approval of the Phase 1 pilot budget, nomination of a Claims Operations lead to partner on integration, and a compliance brief on the fairness audit results for regulatory pre-clearance.</a:t>
            </a:r>
            <a:r>
              <a:rPr lang="en-PH">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2563EB"/>
          </a:solidFill>
          <a:ln/>
        </p:spPr>
        <p:txBody>
          <a:bodyPr/>
          <a:lstStyle/>
          <a:p>
            <a:endParaRPr lang="en-US"/>
          </a:p>
        </p:txBody>
      </p:sp>
      <p:sp>
        <p:nvSpPr>
          <p:cNvPr id="3" name="Shape 1"/>
          <p:cNvSpPr/>
          <p:nvPr/>
        </p:nvSpPr>
        <p:spPr>
          <a:xfrm>
            <a:off x="0" y="3840480"/>
            <a:ext cx="9144000" cy="1303020"/>
          </a:xfrm>
          <a:prstGeom prst="rect">
            <a:avLst/>
          </a:prstGeom>
          <a:solidFill>
            <a:srgbClr val="152D54"/>
          </a:solidFill>
          <a:ln/>
        </p:spPr>
        <p:txBody>
          <a:bodyPr/>
          <a:lstStyle/>
          <a:p>
            <a:endParaRPr lang="en-US"/>
          </a:p>
        </p:txBody>
      </p:sp>
      <p:sp>
        <p:nvSpPr>
          <p:cNvPr id="4" name="Shape 2"/>
          <p:cNvSpPr/>
          <p:nvPr/>
        </p:nvSpPr>
        <p:spPr>
          <a:xfrm>
            <a:off x="0" y="3822192"/>
            <a:ext cx="9144000" cy="54864"/>
          </a:xfrm>
          <a:prstGeom prst="rect">
            <a:avLst/>
          </a:prstGeom>
          <a:solidFill>
            <a:srgbClr val="2563EB"/>
          </a:solidFill>
          <a:ln/>
        </p:spPr>
        <p:txBody>
          <a:bodyPr/>
          <a:lstStyle/>
          <a:p>
            <a:endParaRPr lang="en-US"/>
          </a:p>
        </p:txBody>
      </p:sp>
      <p:sp>
        <p:nvSpPr>
          <p:cNvPr id="5" name="Text 3"/>
          <p:cNvSpPr/>
          <p:nvPr/>
        </p:nvSpPr>
        <p:spPr>
          <a:xfrm>
            <a:off x="548640" y="594360"/>
            <a:ext cx="4572000" cy="320040"/>
          </a:xfrm>
          <a:prstGeom prst="rect">
            <a:avLst/>
          </a:prstGeom>
          <a:noFill/>
          <a:ln/>
        </p:spPr>
        <p:txBody>
          <a:bodyPr wrap="square" lIns="0" tIns="0" rIns="0" bIns="0" rtlCol="0" anchor="ctr"/>
          <a:lstStyle/>
          <a:p>
            <a:pPr marL="0" indent="0">
              <a:buNone/>
            </a:pPr>
            <a:r>
              <a:rPr lang="en-US" sz="1000" b="1" kern="0" spc="400" dirty="0">
                <a:solidFill>
                  <a:srgbClr val="BFDBFE"/>
                </a:solidFill>
              </a:rPr>
              <a:t>BUSINESS CASE</a:t>
            </a:r>
            <a:endParaRPr lang="en-US" sz="1000" dirty="0"/>
          </a:p>
        </p:txBody>
      </p:sp>
      <p:sp>
        <p:nvSpPr>
          <p:cNvPr id="6" name="Text 4"/>
          <p:cNvSpPr/>
          <p:nvPr/>
        </p:nvSpPr>
        <p:spPr>
          <a:xfrm>
            <a:off x="548640" y="1005840"/>
            <a:ext cx="8229600" cy="640080"/>
          </a:xfrm>
          <a:prstGeom prst="rect">
            <a:avLst/>
          </a:prstGeom>
          <a:noFill/>
          <a:ln/>
        </p:spPr>
        <p:txBody>
          <a:bodyPr wrap="square" lIns="0" tIns="0" rIns="0" bIns="0" rtlCol="0" anchor="ctr"/>
          <a:lstStyle/>
          <a:p>
            <a:pPr marL="0" indent="0">
              <a:buNone/>
            </a:pPr>
            <a:r>
              <a:rPr lang="en-US" sz="3800" b="1" dirty="0">
                <a:solidFill>
                  <a:srgbClr val="FFFFFF"/>
                </a:solidFill>
              </a:rPr>
              <a:t>AI-Powered Fraud Detection</a:t>
            </a:r>
            <a:endParaRPr lang="en-US" sz="3800" dirty="0"/>
          </a:p>
        </p:txBody>
      </p:sp>
      <p:sp>
        <p:nvSpPr>
          <p:cNvPr id="7" name="Text 5"/>
          <p:cNvSpPr/>
          <p:nvPr/>
        </p:nvSpPr>
        <p:spPr>
          <a:xfrm>
            <a:off x="548640" y="1664208"/>
            <a:ext cx="8229600" cy="502920"/>
          </a:xfrm>
          <a:prstGeom prst="rect">
            <a:avLst/>
          </a:prstGeom>
          <a:noFill/>
          <a:ln/>
        </p:spPr>
        <p:txBody>
          <a:bodyPr wrap="square" lIns="0" tIns="0" rIns="0" bIns="0" rtlCol="0" anchor="ctr"/>
          <a:lstStyle/>
          <a:p>
            <a:pPr marL="0" indent="0">
              <a:buNone/>
            </a:pPr>
            <a:r>
              <a:rPr lang="en-US" sz="2600" dirty="0">
                <a:solidFill>
                  <a:srgbClr val="BFDBFE"/>
                </a:solidFill>
              </a:rPr>
              <a:t>for Device Protection Insurance</a:t>
            </a:r>
            <a:endParaRPr lang="en-US" sz="2600" dirty="0"/>
          </a:p>
        </p:txBody>
      </p:sp>
      <p:sp>
        <p:nvSpPr>
          <p:cNvPr id="8" name="Text 6"/>
          <p:cNvSpPr/>
          <p:nvPr/>
        </p:nvSpPr>
        <p:spPr>
          <a:xfrm>
            <a:off x="548640" y="2331720"/>
            <a:ext cx="8229600" cy="384048"/>
          </a:xfrm>
          <a:prstGeom prst="rect">
            <a:avLst/>
          </a:prstGeom>
          <a:noFill/>
          <a:ln/>
        </p:spPr>
        <p:txBody>
          <a:bodyPr wrap="square" lIns="0" tIns="0" rIns="0" bIns="0" rtlCol="0" anchor="ctr"/>
          <a:lstStyle/>
          <a:p>
            <a:pPr marL="0" indent="0">
              <a:buNone/>
            </a:pPr>
            <a:r>
              <a:rPr lang="en-US" sz="1300" dirty="0">
                <a:solidFill>
                  <a:srgbClr val="FFFFFF"/>
                </a:solidFill>
              </a:rPr>
              <a:t>The Problem: USD 193,600 in annual fraud exposure and no systematic detection in place</a:t>
            </a:r>
            <a:endParaRPr lang="en-US" sz="1300" dirty="0"/>
          </a:p>
        </p:txBody>
      </p:sp>
      <p:sp>
        <p:nvSpPr>
          <p:cNvPr id="9" name="Text 7"/>
          <p:cNvSpPr/>
          <p:nvPr/>
        </p:nvSpPr>
        <p:spPr>
          <a:xfrm>
            <a:off x="548640" y="2743200"/>
            <a:ext cx="8229600" cy="384048"/>
          </a:xfrm>
          <a:prstGeom prst="rect">
            <a:avLst/>
          </a:prstGeom>
          <a:noFill/>
          <a:ln/>
        </p:spPr>
        <p:txBody>
          <a:bodyPr wrap="square" lIns="0" tIns="0" rIns="0" bIns="0" rtlCol="0" anchor="ctr"/>
          <a:lstStyle/>
          <a:p>
            <a:pPr marL="0" indent="0">
              <a:buNone/>
            </a:pPr>
            <a:r>
              <a:rPr lang="en-US" sz="1300" dirty="0">
                <a:solidFill>
                  <a:srgbClr val="FFFFFF"/>
                </a:solidFill>
              </a:rPr>
              <a:t>The Solution: A machine learning model that catches 79% of fraud before payment is made</a:t>
            </a:r>
            <a:endParaRPr lang="en-US" sz="1300" dirty="0"/>
          </a:p>
        </p:txBody>
      </p:sp>
      <p:sp>
        <p:nvSpPr>
          <p:cNvPr id="10" name="Text 8"/>
          <p:cNvSpPr/>
          <p:nvPr/>
        </p:nvSpPr>
        <p:spPr>
          <a:xfrm>
            <a:off x="548640" y="3154680"/>
            <a:ext cx="8229600" cy="384048"/>
          </a:xfrm>
          <a:prstGeom prst="rect">
            <a:avLst/>
          </a:prstGeom>
          <a:noFill/>
          <a:ln/>
        </p:spPr>
        <p:txBody>
          <a:bodyPr wrap="square" lIns="0" tIns="0" rIns="0" bIns="0" rtlCol="0" anchor="ctr"/>
          <a:lstStyle/>
          <a:p>
            <a:pPr marL="0" indent="0">
              <a:buNone/>
            </a:pPr>
            <a:r>
              <a:rPr lang="en-US" sz="1300" b="1" dirty="0">
                <a:solidFill>
                  <a:srgbClr val="D97706"/>
                </a:solidFill>
              </a:rPr>
              <a:t>The Return: USD 150,000 in annual savings and a 304% ROI in Year 1.</a:t>
            </a:r>
            <a:endParaRPr lang="en-US" sz="1300" dirty="0"/>
          </a:p>
        </p:txBody>
      </p:sp>
      <p:sp>
        <p:nvSpPr>
          <p:cNvPr id="11" name="Text 9"/>
          <p:cNvSpPr/>
          <p:nvPr/>
        </p:nvSpPr>
        <p:spPr>
          <a:xfrm>
            <a:off x="548640" y="3931920"/>
            <a:ext cx="8229600" cy="1097280"/>
          </a:xfrm>
          <a:prstGeom prst="rect">
            <a:avLst/>
          </a:prstGeom>
          <a:noFill/>
          <a:ln/>
        </p:spPr>
        <p:txBody>
          <a:bodyPr wrap="square" lIns="0" tIns="0" rIns="0" bIns="0" rtlCol="0" anchor="ctr"/>
          <a:lstStyle/>
          <a:p>
            <a:pPr marL="0" indent="0">
              <a:buNone/>
            </a:pPr>
            <a:r>
              <a:rPr lang="en-US" sz="950" b="1" dirty="0">
                <a:solidFill>
                  <a:srgbClr val="BFDBFE"/>
                </a:solidFill>
              </a:rPr>
              <a:t>Mark Eliezer M. Villola</a:t>
            </a:r>
            <a:endParaRPr lang="en-US" sz="950" dirty="0"/>
          </a:p>
          <a:p>
            <a:pPr marL="0" indent="0">
              <a:buNone/>
            </a:pPr>
            <a:r>
              <a:rPr lang="en-US" sz="950" dirty="0">
                <a:solidFill>
                  <a:srgbClr val="BFDBFE"/>
                </a:solidFill>
              </a:rPr>
              <a:t>Country General Manager, ProTech Devices Philippines  |  www.protechdevices.com</a:t>
            </a:r>
            <a:endParaRPr lang="en-US" sz="950" dirty="0"/>
          </a:p>
          <a:p>
            <a:pPr marL="0" indent="0">
              <a:buNone/>
            </a:pPr>
            <a:r>
              <a:rPr lang="en-US" sz="950" dirty="0">
                <a:solidFill>
                  <a:srgbClr val="BFDBFE"/>
                </a:solidFill>
              </a:rPr>
              <a:t>AIM AI &amp; ML Postgraduate Diploma  |  Capstone Project  |  March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p:spPr>
        <p:txBody>
          <a:bodyPr/>
          <a:lstStyle/>
          <a:p>
            <a:endParaRPr lang="en-US"/>
          </a:p>
        </p:txBody>
      </p:sp>
      <p:sp>
        <p:nvSpPr>
          <p:cNvPr id="3" name="Shape 1"/>
          <p:cNvSpPr/>
          <p:nvPr/>
        </p:nvSpPr>
        <p:spPr>
          <a:xfrm>
            <a:off x="0" y="512064"/>
            <a:ext cx="9144000" cy="54864"/>
          </a:xfrm>
          <a:prstGeom prst="rect">
            <a:avLst/>
          </a:prstGeom>
          <a:solidFill>
            <a:srgbClr val="2563EB"/>
          </a:solidFill>
          <a:ln/>
        </p:spPr>
        <p:txBody>
          <a:bodyPr/>
          <a:lstStyle/>
          <a:p>
            <a:endParaRPr lang="en-US"/>
          </a:p>
        </p:txBody>
      </p:sp>
      <p:sp>
        <p:nvSpPr>
          <p:cNvPr id="4" name="Text 2"/>
          <p:cNvSpPr/>
          <p:nvPr/>
        </p:nvSpPr>
        <p:spPr>
          <a:xfrm>
            <a:off x="320040" y="54864"/>
            <a:ext cx="8321040" cy="438912"/>
          </a:xfrm>
          <a:prstGeom prst="rect">
            <a:avLst/>
          </a:prstGeom>
          <a:noFill/>
          <a:ln/>
        </p:spPr>
        <p:txBody>
          <a:bodyPr wrap="square" lIns="0" tIns="0" rIns="0" bIns="0" rtlCol="0" anchor="ctr"/>
          <a:lstStyle/>
          <a:p>
            <a:pPr marL="0" indent="0">
              <a:buNone/>
            </a:pPr>
            <a:r>
              <a:rPr lang="en-US" sz="1600" b="1" dirty="0">
                <a:solidFill>
                  <a:srgbClr val="FFFFFF"/>
                </a:solidFill>
              </a:rPr>
              <a:t>The Fraud Problem, What It Costs ProTech Every Year</a:t>
            </a:r>
            <a:endParaRPr lang="en-US" sz="1600" dirty="0"/>
          </a:p>
        </p:txBody>
      </p:sp>
      <p:sp>
        <p:nvSpPr>
          <p:cNvPr id="5" name="Text 3"/>
          <p:cNvSpPr/>
          <p:nvPr/>
        </p:nvSpPr>
        <p:spPr>
          <a:xfrm>
            <a:off x="320040" y="4919472"/>
            <a:ext cx="8503920" cy="201168"/>
          </a:xfrm>
          <a:prstGeom prst="rect">
            <a:avLst/>
          </a:prstGeom>
          <a:noFill/>
          <a:ln/>
        </p:spPr>
        <p:txBody>
          <a:bodyPr wrap="square" lIns="0" tIns="0" rIns="0" bIns="0" rtlCol="0" anchor="ctr"/>
          <a:lstStyle/>
          <a:p>
            <a:pPr marL="0" indent="0" algn="r">
              <a:buNone/>
            </a:pPr>
            <a:r>
              <a:rPr lang="en-US" sz="750" dirty="0">
                <a:solidFill>
                  <a:srgbClr val="64748B"/>
                </a:solidFill>
              </a:rPr>
              <a:t>ProTech Devices Asia  |  Confidential</a:t>
            </a:r>
            <a:endParaRPr lang="en-US" sz="750" dirty="0"/>
          </a:p>
        </p:txBody>
      </p:sp>
      <p:sp>
        <p:nvSpPr>
          <p:cNvPr id="6" name="Shape 4"/>
          <p:cNvSpPr/>
          <p:nvPr/>
        </p:nvSpPr>
        <p:spPr>
          <a:xfrm>
            <a:off x="201168" y="685800"/>
            <a:ext cx="8741664" cy="1508760"/>
          </a:xfrm>
          <a:prstGeom prst="rect">
            <a:avLst/>
          </a:prstGeom>
          <a:solidFill>
            <a:srgbClr val="FEE2E2"/>
          </a:solidFill>
          <a:ln/>
        </p:spPr>
        <p:txBody>
          <a:bodyPr/>
          <a:lstStyle/>
          <a:p>
            <a:endParaRPr lang="en-US"/>
          </a:p>
        </p:txBody>
      </p:sp>
      <p:sp>
        <p:nvSpPr>
          <p:cNvPr id="7" name="Shape 5"/>
          <p:cNvSpPr/>
          <p:nvPr/>
        </p:nvSpPr>
        <p:spPr>
          <a:xfrm>
            <a:off x="201168" y="685800"/>
            <a:ext cx="8741664" cy="64008"/>
          </a:xfrm>
          <a:prstGeom prst="rect">
            <a:avLst/>
          </a:prstGeom>
          <a:solidFill>
            <a:srgbClr val="DC2626"/>
          </a:solidFill>
          <a:ln/>
        </p:spPr>
        <p:txBody>
          <a:bodyPr/>
          <a:lstStyle/>
          <a:p>
            <a:endParaRPr lang="en-US"/>
          </a:p>
        </p:txBody>
      </p:sp>
      <p:sp>
        <p:nvSpPr>
          <p:cNvPr id="8" name="Text 6"/>
          <p:cNvSpPr/>
          <p:nvPr/>
        </p:nvSpPr>
        <p:spPr>
          <a:xfrm>
            <a:off x="457200" y="777240"/>
            <a:ext cx="4114800" cy="1005840"/>
          </a:xfrm>
          <a:prstGeom prst="rect">
            <a:avLst/>
          </a:prstGeom>
          <a:noFill/>
          <a:ln/>
        </p:spPr>
        <p:txBody>
          <a:bodyPr wrap="square" lIns="0" tIns="0" rIns="0" bIns="0" rtlCol="0" anchor="ctr"/>
          <a:lstStyle/>
          <a:p>
            <a:pPr marL="0" indent="0">
              <a:buNone/>
            </a:pPr>
            <a:r>
              <a:rPr lang="en-US" sz="4800" b="1" dirty="0">
                <a:solidFill>
                  <a:srgbClr val="DC2626"/>
                </a:solidFill>
              </a:rPr>
              <a:t>USD 193,600</a:t>
            </a:r>
            <a:endParaRPr lang="en-US" sz="4800" dirty="0"/>
          </a:p>
        </p:txBody>
      </p:sp>
      <p:sp>
        <p:nvSpPr>
          <p:cNvPr id="9" name="Text 7"/>
          <p:cNvSpPr/>
          <p:nvPr/>
        </p:nvSpPr>
        <p:spPr>
          <a:xfrm>
            <a:off x="4754880" y="804672"/>
            <a:ext cx="4023360" cy="1280160"/>
          </a:xfrm>
          <a:prstGeom prst="rect">
            <a:avLst/>
          </a:prstGeom>
          <a:noFill/>
          <a:ln/>
        </p:spPr>
        <p:txBody>
          <a:bodyPr wrap="square" lIns="0" tIns="0" rIns="0" bIns="0" rtlCol="0" anchor="ctr"/>
          <a:lstStyle/>
          <a:p>
            <a:pPr marL="0" indent="0">
              <a:buNone/>
            </a:pPr>
            <a:r>
              <a:rPr lang="en-US" sz="1200" dirty="0">
                <a:solidFill>
                  <a:srgbClr val="DC2626"/>
                </a:solidFill>
              </a:rPr>
              <a:t>Estimated annual fraudulent</a:t>
            </a:r>
            <a:endParaRPr lang="en-US" sz="1200" dirty="0"/>
          </a:p>
          <a:p>
            <a:pPr marL="0" indent="0">
              <a:buNone/>
            </a:pPr>
            <a:r>
              <a:rPr lang="en-US" sz="1200" dirty="0">
                <a:solidFill>
                  <a:srgbClr val="DC2626"/>
                </a:solidFill>
              </a:rPr>
              <a:t>payout exposure</a:t>
            </a:r>
            <a:endParaRPr lang="en-US" sz="1200" dirty="0"/>
          </a:p>
          <a:p>
            <a:pPr marL="0" indent="0">
              <a:buNone/>
            </a:pPr>
            <a:r>
              <a:rPr lang="en-US" sz="1200" dirty="0">
                <a:solidFill>
                  <a:srgbClr val="DC2626"/>
                </a:solidFill>
              </a:rPr>
              <a:t>(based on 8% fraud rate × USD 2.4M portfolio)</a:t>
            </a:r>
            <a:endParaRPr lang="en-US" sz="1200" dirty="0"/>
          </a:p>
        </p:txBody>
      </p:sp>
      <p:sp>
        <p:nvSpPr>
          <p:cNvPr id="10" name="Text 8"/>
          <p:cNvSpPr/>
          <p:nvPr/>
        </p:nvSpPr>
        <p:spPr>
          <a:xfrm>
            <a:off x="201168" y="2331720"/>
            <a:ext cx="8686800" cy="256032"/>
          </a:xfrm>
          <a:prstGeom prst="rect">
            <a:avLst/>
          </a:prstGeom>
          <a:noFill/>
          <a:ln/>
        </p:spPr>
        <p:txBody>
          <a:bodyPr wrap="square" lIns="0" tIns="0" rIns="0" bIns="0" rtlCol="0" anchor="ctr"/>
          <a:lstStyle/>
          <a:p>
            <a:pPr marL="0" indent="0">
              <a:buNone/>
            </a:pPr>
            <a:r>
              <a:rPr lang="en-US" sz="900" b="1" kern="0" spc="100" dirty="0">
                <a:solidFill>
                  <a:srgbClr val="1B3A6B"/>
                </a:solidFill>
              </a:rPr>
              <a:t>HOW FRAUD HAPPENS IN DEVICE PROTECTION</a:t>
            </a:r>
            <a:endParaRPr lang="en-US" sz="900" dirty="0"/>
          </a:p>
        </p:txBody>
      </p:sp>
      <p:sp>
        <p:nvSpPr>
          <p:cNvPr id="11" name="Shape 9"/>
          <p:cNvSpPr/>
          <p:nvPr/>
        </p:nvSpPr>
        <p:spPr>
          <a:xfrm>
            <a:off x="201168" y="2651760"/>
            <a:ext cx="2743200" cy="2286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201168" y="2651760"/>
            <a:ext cx="2743200" cy="64008"/>
          </a:xfrm>
          <a:prstGeom prst="rect">
            <a:avLst/>
          </a:prstGeom>
          <a:solidFill>
            <a:srgbClr val="DC2626"/>
          </a:solidFill>
          <a:ln/>
        </p:spPr>
        <p:txBody>
          <a:bodyPr/>
          <a:lstStyle/>
          <a:p>
            <a:endParaRPr lang="en-US"/>
          </a:p>
        </p:txBody>
      </p:sp>
      <p:sp>
        <p:nvSpPr>
          <p:cNvPr id="13" name="Text 11"/>
          <p:cNvSpPr/>
          <p:nvPr/>
        </p:nvSpPr>
        <p:spPr>
          <a:xfrm>
            <a:off x="310896" y="2743200"/>
            <a:ext cx="2523744" cy="274320"/>
          </a:xfrm>
          <a:prstGeom prst="rect">
            <a:avLst/>
          </a:prstGeom>
          <a:noFill/>
          <a:ln/>
        </p:spPr>
        <p:txBody>
          <a:bodyPr wrap="square" lIns="0" tIns="0" rIns="0" bIns="0" rtlCol="0" anchor="ctr"/>
          <a:lstStyle/>
          <a:p>
            <a:pPr marL="0" indent="0">
              <a:buNone/>
            </a:pPr>
            <a:r>
              <a:rPr lang="en-US" sz="1000" b="1" dirty="0">
                <a:solidFill>
                  <a:srgbClr val="DC2626"/>
                </a:solidFill>
              </a:rPr>
              <a:t>Timing Manipulation</a:t>
            </a:r>
            <a:endParaRPr lang="en-US" sz="1000" dirty="0"/>
          </a:p>
        </p:txBody>
      </p:sp>
      <p:sp>
        <p:nvSpPr>
          <p:cNvPr id="14" name="Text 12"/>
          <p:cNvSpPr/>
          <p:nvPr/>
        </p:nvSpPr>
        <p:spPr>
          <a:xfrm>
            <a:off x="310896" y="3063240"/>
            <a:ext cx="2523744" cy="1005840"/>
          </a:xfrm>
          <a:prstGeom prst="rect">
            <a:avLst/>
          </a:prstGeom>
          <a:noFill/>
          <a:ln/>
        </p:spPr>
        <p:txBody>
          <a:bodyPr wrap="square" lIns="0" tIns="0" rIns="0" bIns="0" rtlCol="0" anchor="ctr"/>
          <a:lstStyle/>
          <a:p>
            <a:pPr marL="0" indent="0">
              <a:buNone/>
            </a:pPr>
            <a:r>
              <a:rPr lang="en-US" sz="850" dirty="0">
                <a:solidFill>
                  <a:srgbClr val="1E293B"/>
                </a:solidFill>
              </a:rPr>
              <a:t>Fraudsters file claims in the first 14 days after policy activation, before risk patterns establish. Claims in week 1–2 are 4× more likely to be fraudulent.</a:t>
            </a:r>
            <a:endParaRPr lang="en-US" sz="850" dirty="0"/>
          </a:p>
        </p:txBody>
      </p:sp>
      <p:sp>
        <p:nvSpPr>
          <p:cNvPr id="15" name="Shape 13"/>
          <p:cNvSpPr/>
          <p:nvPr/>
        </p:nvSpPr>
        <p:spPr>
          <a:xfrm>
            <a:off x="310896" y="4114800"/>
            <a:ext cx="2523744" cy="685800"/>
          </a:xfrm>
          <a:prstGeom prst="rect">
            <a:avLst/>
          </a:prstGeom>
          <a:solidFill>
            <a:srgbClr val="F8FAFC"/>
          </a:solidFill>
          <a:ln/>
        </p:spPr>
        <p:txBody>
          <a:bodyPr/>
          <a:lstStyle/>
          <a:p>
            <a:endParaRPr lang="en-US"/>
          </a:p>
        </p:txBody>
      </p:sp>
      <p:sp>
        <p:nvSpPr>
          <p:cNvPr id="16" name="Text 14"/>
          <p:cNvSpPr/>
          <p:nvPr/>
        </p:nvSpPr>
        <p:spPr>
          <a:xfrm>
            <a:off x="310896" y="4133088"/>
            <a:ext cx="914400" cy="658368"/>
          </a:xfrm>
          <a:prstGeom prst="rect">
            <a:avLst/>
          </a:prstGeom>
          <a:noFill/>
          <a:ln/>
        </p:spPr>
        <p:txBody>
          <a:bodyPr wrap="square" lIns="0" tIns="0" rIns="0" bIns="0" rtlCol="0" anchor="ctr"/>
          <a:lstStyle/>
          <a:p>
            <a:pPr marL="0" indent="0" algn="ctr">
              <a:buNone/>
            </a:pPr>
            <a:r>
              <a:rPr lang="en-US" sz="2400" b="1" dirty="0">
                <a:solidFill>
                  <a:srgbClr val="DC2626"/>
                </a:solidFill>
              </a:rPr>
              <a:t>28%</a:t>
            </a:r>
            <a:endParaRPr lang="en-US" sz="2400" dirty="0"/>
          </a:p>
        </p:txBody>
      </p:sp>
      <p:sp>
        <p:nvSpPr>
          <p:cNvPr id="17" name="Text 15"/>
          <p:cNvSpPr/>
          <p:nvPr/>
        </p:nvSpPr>
        <p:spPr>
          <a:xfrm>
            <a:off x="1280160" y="4187952"/>
            <a:ext cx="1554480" cy="548640"/>
          </a:xfrm>
          <a:prstGeom prst="rect">
            <a:avLst/>
          </a:prstGeom>
          <a:noFill/>
          <a:ln/>
        </p:spPr>
        <p:txBody>
          <a:bodyPr wrap="square" lIns="0" tIns="0" rIns="0" bIns="0" rtlCol="0" anchor="ctr"/>
          <a:lstStyle/>
          <a:p>
            <a:pPr marL="0" indent="0">
              <a:buNone/>
            </a:pPr>
            <a:r>
              <a:rPr lang="en-US" sz="900" dirty="0">
                <a:solidFill>
                  <a:srgbClr val="64748B"/>
                </a:solidFill>
              </a:rPr>
              <a:t>of fraud in first</a:t>
            </a:r>
            <a:endParaRPr lang="en-US" sz="900" dirty="0"/>
          </a:p>
          <a:p>
            <a:pPr marL="0" indent="0">
              <a:buNone/>
            </a:pPr>
            <a:r>
              <a:rPr lang="en-US" sz="900" dirty="0">
                <a:solidFill>
                  <a:srgbClr val="64748B"/>
                </a:solidFill>
              </a:rPr>
              <a:t>14 days</a:t>
            </a:r>
            <a:endParaRPr lang="en-US" sz="900" dirty="0"/>
          </a:p>
        </p:txBody>
      </p:sp>
      <p:sp>
        <p:nvSpPr>
          <p:cNvPr id="18" name="Shape 16"/>
          <p:cNvSpPr/>
          <p:nvPr/>
        </p:nvSpPr>
        <p:spPr>
          <a:xfrm>
            <a:off x="3108960" y="2651760"/>
            <a:ext cx="2743200" cy="2286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9" name="Shape 17"/>
          <p:cNvSpPr/>
          <p:nvPr/>
        </p:nvSpPr>
        <p:spPr>
          <a:xfrm>
            <a:off x="3108960" y="2651760"/>
            <a:ext cx="2743200" cy="64008"/>
          </a:xfrm>
          <a:prstGeom prst="rect">
            <a:avLst/>
          </a:prstGeom>
          <a:solidFill>
            <a:srgbClr val="D97706"/>
          </a:solidFill>
          <a:ln/>
        </p:spPr>
        <p:txBody>
          <a:bodyPr/>
          <a:lstStyle/>
          <a:p>
            <a:endParaRPr lang="en-US"/>
          </a:p>
        </p:txBody>
      </p:sp>
      <p:sp>
        <p:nvSpPr>
          <p:cNvPr id="20" name="Text 18"/>
          <p:cNvSpPr/>
          <p:nvPr/>
        </p:nvSpPr>
        <p:spPr>
          <a:xfrm>
            <a:off x="3218688" y="2743200"/>
            <a:ext cx="2523744" cy="274320"/>
          </a:xfrm>
          <a:prstGeom prst="rect">
            <a:avLst/>
          </a:prstGeom>
          <a:noFill/>
          <a:ln/>
        </p:spPr>
        <p:txBody>
          <a:bodyPr wrap="square" lIns="0" tIns="0" rIns="0" bIns="0" rtlCol="0" anchor="ctr"/>
          <a:lstStyle/>
          <a:p>
            <a:pPr marL="0" indent="0">
              <a:buNone/>
            </a:pPr>
            <a:r>
              <a:rPr lang="en-US" sz="1000" b="1" dirty="0">
                <a:solidFill>
                  <a:srgbClr val="D97706"/>
                </a:solidFill>
              </a:rPr>
              <a:t>Retail Channel Abuse</a:t>
            </a:r>
            <a:endParaRPr lang="en-US" sz="1000" dirty="0"/>
          </a:p>
        </p:txBody>
      </p:sp>
      <p:sp>
        <p:nvSpPr>
          <p:cNvPr id="21" name="Text 19"/>
          <p:cNvSpPr/>
          <p:nvPr/>
        </p:nvSpPr>
        <p:spPr>
          <a:xfrm>
            <a:off x="3218688" y="3063240"/>
            <a:ext cx="2523744" cy="1005840"/>
          </a:xfrm>
          <a:prstGeom prst="rect">
            <a:avLst/>
          </a:prstGeom>
          <a:noFill/>
          <a:ln/>
        </p:spPr>
        <p:txBody>
          <a:bodyPr wrap="square" lIns="0" tIns="0" rIns="0" bIns="0" rtlCol="0" anchor="ctr"/>
          <a:lstStyle/>
          <a:p>
            <a:pPr marL="0" indent="0">
              <a:buNone/>
            </a:pPr>
            <a:r>
              <a:rPr lang="en-US" sz="850" dirty="0">
                <a:solidFill>
                  <a:srgbClr val="1E293B"/>
                </a:solidFill>
              </a:rPr>
              <a:t>Rogue retail staff file claims for devices never sold. In our B2B2C model, the retailer controls the customer relationship, and can exploit it. Top 10 partners drive 31% of all fraud.</a:t>
            </a:r>
            <a:endParaRPr lang="en-US" sz="850" dirty="0"/>
          </a:p>
        </p:txBody>
      </p:sp>
      <p:sp>
        <p:nvSpPr>
          <p:cNvPr id="22" name="Shape 20"/>
          <p:cNvSpPr/>
          <p:nvPr/>
        </p:nvSpPr>
        <p:spPr>
          <a:xfrm>
            <a:off x="3218688" y="4114800"/>
            <a:ext cx="2523744" cy="685800"/>
          </a:xfrm>
          <a:prstGeom prst="rect">
            <a:avLst/>
          </a:prstGeom>
          <a:solidFill>
            <a:srgbClr val="F8FAFC"/>
          </a:solidFill>
          <a:ln/>
        </p:spPr>
        <p:txBody>
          <a:bodyPr/>
          <a:lstStyle/>
          <a:p>
            <a:endParaRPr lang="en-US"/>
          </a:p>
        </p:txBody>
      </p:sp>
      <p:sp>
        <p:nvSpPr>
          <p:cNvPr id="23" name="Text 21"/>
          <p:cNvSpPr/>
          <p:nvPr/>
        </p:nvSpPr>
        <p:spPr>
          <a:xfrm>
            <a:off x="3218688" y="4133088"/>
            <a:ext cx="914400" cy="658368"/>
          </a:xfrm>
          <a:prstGeom prst="rect">
            <a:avLst/>
          </a:prstGeom>
          <a:noFill/>
          <a:ln/>
        </p:spPr>
        <p:txBody>
          <a:bodyPr wrap="square" lIns="0" tIns="0" rIns="0" bIns="0" rtlCol="0" anchor="ctr"/>
          <a:lstStyle/>
          <a:p>
            <a:pPr marL="0" indent="0" algn="ctr">
              <a:buNone/>
            </a:pPr>
            <a:r>
              <a:rPr lang="en-US" sz="2400" b="1" dirty="0">
                <a:solidFill>
                  <a:srgbClr val="D97706"/>
                </a:solidFill>
              </a:rPr>
              <a:t>31%</a:t>
            </a:r>
            <a:endParaRPr lang="en-US" sz="2400" dirty="0"/>
          </a:p>
        </p:txBody>
      </p:sp>
      <p:sp>
        <p:nvSpPr>
          <p:cNvPr id="24" name="Text 22"/>
          <p:cNvSpPr/>
          <p:nvPr/>
        </p:nvSpPr>
        <p:spPr>
          <a:xfrm>
            <a:off x="4187952" y="4187952"/>
            <a:ext cx="1554480" cy="548640"/>
          </a:xfrm>
          <a:prstGeom prst="rect">
            <a:avLst/>
          </a:prstGeom>
          <a:noFill/>
          <a:ln/>
        </p:spPr>
        <p:txBody>
          <a:bodyPr wrap="square" lIns="0" tIns="0" rIns="0" bIns="0" rtlCol="0" anchor="ctr"/>
          <a:lstStyle/>
          <a:p>
            <a:pPr marL="0" indent="0">
              <a:buNone/>
            </a:pPr>
            <a:r>
              <a:rPr lang="en-US" sz="900" dirty="0">
                <a:solidFill>
                  <a:srgbClr val="64748B"/>
                </a:solidFill>
              </a:rPr>
              <a:t>of fraud from</a:t>
            </a:r>
            <a:endParaRPr lang="en-US" sz="900" dirty="0"/>
          </a:p>
          <a:p>
            <a:pPr marL="0" indent="0">
              <a:buNone/>
            </a:pPr>
            <a:r>
              <a:rPr lang="en-US" sz="900" dirty="0">
                <a:solidFill>
                  <a:srgbClr val="64748B"/>
                </a:solidFill>
              </a:rPr>
              <a:t>10 partners</a:t>
            </a:r>
            <a:endParaRPr lang="en-US" sz="900" dirty="0"/>
          </a:p>
        </p:txBody>
      </p:sp>
      <p:sp>
        <p:nvSpPr>
          <p:cNvPr id="25" name="Shape 23"/>
          <p:cNvSpPr/>
          <p:nvPr/>
        </p:nvSpPr>
        <p:spPr>
          <a:xfrm>
            <a:off x="6016752" y="2651760"/>
            <a:ext cx="2743200" cy="22860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6" name="Shape 24"/>
          <p:cNvSpPr/>
          <p:nvPr/>
        </p:nvSpPr>
        <p:spPr>
          <a:xfrm>
            <a:off x="6016752" y="2651760"/>
            <a:ext cx="2743200" cy="64008"/>
          </a:xfrm>
          <a:prstGeom prst="rect">
            <a:avLst/>
          </a:prstGeom>
          <a:solidFill>
            <a:srgbClr val="1B3A6B"/>
          </a:solidFill>
          <a:ln/>
        </p:spPr>
        <p:txBody>
          <a:bodyPr/>
          <a:lstStyle/>
          <a:p>
            <a:endParaRPr lang="en-US"/>
          </a:p>
        </p:txBody>
      </p:sp>
      <p:sp>
        <p:nvSpPr>
          <p:cNvPr id="27" name="Text 25"/>
          <p:cNvSpPr/>
          <p:nvPr/>
        </p:nvSpPr>
        <p:spPr>
          <a:xfrm>
            <a:off x="6126480" y="2743200"/>
            <a:ext cx="2523744" cy="274320"/>
          </a:xfrm>
          <a:prstGeom prst="rect">
            <a:avLst/>
          </a:prstGeom>
          <a:noFill/>
          <a:ln/>
        </p:spPr>
        <p:txBody>
          <a:bodyPr wrap="square" lIns="0" tIns="0" rIns="0" bIns="0" rtlCol="0" anchor="ctr"/>
          <a:lstStyle/>
          <a:p>
            <a:pPr marL="0" indent="0">
              <a:buNone/>
            </a:pPr>
            <a:r>
              <a:rPr lang="en-US" sz="1000" b="1" dirty="0">
                <a:solidFill>
                  <a:srgbClr val="1B3A6B"/>
                </a:solidFill>
              </a:rPr>
              <a:t>Device Value Arbitrage</a:t>
            </a:r>
            <a:endParaRPr lang="en-US" sz="1000" dirty="0"/>
          </a:p>
        </p:txBody>
      </p:sp>
      <p:sp>
        <p:nvSpPr>
          <p:cNvPr id="28" name="Text 26"/>
          <p:cNvSpPr/>
          <p:nvPr/>
        </p:nvSpPr>
        <p:spPr>
          <a:xfrm>
            <a:off x="6126480" y="3063240"/>
            <a:ext cx="2523744" cy="1005840"/>
          </a:xfrm>
          <a:prstGeom prst="rect">
            <a:avLst/>
          </a:prstGeom>
          <a:noFill/>
          <a:ln/>
        </p:spPr>
        <p:txBody>
          <a:bodyPr wrap="square" lIns="0" tIns="0" rIns="0" bIns="0" rtlCol="0" anchor="ctr"/>
          <a:lstStyle/>
          <a:p>
            <a:pPr marL="0" indent="0">
              <a:buNone/>
            </a:pPr>
            <a:r>
              <a:rPr lang="en-US" sz="850" dirty="0">
                <a:solidFill>
                  <a:srgbClr val="1E293B"/>
                </a:solidFill>
              </a:rPr>
              <a:t>Customer insures a high-value device, files damage claim, receives settlement close to device value, then resells the repaired device. Net result: profit from insurance.</a:t>
            </a:r>
            <a:endParaRPr lang="en-US" sz="850" dirty="0"/>
          </a:p>
        </p:txBody>
      </p:sp>
      <p:sp>
        <p:nvSpPr>
          <p:cNvPr id="29" name="Shape 27"/>
          <p:cNvSpPr/>
          <p:nvPr/>
        </p:nvSpPr>
        <p:spPr>
          <a:xfrm>
            <a:off x="6126480" y="4114800"/>
            <a:ext cx="2523744" cy="685800"/>
          </a:xfrm>
          <a:prstGeom prst="rect">
            <a:avLst/>
          </a:prstGeom>
          <a:solidFill>
            <a:srgbClr val="F8FAFC"/>
          </a:solidFill>
          <a:ln/>
        </p:spPr>
        <p:txBody>
          <a:bodyPr/>
          <a:lstStyle/>
          <a:p>
            <a:endParaRPr lang="en-US"/>
          </a:p>
        </p:txBody>
      </p:sp>
      <p:sp>
        <p:nvSpPr>
          <p:cNvPr id="30" name="Text 28"/>
          <p:cNvSpPr/>
          <p:nvPr/>
        </p:nvSpPr>
        <p:spPr>
          <a:xfrm>
            <a:off x="6126480" y="4133088"/>
            <a:ext cx="914400" cy="658368"/>
          </a:xfrm>
          <a:prstGeom prst="rect">
            <a:avLst/>
          </a:prstGeom>
          <a:noFill/>
          <a:ln/>
        </p:spPr>
        <p:txBody>
          <a:bodyPr wrap="square" lIns="0" tIns="0" rIns="0" bIns="0" rtlCol="0" anchor="ctr"/>
          <a:lstStyle/>
          <a:p>
            <a:pPr marL="0" indent="0" algn="ctr">
              <a:buNone/>
            </a:pPr>
            <a:r>
              <a:rPr lang="en-US" sz="2400" b="1" dirty="0">
                <a:solidFill>
                  <a:srgbClr val="1B3A6B"/>
                </a:solidFill>
              </a:rPr>
              <a:t>~42%</a:t>
            </a:r>
            <a:endParaRPr lang="en-US" sz="2400" dirty="0"/>
          </a:p>
        </p:txBody>
      </p:sp>
      <p:sp>
        <p:nvSpPr>
          <p:cNvPr id="31" name="Text 29"/>
          <p:cNvSpPr/>
          <p:nvPr/>
        </p:nvSpPr>
        <p:spPr>
          <a:xfrm>
            <a:off x="7095744" y="4187952"/>
            <a:ext cx="1554480" cy="548640"/>
          </a:xfrm>
          <a:prstGeom prst="rect">
            <a:avLst/>
          </a:prstGeom>
          <a:noFill/>
          <a:ln/>
        </p:spPr>
        <p:txBody>
          <a:bodyPr wrap="square" lIns="0" tIns="0" rIns="0" bIns="0" rtlCol="0" anchor="ctr"/>
          <a:lstStyle/>
          <a:p>
            <a:pPr marL="0" indent="0">
              <a:buNone/>
            </a:pPr>
            <a:r>
              <a:rPr lang="en-US" sz="900" dirty="0">
                <a:solidFill>
                  <a:srgbClr val="64748B"/>
                </a:solidFill>
              </a:rPr>
              <a:t>of fraud is</a:t>
            </a:r>
            <a:endParaRPr lang="en-US" sz="900" dirty="0"/>
          </a:p>
          <a:p>
            <a:pPr marL="0" indent="0">
              <a:buNone/>
            </a:pPr>
            <a:r>
              <a:rPr lang="en-US" sz="900" dirty="0">
                <a:solidFill>
                  <a:srgbClr val="64748B"/>
                </a:solidFill>
              </a:rPr>
              <a:t>high-value claims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p:spPr>
        <p:txBody>
          <a:bodyPr/>
          <a:lstStyle/>
          <a:p>
            <a:endParaRPr lang="en-US"/>
          </a:p>
        </p:txBody>
      </p:sp>
      <p:sp>
        <p:nvSpPr>
          <p:cNvPr id="3" name="Shape 1"/>
          <p:cNvSpPr/>
          <p:nvPr/>
        </p:nvSpPr>
        <p:spPr>
          <a:xfrm>
            <a:off x="0" y="512064"/>
            <a:ext cx="9144000" cy="54864"/>
          </a:xfrm>
          <a:prstGeom prst="rect">
            <a:avLst/>
          </a:prstGeom>
          <a:solidFill>
            <a:srgbClr val="2563EB"/>
          </a:solidFill>
          <a:ln/>
        </p:spPr>
        <p:txBody>
          <a:bodyPr/>
          <a:lstStyle/>
          <a:p>
            <a:endParaRPr lang="en-US"/>
          </a:p>
        </p:txBody>
      </p:sp>
      <p:sp>
        <p:nvSpPr>
          <p:cNvPr id="4" name="Text 2"/>
          <p:cNvSpPr/>
          <p:nvPr/>
        </p:nvSpPr>
        <p:spPr>
          <a:xfrm>
            <a:off x="320040" y="54864"/>
            <a:ext cx="8321040" cy="438912"/>
          </a:xfrm>
          <a:prstGeom prst="rect">
            <a:avLst/>
          </a:prstGeom>
          <a:noFill/>
          <a:ln/>
        </p:spPr>
        <p:txBody>
          <a:bodyPr wrap="square" lIns="0" tIns="0" rIns="0" bIns="0" rtlCol="0" anchor="ctr"/>
          <a:lstStyle/>
          <a:p>
            <a:pPr marL="0" indent="0">
              <a:buNone/>
            </a:pPr>
            <a:r>
              <a:rPr lang="en-US" sz="1600" b="1" dirty="0">
                <a:solidFill>
                  <a:srgbClr val="FFFFFF"/>
                </a:solidFill>
              </a:rPr>
              <a:t>Why Our Current Review Process Cannot Keep Up</a:t>
            </a:r>
            <a:endParaRPr lang="en-US" sz="1600" dirty="0"/>
          </a:p>
        </p:txBody>
      </p:sp>
      <p:sp>
        <p:nvSpPr>
          <p:cNvPr id="5" name="Text 3"/>
          <p:cNvSpPr/>
          <p:nvPr/>
        </p:nvSpPr>
        <p:spPr>
          <a:xfrm>
            <a:off x="320040" y="4919472"/>
            <a:ext cx="8503920" cy="201168"/>
          </a:xfrm>
          <a:prstGeom prst="rect">
            <a:avLst/>
          </a:prstGeom>
          <a:noFill/>
          <a:ln/>
        </p:spPr>
        <p:txBody>
          <a:bodyPr wrap="square" lIns="0" tIns="0" rIns="0" bIns="0" rtlCol="0" anchor="ctr"/>
          <a:lstStyle/>
          <a:p>
            <a:pPr marL="0" indent="0" algn="r">
              <a:buNone/>
            </a:pPr>
            <a:r>
              <a:rPr lang="en-US" sz="750" dirty="0">
                <a:solidFill>
                  <a:srgbClr val="64748B"/>
                </a:solidFill>
              </a:rPr>
              <a:t>ProTech Devices Asia  |  Confidential</a:t>
            </a:r>
            <a:endParaRPr lang="en-US" sz="750" dirty="0"/>
          </a:p>
        </p:txBody>
      </p:sp>
      <p:sp>
        <p:nvSpPr>
          <p:cNvPr id="6" name="Shape 4"/>
          <p:cNvSpPr/>
          <p:nvPr/>
        </p:nvSpPr>
        <p:spPr>
          <a:xfrm>
            <a:off x="201168" y="685800"/>
            <a:ext cx="4114800" cy="4206240"/>
          </a:xfrm>
          <a:prstGeom prst="rect">
            <a:avLst/>
          </a:prstGeom>
          <a:solidFill>
            <a:srgbClr val="FEE2E2"/>
          </a:solidFill>
          <a:ln/>
        </p:spPr>
        <p:txBody>
          <a:bodyPr/>
          <a:lstStyle/>
          <a:p>
            <a:endParaRPr lang="en-US"/>
          </a:p>
        </p:txBody>
      </p:sp>
      <p:sp>
        <p:nvSpPr>
          <p:cNvPr id="7" name="Shape 5"/>
          <p:cNvSpPr/>
          <p:nvPr/>
        </p:nvSpPr>
        <p:spPr>
          <a:xfrm>
            <a:off x="201168" y="685800"/>
            <a:ext cx="4114800" cy="64008"/>
          </a:xfrm>
          <a:prstGeom prst="rect">
            <a:avLst/>
          </a:prstGeom>
          <a:solidFill>
            <a:srgbClr val="DC2626"/>
          </a:solidFill>
          <a:ln/>
        </p:spPr>
        <p:txBody>
          <a:bodyPr/>
          <a:lstStyle/>
          <a:p>
            <a:endParaRPr lang="en-US"/>
          </a:p>
        </p:txBody>
      </p:sp>
      <p:sp>
        <p:nvSpPr>
          <p:cNvPr id="8" name="Text 6"/>
          <p:cNvSpPr/>
          <p:nvPr/>
        </p:nvSpPr>
        <p:spPr>
          <a:xfrm>
            <a:off x="320040" y="777240"/>
            <a:ext cx="3877056" cy="256032"/>
          </a:xfrm>
          <a:prstGeom prst="rect">
            <a:avLst/>
          </a:prstGeom>
          <a:noFill/>
          <a:ln/>
        </p:spPr>
        <p:txBody>
          <a:bodyPr wrap="square" lIns="0" tIns="0" rIns="0" bIns="0" rtlCol="0" anchor="ctr"/>
          <a:lstStyle/>
          <a:p>
            <a:pPr marL="0" indent="0">
              <a:buNone/>
            </a:pPr>
            <a:r>
              <a:rPr lang="en-US" sz="900" b="1" kern="0" spc="200" dirty="0">
                <a:solidFill>
                  <a:srgbClr val="DC2626"/>
                </a:solidFill>
              </a:rPr>
              <a:t>CURRENT STATE</a:t>
            </a:r>
            <a:endParaRPr lang="en-US" sz="900" dirty="0"/>
          </a:p>
        </p:txBody>
      </p:sp>
      <p:sp>
        <p:nvSpPr>
          <p:cNvPr id="9" name="Shape 7"/>
          <p:cNvSpPr/>
          <p:nvPr/>
        </p:nvSpPr>
        <p:spPr>
          <a:xfrm>
            <a:off x="320040" y="1124712"/>
            <a:ext cx="3858768"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0" name="Text 8"/>
          <p:cNvSpPr/>
          <p:nvPr/>
        </p:nvSpPr>
        <p:spPr>
          <a:xfrm>
            <a:off x="411480" y="1170432"/>
            <a:ext cx="3657600" cy="274320"/>
          </a:xfrm>
          <a:prstGeom prst="rect">
            <a:avLst/>
          </a:prstGeom>
          <a:noFill/>
          <a:ln/>
        </p:spPr>
        <p:txBody>
          <a:bodyPr wrap="square" lIns="0" tIns="0" rIns="0" bIns="0" rtlCol="0" anchor="ctr"/>
          <a:lstStyle/>
          <a:p>
            <a:pPr marL="0" indent="0">
              <a:buNone/>
            </a:pPr>
            <a:r>
              <a:rPr lang="en-US" sz="1000" b="1" dirty="0">
                <a:solidFill>
                  <a:srgbClr val="DC2626"/>
                </a:solidFill>
              </a:rPr>
              <a:t>⏱  No Scoring at Intake</a:t>
            </a:r>
            <a:endParaRPr lang="en-US" sz="1000" dirty="0"/>
          </a:p>
        </p:txBody>
      </p:sp>
      <p:sp>
        <p:nvSpPr>
          <p:cNvPr id="11" name="Text 9"/>
          <p:cNvSpPr/>
          <p:nvPr/>
        </p:nvSpPr>
        <p:spPr>
          <a:xfrm>
            <a:off x="411480" y="1472184"/>
            <a:ext cx="3657600" cy="411480"/>
          </a:xfrm>
          <a:prstGeom prst="rect">
            <a:avLst/>
          </a:prstGeom>
          <a:noFill/>
          <a:ln/>
        </p:spPr>
        <p:txBody>
          <a:bodyPr wrap="square" lIns="0" tIns="0" rIns="0" bIns="0" rtlCol="0" anchor="ctr"/>
          <a:lstStyle/>
          <a:p>
            <a:pPr marL="0" indent="0">
              <a:buNone/>
            </a:pPr>
            <a:r>
              <a:rPr lang="en-US" sz="900" dirty="0">
                <a:solidFill>
                  <a:srgbClr val="1E293B"/>
                </a:solidFill>
              </a:rPr>
              <a:t>Claims enter the queue without any risk prioritisation. Every claim, from obvious frauds to simple screen repairs, gets the same handling.</a:t>
            </a:r>
            <a:endParaRPr lang="en-US" sz="900" dirty="0"/>
          </a:p>
        </p:txBody>
      </p:sp>
      <p:sp>
        <p:nvSpPr>
          <p:cNvPr id="12" name="Shape 10"/>
          <p:cNvSpPr/>
          <p:nvPr/>
        </p:nvSpPr>
        <p:spPr>
          <a:xfrm>
            <a:off x="320040" y="2039112"/>
            <a:ext cx="3858768"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3" name="Text 11"/>
          <p:cNvSpPr/>
          <p:nvPr/>
        </p:nvSpPr>
        <p:spPr>
          <a:xfrm>
            <a:off x="411480" y="2084832"/>
            <a:ext cx="3657600" cy="274320"/>
          </a:xfrm>
          <a:prstGeom prst="rect">
            <a:avLst/>
          </a:prstGeom>
          <a:noFill/>
          <a:ln/>
        </p:spPr>
        <p:txBody>
          <a:bodyPr wrap="square" lIns="0" tIns="0" rIns="0" bIns="0" rtlCol="0" anchor="ctr"/>
          <a:lstStyle/>
          <a:p>
            <a:pPr marL="0" indent="0">
              <a:buNone/>
            </a:pPr>
            <a:r>
              <a:rPr lang="en-US" sz="1000" b="1" dirty="0">
                <a:solidFill>
                  <a:srgbClr val="DC2626"/>
                </a:solidFill>
              </a:rPr>
              <a:t>📊  Only Threshold Rules</a:t>
            </a:r>
            <a:endParaRPr lang="en-US" sz="1000" dirty="0"/>
          </a:p>
        </p:txBody>
      </p:sp>
      <p:sp>
        <p:nvSpPr>
          <p:cNvPr id="14" name="Text 12"/>
          <p:cNvSpPr/>
          <p:nvPr/>
        </p:nvSpPr>
        <p:spPr>
          <a:xfrm>
            <a:off x="411480" y="2386584"/>
            <a:ext cx="3657600" cy="411480"/>
          </a:xfrm>
          <a:prstGeom prst="rect">
            <a:avLst/>
          </a:prstGeom>
          <a:noFill/>
          <a:ln/>
        </p:spPr>
        <p:txBody>
          <a:bodyPr wrap="square" lIns="0" tIns="0" rIns="0" bIns="0" rtlCol="0" anchor="ctr"/>
          <a:lstStyle/>
          <a:p>
            <a:pPr marL="0" indent="0">
              <a:buNone/>
            </a:pPr>
            <a:r>
              <a:rPr lang="en-US" sz="900" dirty="0">
                <a:solidFill>
                  <a:srgbClr val="1E293B"/>
                </a:solidFill>
              </a:rPr>
              <a:t>Current flags: claims &gt;USD 300, or 2nd claim within 12 months. Sophisticated fraud designed to stay under these thresholds goes undetected.</a:t>
            </a:r>
            <a:endParaRPr lang="en-US" sz="900" dirty="0"/>
          </a:p>
        </p:txBody>
      </p:sp>
      <p:sp>
        <p:nvSpPr>
          <p:cNvPr id="15" name="Shape 13"/>
          <p:cNvSpPr/>
          <p:nvPr/>
        </p:nvSpPr>
        <p:spPr>
          <a:xfrm>
            <a:off x="320040" y="2953512"/>
            <a:ext cx="3858768"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6" name="Text 14"/>
          <p:cNvSpPr/>
          <p:nvPr/>
        </p:nvSpPr>
        <p:spPr>
          <a:xfrm>
            <a:off x="411480" y="2999232"/>
            <a:ext cx="3657600" cy="274320"/>
          </a:xfrm>
          <a:prstGeom prst="rect">
            <a:avLst/>
          </a:prstGeom>
          <a:noFill/>
          <a:ln/>
        </p:spPr>
        <p:txBody>
          <a:bodyPr wrap="square" lIns="0" tIns="0" rIns="0" bIns="0" rtlCol="0" anchor="ctr"/>
          <a:lstStyle/>
          <a:p>
            <a:pPr marL="0" indent="0">
              <a:buNone/>
            </a:pPr>
            <a:r>
              <a:rPr lang="en-US" sz="1000" b="1" dirty="0">
                <a:solidFill>
                  <a:srgbClr val="DC2626"/>
                </a:solidFill>
              </a:rPr>
              <a:t>👥  Adjuster Intuition Only</a:t>
            </a:r>
            <a:endParaRPr lang="en-US" sz="1000" dirty="0"/>
          </a:p>
        </p:txBody>
      </p:sp>
      <p:sp>
        <p:nvSpPr>
          <p:cNvPr id="17" name="Text 15"/>
          <p:cNvSpPr/>
          <p:nvPr/>
        </p:nvSpPr>
        <p:spPr>
          <a:xfrm>
            <a:off x="411480" y="3300984"/>
            <a:ext cx="3657600" cy="411480"/>
          </a:xfrm>
          <a:prstGeom prst="rect">
            <a:avLst/>
          </a:prstGeom>
          <a:noFill/>
          <a:ln/>
        </p:spPr>
        <p:txBody>
          <a:bodyPr wrap="square" lIns="0" tIns="0" rIns="0" bIns="0" rtlCol="0" anchor="ctr"/>
          <a:lstStyle/>
          <a:p>
            <a:pPr marL="0" indent="0">
              <a:buNone/>
            </a:pPr>
            <a:r>
              <a:rPr lang="en-US" sz="900" dirty="0">
                <a:solidFill>
                  <a:srgbClr val="1E293B"/>
                </a:solidFill>
              </a:rPr>
              <a:t>Fraud detection depends on individual adjuster experience. No consistent methodology. No institutional memory across cases.</a:t>
            </a:r>
            <a:endParaRPr lang="en-US" sz="900" dirty="0"/>
          </a:p>
        </p:txBody>
      </p:sp>
      <p:sp>
        <p:nvSpPr>
          <p:cNvPr id="18" name="Shape 16"/>
          <p:cNvSpPr/>
          <p:nvPr/>
        </p:nvSpPr>
        <p:spPr>
          <a:xfrm>
            <a:off x="320040" y="3867912"/>
            <a:ext cx="3858768"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9" name="Text 17"/>
          <p:cNvSpPr/>
          <p:nvPr/>
        </p:nvSpPr>
        <p:spPr>
          <a:xfrm>
            <a:off x="411480" y="3913632"/>
            <a:ext cx="3657600" cy="274320"/>
          </a:xfrm>
          <a:prstGeom prst="rect">
            <a:avLst/>
          </a:prstGeom>
          <a:noFill/>
          <a:ln/>
        </p:spPr>
        <p:txBody>
          <a:bodyPr wrap="square" lIns="0" tIns="0" rIns="0" bIns="0" rtlCol="0" anchor="ctr"/>
          <a:lstStyle/>
          <a:p>
            <a:pPr marL="0" indent="0">
              <a:buNone/>
            </a:pPr>
            <a:r>
              <a:rPr lang="en-US" sz="1000" b="1" dirty="0">
                <a:solidFill>
                  <a:srgbClr val="DC2626"/>
                </a:solidFill>
              </a:rPr>
              <a:t>📉  Capacity Constraint</a:t>
            </a:r>
            <a:endParaRPr lang="en-US" sz="1000" dirty="0"/>
          </a:p>
        </p:txBody>
      </p:sp>
      <p:sp>
        <p:nvSpPr>
          <p:cNvPr id="20" name="Text 18"/>
          <p:cNvSpPr/>
          <p:nvPr/>
        </p:nvSpPr>
        <p:spPr>
          <a:xfrm>
            <a:off x="411480" y="4215384"/>
            <a:ext cx="3657600" cy="411480"/>
          </a:xfrm>
          <a:prstGeom prst="rect">
            <a:avLst/>
          </a:prstGeom>
          <a:noFill/>
          <a:ln/>
        </p:spPr>
        <p:txBody>
          <a:bodyPr wrap="square" lIns="0" tIns="0" rIns="0" bIns="0" rtlCol="0" anchor="ctr"/>
          <a:lstStyle/>
          <a:p>
            <a:pPr marL="0" indent="0">
              <a:buNone/>
            </a:pPr>
            <a:r>
              <a:rPr lang="en-US" sz="900" dirty="0">
                <a:solidFill>
                  <a:srgbClr val="1E293B"/>
                </a:solidFill>
              </a:rPr>
              <a:t>400–600 claims/month, 3–5 day SLA. Team cannot manually investigate every claim deeply, meaning sophisticated fraud gets approved.</a:t>
            </a:r>
            <a:endParaRPr lang="en-US" sz="900" dirty="0"/>
          </a:p>
        </p:txBody>
      </p:sp>
      <p:sp>
        <p:nvSpPr>
          <p:cNvPr id="21" name="Shape 19"/>
          <p:cNvSpPr/>
          <p:nvPr/>
        </p:nvSpPr>
        <p:spPr>
          <a:xfrm>
            <a:off x="4462272" y="685800"/>
            <a:ext cx="4480560" cy="4206240"/>
          </a:xfrm>
          <a:prstGeom prst="rect">
            <a:avLst/>
          </a:prstGeom>
          <a:solidFill>
            <a:srgbClr val="D1FAE5"/>
          </a:solidFill>
          <a:ln/>
        </p:spPr>
        <p:txBody>
          <a:bodyPr/>
          <a:lstStyle/>
          <a:p>
            <a:endParaRPr lang="en-US"/>
          </a:p>
        </p:txBody>
      </p:sp>
      <p:sp>
        <p:nvSpPr>
          <p:cNvPr id="22" name="Shape 20"/>
          <p:cNvSpPr/>
          <p:nvPr/>
        </p:nvSpPr>
        <p:spPr>
          <a:xfrm>
            <a:off x="4462272" y="685800"/>
            <a:ext cx="4480560" cy="64008"/>
          </a:xfrm>
          <a:prstGeom prst="rect">
            <a:avLst/>
          </a:prstGeom>
          <a:solidFill>
            <a:srgbClr val="059669"/>
          </a:solidFill>
          <a:ln/>
        </p:spPr>
        <p:txBody>
          <a:bodyPr/>
          <a:lstStyle/>
          <a:p>
            <a:endParaRPr lang="en-US"/>
          </a:p>
        </p:txBody>
      </p:sp>
      <p:sp>
        <p:nvSpPr>
          <p:cNvPr id="23" name="Text 21"/>
          <p:cNvSpPr/>
          <p:nvPr/>
        </p:nvSpPr>
        <p:spPr>
          <a:xfrm>
            <a:off x="4572000" y="777240"/>
            <a:ext cx="4261104" cy="256032"/>
          </a:xfrm>
          <a:prstGeom prst="rect">
            <a:avLst/>
          </a:prstGeom>
          <a:noFill/>
          <a:ln/>
        </p:spPr>
        <p:txBody>
          <a:bodyPr wrap="square" lIns="0" tIns="0" rIns="0" bIns="0" rtlCol="0" anchor="ctr"/>
          <a:lstStyle/>
          <a:p>
            <a:pPr marL="0" indent="0">
              <a:buNone/>
            </a:pPr>
            <a:r>
              <a:rPr lang="en-US" sz="900" b="1" kern="0" spc="200" dirty="0">
                <a:solidFill>
                  <a:srgbClr val="059669"/>
                </a:solidFill>
              </a:rPr>
              <a:t>WITH AI FRAUD DETECTION</a:t>
            </a:r>
            <a:endParaRPr lang="en-US" sz="900" dirty="0"/>
          </a:p>
        </p:txBody>
      </p:sp>
      <p:sp>
        <p:nvSpPr>
          <p:cNvPr id="24" name="Shape 22"/>
          <p:cNvSpPr/>
          <p:nvPr/>
        </p:nvSpPr>
        <p:spPr>
          <a:xfrm>
            <a:off x="4572000" y="1124712"/>
            <a:ext cx="4261104"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5" name="Text 23"/>
          <p:cNvSpPr/>
          <p:nvPr/>
        </p:nvSpPr>
        <p:spPr>
          <a:xfrm>
            <a:off x="4663440" y="1170432"/>
            <a:ext cx="4069080" cy="274320"/>
          </a:xfrm>
          <a:prstGeom prst="rect">
            <a:avLst/>
          </a:prstGeom>
          <a:noFill/>
          <a:ln/>
        </p:spPr>
        <p:txBody>
          <a:bodyPr wrap="square" lIns="0" tIns="0" rIns="0" bIns="0" rtlCol="0" anchor="ctr"/>
          <a:lstStyle/>
          <a:p>
            <a:pPr marL="0" indent="0">
              <a:buNone/>
            </a:pPr>
            <a:r>
              <a:rPr lang="en-US" sz="1000" b="1" dirty="0">
                <a:solidFill>
                  <a:srgbClr val="059669"/>
                </a:solidFill>
              </a:rPr>
              <a:t>🎯  Every Claim Scored</a:t>
            </a:r>
            <a:endParaRPr lang="en-US" sz="1000" dirty="0"/>
          </a:p>
        </p:txBody>
      </p:sp>
      <p:sp>
        <p:nvSpPr>
          <p:cNvPr id="26" name="Text 24"/>
          <p:cNvSpPr/>
          <p:nvPr/>
        </p:nvSpPr>
        <p:spPr>
          <a:xfrm>
            <a:off x="4663440" y="1472184"/>
            <a:ext cx="4069080" cy="411480"/>
          </a:xfrm>
          <a:prstGeom prst="rect">
            <a:avLst/>
          </a:prstGeom>
          <a:noFill/>
          <a:ln/>
        </p:spPr>
        <p:txBody>
          <a:bodyPr wrap="square" lIns="0" tIns="0" rIns="0" bIns="0" rtlCol="0" anchor="ctr"/>
          <a:lstStyle/>
          <a:p>
            <a:pPr marL="0" indent="0">
              <a:buNone/>
            </a:pPr>
            <a:r>
              <a:rPr lang="en-US" sz="900" dirty="0">
                <a:solidFill>
                  <a:srgbClr val="1E293B"/>
                </a:solidFill>
              </a:rPr>
              <a:t>Each claim receives a fraud probability score at intake, before it enters the adjuster queue. High-risk claims are routed for review immediately.</a:t>
            </a:r>
            <a:endParaRPr lang="en-US" sz="900" dirty="0"/>
          </a:p>
        </p:txBody>
      </p:sp>
      <p:sp>
        <p:nvSpPr>
          <p:cNvPr id="27" name="Shape 25"/>
          <p:cNvSpPr/>
          <p:nvPr/>
        </p:nvSpPr>
        <p:spPr>
          <a:xfrm>
            <a:off x="4572000" y="2039112"/>
            <a:ext cx="4261104"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8" name="Text 26"/>
          <p:cNvSpPr/>
          <p:nvPr/>
        </p:nvSpPr>
        <p:spPr>
          <a:xfrm>
            <a:off x="4663440" y="2084832"/>
            <a:ext cx="4069080" cy="274320"/>
          </a:xfrm>
          <a:prstGeom prst="rect">
            <a:avLst/>
          </a:prstGeom>
          <a:noFill/>
          <a:ln/>
        </p:spPr>
        <p:txBody>
          <a:bodyPr wrap="square" lIns="0" tIns="0" rIns="0" bIns="0" rtlCol="0" anchor="ctr"/>
          <a:lstStyle/>
          <a:p>
            <a:pPr marL="0" indent="0">
              <a:buNone/>
            </a:pPr>
            <a:r>
              <a:rPr lang="en-US" sz="1000" b="1" dirty="0">
                <a:solidFill>
                  <a:srgbClr val="059669"/>
                </a:solidFill>
              </a:rPr>
              <a:t>🔍  Behavioural Pattern Detection</a:t>
            </a:r>
            <a:endParaRPr lang="en-US" sz="1000" dirty="0"/>
          </a:p>
        </p:txBody>
      </p:sp>
      <p:sp>
        <p:nvSpPr>
          <p:cNvPr id="29" name="Text 27"/>
          <p:cNvSpPr/>
          <p:nvPr/>
        </p:nvSpPr>
        <p:spPr>
          <a:xfrm>
            <a:off x="4663440" y="2386584"/>
            <a:ext cx="4069080" cy="411480"/>
          </a:xfrm>
          <a:prstGeom prst="rect">
            <a:avLst/>
          </a:prstGeom>
          <a:noFill/>
          <a:ln/>
        </p:spPr>
        <p:txBody>
          <a:bodyPr wrap="square" lIns="0" tIns="0" rIns="0" bIns="0" rtlCol="0" anchor="ctr"/>
          <a:lstStyle/>
          <a:p>
            <a:pPr marL="0" indent="0">
              <a:buNone/>
            </a:pPr>
            <a:r>
              <a:rPr lang="en-US" sz="900" dirty="0">
                <a:solidFill>
                  <a:srgbClr val="1E293B"/>
                </a:solidFill>
              </a:rPr>
              <a:t>Model detects subtle combinations: timing + channel + email domain + amount, patterns invisible to threshold rules.</a:t>
            </a:r>
            <a:endParaRPr lang="en-US" sz="900" dirty="0"/>
          </a:p>
        </p:txBody>
      </p:sp>
      <p:sp>
        <p:nvSpPr>
          <p:cNvPr id="30" name="Shape 28"/>
          <p:cNvSpPr/>
          <p:nvPr/>
        </p:nvSpPr>
        <p:spPr>
          <a:xfrm>
            <a:off x="4572000" y="2953512"/>
            <a:ext cx="4261104"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1" name="Text 29"/>
          <p:cNvSpPr/>
          <p:nvPr/>
        </p:nvSpPr>
        <p:spPr>
          <a:xfrm>
            <a:off x="4663440" y="2999232"/>
            <a:ext cx="4069080" cy="274320"/>
          </a:xfrm>
          <a:prstGeom prst="rect">
            <a:avLst/>
          </a:prstGeom>
          <a:noFill/>
          <a:ln/>
        </p:spPr>
        <p:txBody>
          <a:bodyPr wrap="square" lIns="0" tIns="0" rIns="0" bIns="0" rtlCol="0" anchor="ctr"/>
          <a:lstStyle/>
          <a:p>
            <a:pPr marL="0" indent="0">
              <a:buNone/>
            </a:pPr>
            <a:r>
              <a:rPr lang="en-US" sz="1000" b="1" dirty="0">
                <a:solidFill>
                  <a:srgbClr val="059669"/>
                </a:solidFill>
              </a:rPr>
              <a:t>📋  Consistent, Documented Logic</a:t>
            </a:r>
            <a:endParaRPr lang="en-US" sz="1000" dirty="0"/>
          </a:p>
        </p:txBody>
      </p:sp>
      <p:sp>
        <p:nvSpPr>
          <p:cNvPr id="32" name="Text 30"/>
          <p:cNvSpPr/>
          <p:nvPr/>
        </p:nvSpPr>
        <p:spPr>
          <a:xfrm>
            <a:off x="4663440" y="3300984"/>
            <a:ext cx="4069080" cy="411480"/>
          </a:xfrm>
          <a:prstGeom prst="rect">
            <a:avLst/>
          </a:prstGeom>
          <a:noFill/>
          <a:ln/>
        </p:spPr>
        <p:txBody>
          <a:bodyPr wrap="square" lIns="0" tIns="0" rIns="0" bIns="0" rtlCol="0" anchor="ctr"/>
          <a:lstStyle/>
          <a:p>
            <a:pPr marL="0" indent="0">
              <a:buNone/>
            </a:pPr>
            <a:r>
              <a:rPr lang="en-US" sz="900" dirty="0">
                <a:solidFill>
                  <a:srgbClr val="1E293B"/>
                </a:solidFill>
              </a:rPr>
              <a:t>Same scoring logic applied to every claim. SHAP explanations tell the adjuster exactly why a claim was flagged. Full audit trail.</a:t>
            </a:r>
            <a:endParaRPr lang="en-US" sz="900" dirty="0"/>
          </a:p>
        </p:txBody>
      </p:sp>
      <p:sp>
        <p:nvSpPr>
          <p:cNvPr id="33" name="Shape 31"/>
          <p:cNvSpPr/>
          <p:nvPr/>
        </p:nvSpPr>
        <p:spPr>
          <a:xfrm>
            <a:off x="4572000" y="3867912"/>
            <a:ext cx="4261104" cy="804672"/>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4" name="Text 32"/>
          <p:cNvSpPr/>
          <p:nvPr/>
        </p:nvSpPr>
        <p:spPr>
          <a:xfrm>
            <a:off x="4663440" y="3913632"/>
            <a:ext cx="4069080" cy="274320"/>
          </a:xfrm>
          <a:prstGeom prst="rect">
            <a:avLst/>
          </a:prstGeom>
          <a:noFill/>
          <a:ln/>
        </p:spPr>
        <p:txBody>
          <a:bodyPr wrap="square" lIns="0" tIns="0" rIns="0" bIns="0" rtlCol="0" anchor="ctr"/>
          <a:lstStyle/>
          <a:p>
            <a:pPr marL="0" indent="0">
              <a:buNone/>
            </a:pPr>
            <a:r>
              <a:rPr lang="en-US" sz="1000" b="1" dirty="0">
                <a:solidFill>
                  <a:srgbClr val="059669"/>
                </a:solidFill>
              </a:rPr>
              <a:t>⚡  72% Auto-Approved (STP)</a:t>
            </a:r>
            <a:endParaRPr lang="en-US" sz="1000" dirty="0"/>
          </a:p>
        </p:txBody>
      </p:sp>
      <p:sp>
        <p:nvSpPr>
          <p:cNvPr id="35" name="Text 33"/>
          <p:cNvSpPr/>
          <p:nvPr/>
        </p:nvSpPr>
        <p:spPr>
          <a:xfrm>
            <a:off x="4663440" y="4215384"/>
            <a:ext cx="4069080" cy="411480"/>
          </a:xfrm>
          <a:prstGeom prst="rect">
            <a:avLst/>
          </a:prstGeom>
          <a:noFill/>
          <a:ln/>
        </p:spPr>
        <p:txBody>
          <a:bodyPr wrap="square" lIns="0" tIns="0" rIns="0" bIns="0" rtlCol="0" anchor="ctr"/>
          <a:lstStyle/>
          <a:p>
            <a:pPr marL="0" indent="0">
              <a:buNone/>
            </a:pPr>
            <a:r>
              <a:rPr lang="en-US" sz="900" dirty="0">
                <a:solidFill>
                  <a:srgbClr val="1E293B"/>
                </a:solidFill>
              </a:rPr>
              <a:t>Clearly legitimate claims auto-approved, freeing the team to focus deep review on the 5% of claims that are truly suspicious.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p:spPr>
        <p:txBody>
          <a:bodyPr/>
          <a:lstStyle/>
          <a:p>
            <a:endParaRPr lang="en-US"/>
          </a:p>
        </p:txBody>
      </p:sp>
      <p:sp>
        <p:nvSpPr>
          <p:cNvPr id="3" name="Shape 1"/>
          <p:cNvSpPr/>
          <p:nvPr/>
        </p:nvSpPr>
        <p:spPr>
          <a:xfrm>
            <a:off x="0" y="512064"/>
            <a:ext cx="9144000" cy="54864"/>
          </a:xfrm>
          <a:prstGeom prst="rect">
            <a:avLst/>
          </a:prstGeom>
          <a:solidFill>
            <a:srgbClr val="2563EB"/>
          </a:solidFill>
          <a:ln/>
        </p:spPr>
        <p:txBody>
          <a:bodyPr/>
          <a:lstStyle/>
          <a:p>
            <a:endParaRPr lang="en-US"/>
          </a:p>
        </p:txBody>
      </p:sp>
      <p:sp>
        <p:nvSpPr>
          <p:cNvPr id="4" name="Text 2"/>
          <p:cNvSpPr/>
          <p:nvPr/>
        </p:nvSpPr>
        <p:spPr>
          <a:xfrm>
            <a:off x="320040" y="54864"/>
            <a:ext cx="8321040" cy="438912"/>
          </a:xfrm>
          <a:prstGeom prst="rect">
            <a:avLst/>
          </a:prstGeom>
          <a:noFill/>
          <a:ln/>
        </p:spPr>
        <p:txBody>
          <a:bodyPr wrap="square" lIns="0" tIns="0" rIns="0" bIns="0" rtlCol="0" anchor="ctr"/>
          <a:lstStyle/>
          <a:p>
            <a:pPr marL="0" indent="0">
              <a:buNone/>
            </a:pPr>
            <a:r>
              <a:rPr lang="en-US" sz="1600" b="1" dirty="0">
                <a:solidFill>
                  <a:srgbClr val="FFFFFF"/>
                </a:solidFill>
              </a:rPr>
              <a:t>How the AI Fraud Detection Engine Works</a:t>
            </a:r>
            <a:endParaRPr lang="en-US" sz="1600" dirty="0"/>
          </a:p>
        </p:txBody>
      </p:sp>
      <p:sp>
        <p:nvSpPr>
          <p:cNvPr id="5" name="Text 3"/>
          <p:cNvSpPr/>
          <p:nvPr/>
        </p:nvSpPr>
        <p:spPr>
          <a:xfrm>
            <a:off x="320040" y="4919472"/>
            <a:ext cx="8503920" cy="201168"/>
          </a:xfrm>
          <a:prstGeom prst="rect">
            <a:avLst/>
          </a:prstGeom>
          <a:noFill/>
          <a:ln/>
        </p:spPr>
        <p:txBody>
          <a:bodyPr wrap="square" lIns="0" tIns="0" rIns="0" bIns="0" rtlCol="0" anchor="ctr"/>
          <a:lstStyle/>
          <a:p>
            <a:pPr marL="0" indent="0" algn="r">
              <a:buNone/>
            </a:pPr>
            <a:r>
              <a:rPr lang="en-US" sz="750" dirty="0">
                <a:solidFill>
                  <a:srgbClr val="64748B"/>
                </a:solidFill>
              </a:rPr>
              <a:t>ProTech Devices Asia  |  Confidential</a:t>
            </a:r>
            <a:endParaRPr lang="en-US" sz="750" dirty="0"/>
          </a:p>
        </p:txBody>
      </p:sp>
      <p:sp>
        <p:nvSpPr>
          <p:cNvPr id="6" name="Text 4"/>
          <p:cNvSpPr/>
          <p:nvPr/>
        </p:nvSpPr>
        <p:spPr>
          <a:xfrm>
            <a:off x="201168" y="640080"/>
            <a:ext cx="8741664" cy="320040"/>
          </a:xfrm>
          <a:prstGeom prst="rect">
            <a:avLst/>
          </a:prstGeom>
          <a:noFill/>
          <a:ln/>
        </p:spPr>
        <p:txBody>
          <a:bodyPr wrap="square" lIns="0" tIns="0" rIns="0" bIns="0" rtlCol="0" anchor="ctr"/>
          <a:lstStyle/>
          <a:p>
            <a:pPr marL="0" indent="0">
              <a:buNone/>
            </a:pPr>
            <a:r>
              <a:rPr lang="en-US" sz="950" dirty="0">
                <a:solidFill>
                  <a:srgbClr val="1B3A6B"/>
                </a:solidFill>
              </a:rPr>
              <a:t>SIMPLE EXPLANATION: The model reads every claim submission and assigns a fraud risk score from 0 to 100%. Trained on 590,000 historical transactions to learn what fraud looks like.</a:t>
            </a:r>
            <a:endParaRPr lang="en-US" sz="950" dirty="0"/>
          </a:p>
        </p:txBody>
      </p:sp>
      <p:sp>
        <p:nvSpPr>
          <p:cNvPr id="7" name="Shape 5"/>
          <p:cNvSpPr/>
          <p:nvPr/>
        </p:nvSpPr>
        <p:spPr>
          <a:xfrm>
            <a:off x="164592" y="1051560"/>
            <a:ext cx="1627632" cy="320040"/>
          </a:xfrm>
          <a:prstGeom prst="rect">
            <a:avLst/>
          </a:prstGeom>
          <a:solidFill>
            <a:srgbClr val="64748B"/>
          </a:solidFill>
          <a:ln/>
        </p:spPr>
        <p:txBody>
          <a:bodyPr/>
          <a:lstStyle/>
          <a:p>
            <a:endParaRPr lang="en-US"/>
          </a:p>
        </p:txBody>
      </p:sp>
      <p:sp>
        <p:nvSpPr>
          <p:cNvPr id="8" name="Text 6"/>
          <p:cNvSpPr/>
          <p:nvPr/>
        </p:nvSpPr>
        <p:spPr>
          <a:xfrm>
            <a:off x="164592" y="1051560"/>
            <a:ext cx="1627632" cy="320040"/>
          </a:xfrm>
          <a:prstGeom prst="rect">
            <a:avLst/>
          </a:prstGeom>
          <a:noFill/>
          <a:ln/>
        </p:spPr>
        <p:txBody>
          <a:bodyPr wrap="square" lIns="0" tIns="0" rIns="0" bIns="0" rtlCol="0" anchor="ctr"/>
          <a:lstStyle/>
          <a:p>
            <a:pPr marL="0" indent="0" algn="ctr">
              <a:buNone/>
            </a:pPr>
            <a:r>
              <a:rPr lang="en-US" sz="850" b="1" dirty="0">
                <a:solidFill>
                  <a:srgbClr val="FFFFFF"/>
                </a:solidFill>
              </a:rPr>
              <a:t>STEP 1</a:t>
            </a:r>
            <a:endParaRPr lang="en-US" sz="850" dirty="0"/>
          </a:p>
        </p:txBody>
      </p:sp>
      <p:sp>
        <p:nvSpPr>
          <p:cNvPr id="9" name="Shape 7"/>
          <p:cNvSpPr/>
          <p:nvPr/>
        </p:nvSpPr>
        <p:spPr>
          <a:xfrm>
            <a:off x="164592" y="1371600"/>
            <a:ext cx="1627632" cy="2194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164592" y="1371600"/>
            <a:ext cx="1627632" cy="45720"/>
          </a:xfrm>
          <a:prstGeom prst="rect">
            <a:avLst/>
          </a:prstGeom>
          <a:solidFill>
            <a:srgbClr val="64748B"/>
          </a:solidFill>
          <a:ln/>
        </p:spPr>
        <p:txBody>
          <a:bodyPr/>
          <a:lstStyle/>
          <a:p>
            <a:endParaRPr lang="en-US"/>
          </a:p>
        </p:txBody>
      </p:sp>
      <p:sp>
        <p:nvSpPr>
          <p:cNvPr id="11" name="Text 9"/>
          <p:cNvSpPr/>
          <p:nvPr/>
        </p:nvSpPr>
        <p:spPr>
          <a:xfrm>
            <a:off x="237744" y="1481328"/>
            <a:ext cx="1481328" cy="320040"/>
          </a:xfrm>
          <a:prstGeom prst="rect">
            <a:avLst/>
          </a:prstGeom>
          <a:noFill/>
          <a:ln/>
        </p:spPr>
        <p:txBody>
          <a:bodyPr wrap="square" lIns="0" tIns="0" rIns="0" bIns="0" rtlCol="0" anchor="ctr"/>
          <a:lstStyle/>
          <a:p>
            <a:pPr marL="0" indent="0">
              <a:buNone/>
            </a:pPr>
            <a:r>
              <a:rPr lang="en-US" sz="950" b="1" dirty="0">
                <a:solidFill>
                  <a:srgbClr val="64748B"/>
                </a:solidFill>
              </a:rPr>
              <a:t>Claim Submitted</a:t>
            </a:r>
            <a:endParaRPr lang="en-US" sz="950" dirty="0"/>
          </a:p>
        </p:txBody>
      </p:sp>
      <p:sp>
        <p:nvSpPr>
          <p:cNvPr id="12" name="Text 10"/>
          <p:cNvSpPr/>
          <p:nvPr/>
        </p:nvSpPr>
        <p:spPr>
          <a:xfrm>
            <a:off x="237744" y="1828800"/>
            <a:ext cx="1481328" cy="1664208"/>
          </a:xfrm>
          <a:prstGeom prst="rect">
            <a:avLst/>
          </a:prstGeom>
          <a:noFill/>
          <a:ln/>
        </p:spPr>
        <p:txBody>
          <a:bodyPr wrap="square" lIns="0" tIns="0" rIns="0" bIns="0" rtlCol="0" anchor="ctr"/>
          <a:lstStyle/>
          <a:p>
            <a:pPr marL="0" indent="0">
              <a:buNone/>
            </a:pPr>
            <a:r>
              <a:rPr lang="en-US" sz="850" dirty="0">
                <a:solidFill>
                  <a:srgbClr val="1E293B"/>
                </a:solidFill>
              </a:rPr>
              <a:t>Customer or retail partner files a claim through any channel (app, web, in-store).</a:t>
            </a:r>
            <a:endParaRPr lang="en-US" sz="850" dirty="0"/>
          </a:p>
        </p:txBody>
      </p:sp>
      <p:sp>
        <p:nvSpPr>
          <p:cNvPr id="13" name="Text 11"/>
          <p:cNvSpPr/>
          <p:nvPr/>
        </p:nvSpPr>
        <p:spPr>
          <a:xfrm>
            <a:off x="1792224" y="2011680"/>
            <a:ext cx="128016" cy="32004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14" name="Shape 12"/>
          <p:cNvSpPr/>
          <p:nvPr/>
        </p:nvSpPr>
        <p:spPr>
          <a:xfrm>
            <a:off x="1938528" y="1051560"/>
            <a:ext cx="1627632" cy="320040"/>
          </a:xfrm>
          <a:prstGeom prst="rect">
            <a:avLst/>
          </a:prstGeom>
          <a:solidFill>
            <a:srgbClr val="2563EB"/>
          </a:solidFill>
          <a:ln/>
        </p:spPr>
        <p:txBody>
          <a:bodyPr/>
          <a:lstStyle/>
          <a:p>
            <a:endParaRPr lang="en-US"/>
          </a:p>
        </p:txBody>
      </p:sp>
      <p:sp>
        <p:nvSpPr>
          <p:cNvPr id="15" name="Text 13"/>
          <p:cNvSpPr/>
          <p:nvPr/>
        </p:nvSpPr>
        <p:spPr>
          <a:xfrm>
            <a:off x="1938528" y="1051560"/>
            <a:ext cx="1627632" cy="320040"/>
          </a:xfrm>
          <a:prstGeom prst="rect">
            <a:avLst/>
          </a:prstGeom>
          <a:noFill/>
          <a:ln/>
        </p:spPr>
        <p:txBody>
          <a:bodyPr wrap="square" lIns="0" tIns="0" rIns="0" bIns="0" rtlCol="0" anchor="ctr"/>
          <a:lstStyle/>
          <a:p>
            <a:pPr marL="0" indent="0" algn="ctr">
              <a:buNone/>
            </a:pPr>
            <a:r>
              <a:rPr lang="en-US" sz="850" b="1" dirty="0">
                <a:solidFill>
                  <a:srgbClr val="FFFFFF"/>
                </a:solidFill>
              </a:rPr>
              <a:t>STEP 2</a:t>
            </a:r>
            <a:endParaRPr lang="en-US" sz="850" dirty="0"/>
          </a:p>
        </p:txBody>
      </p:sp>
      <p:sp>
        <p:nvSpPr>
          <p:cNvPr id="16" name="Shape 14"/>
          <p:cNvSpPr/>
          <p:nvPr/>
        </p:nvSpPr>
        <p:spPr>
          <a:xfrm>
            <a:off x="1938528" y="1371600"/>
            <a:ext cx="1627632" cy="2194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1938528" y="1371600"/>
            <a:ext cx="1627632" cy="45720"/>
          </a:xfrm>
          <a:prstGeom prst="rect">
            <a:avLst/>
          </a:prstGeom>
          <a:solidFill>
            <a:srgbClr val="2563EB"/>
          </a:solidFill>
          <a:ln/>
        </p:spPr>
        <p:txBody>
          <a:bodyPr/>
          <a:lstStyle/>
          <a:p>
            <a:endParaRPr lang="en-US"/>
          </a:p>
        </p:txBody>
      </p:sp>
      <p:sp>
        <p:nvSpPr>
          <p:cNvPr id="18" name="Text 16"/>
          <p:cNvSpPr/>
          <p:nvPr/>
        </p:nvSpPr>
        <p:spPr>
          <a:xfrm>
            <a:off x="2011680" y="1481328"/>
            <a:ext cx="1481328" cy="320040"/>
          </a:xfrm>
          <a:prstGeom prst="rect">
            <a:avLst/>
          </a:prstGeom>
          <a:noFill/>
          <a:ln/>
        </p:spPr>
        <p:txBody>
          <a:bodyPr wrap="square" lIns="0" tIns="0" rIns="0" bIns="0" rtlCol="0" anchor="ctr"/>
          <a:lstStyle/>
          <a:p>
            <a:pPr marL="0" indent="0">
              <a:buNone/>
            </a:pPr>
            <a:r>
              <a:rPr lang="en-US" sz="950" b="1" dirty="0">
                <a:solidFill>
                  <a:srgbClr val="2563EB"/>
                </a:solidFill>
              </a:rPr>
              <a:t>AI Reads 55 Signals</a:t>
            </a:r>
            <a:endParaRPr lang="en-US" sz="950" dirty="0"/>
          </a:p>
        </p:txBody>
      </p:sp>
      <p:sp>
        <p:nvSpPr>
          <p:cNvPr id="19" name="Text 17"/>
          <p:cNvSpPr/>
          <p:nvPr/>
        </p:nvSpPr>
        <p:spPr>
          <a:xfrm>
            <a:off x="2011680" y="1828800"/>
            <a:ext cx="1481328" cy="1664208"/>
          </a:xfrm>
          <a:prstGeom prst="rect">
            <a:avLst/>
          </a:prstGeom>
          <a:noFill/>
          <a:ln/>
        </p:spPr>
        <p:txBody>
          <a:bodyPr wrap="square" lIns="0" tIns="0" rIns="0" bIns="0" rtlCol="0" anchor="ctr"/>
          <a:lstStyle/>
          <a:p>
            <a:pPr marL="0" indent="0">
              <a:buNone/>
            </a:pPr>
            <a:r>
              <a:rPr lang="en-US" sz="850" dirty="0">
                <a:solidFill>
                  <a:srgbClr val="1E293B"/>
                </a:solidFill>
              </a:rPr>
              <a:t>Model analyses: claim amount, timing, email address, device type, partner history, behavioral patterns.</a:t>
            </a:r>
            <a:endParaRPr lang="en-US" sz="850" dirty="0"/>
          </a:p>
        </p:txBody>
      </p:sp>
      <p:sp>
        <p:nvSpPr>
          <p:cNvPr id="20" name="Text 18"/>
          <p:cNvSpPr/>
          <p:nvPr/>
        </p:nvSpPr>
        <p:spPr>
          <a:xfrm>
            <a:off x="3566160" y="2011680"/>
            <a:ext cx="128016" cy="32004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21" name="Shape 19"/>
          <p:cNvSpPr/>
          <p:nvPr/>
        </p:nvSpPr>
        <p:spPr>
          <a:xfrm>
            <a:off x="3712464" y="1051560"/>
            <a:ext cx="1627632" cy="320040"/>
          </a:xfrm>
          <a:prstGeom prst="rect">
            <a:avLst/>
          </a:prstGeom>
          <a:solidFill>
            <a:srgbClr val="1B3A6B"/>
          </a:solidFill>
          <a:ln/>
        </p:spPr>
        <p:txBody>
          <a:bodyPr/>
          <a:lstStyle/>
          <a:p>
            <a:endParaRPr lang="en-US"/>
          </a:p>
        </p:txBody>
      </p:sp>
      <p:sp>
        <p:nvSpPr>
          <p:cNvPr id="22" name="Text 20"/>
          <p:cNvSpPr/>
          <p:nvPr/>
        </p:nvSpPr>
        <p:spPr>
          <a:xfrm>
            <a:off x="3712464" y="1051560"/>
            <a:ext cx="1627632" cy="320040"/>
          </a:xfrm>
          <a:prstGeom prst="rect">
            <a:avLst/>
          </a:prstGeom>
          <a:noFill/>
          <a:ln/>
        </p:spPr>
        <p:txBody>
          <a:bodyPr wrap="square" lIns="0" tIns="0" rIns="0" bIns="0" rtlCol="0" anchor="ctr"/>
          <a:lstStyle/>
          <a:p>
            <a:pPr marL="0" indent="0" algn="ctr">
              <a:buNone/>
            </a:pPr>
            <a:r>
              <a:rPr lang="en-US" sz="850" b="1" dirty="0">
                <a:solidFill>
                  <a:srgbClr val="FFFFFF"/>
                </a:solidFill>
              </a:rPr>
              <a:t>STEP 3</a:t>
            </a:r>
            <a:endParaRPr lang="en-US" sz="850" dirty="0"/>
          </a:p>
        </p:txBody>
      </p:sp>
      <p:sp>
        <p:nvSpPr>
          <p:cNvPr id="23" name="Shape 21"/>
          <p:cNvSpPr/>
          <p:nvPr/>
        </p:nvSpPr>
        <p:spPr>
          <a:xfrm>
            <a:off x="3712464" y="1371600"/>
            <a:ext cx="1627632" cy="2194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4" name="Shape 22"/>
          <p:cNvSpPr/>
          <p:nvPr/>
        </p:nvSpPr>
        <p:spPr>
          <a:xfrm>
            <a:off x="3712464" y="1371600"/>
            <a:ext cx="1627632" cy="45720"/>
          </a:xfrm>
          <a:prstGeom prst="rect">
            <a:avLst/>
          </a:prstGeom>
          <a:solidFill>
            <a:srgbClr val="1B3A6B"/>
          </a:solidFill>
          <a:ln/>
        </p:spPr>
        <p:txBody>
          <a:bodyPr/>
          <a:lstStyle/>
          <a:p>
            <a:endParaRPr lang="en-US"/>
          </a:p>
        </p:txBody>
      </p:sp>
      <p:sp>
        <p:nvSpPr>
          <p:cNvPr id="25" name="Text 23"/>
          <p:cNvSpPr/>
          <p:nvPr/>
        </p:nvSpPr>
        <p:spPr>
          <a:xfrm>
            <a:off x="3785616" y="1481328"/>
            <a:ext cx="1481328" cy="320040"/>
          </a:xfrm>
          <a:prstGeom prst="rect">
            <a:avLst/>
          </a:prstGeom>
          <a:noFill/>
          <a:ln/>
        </p:spPr>
        <p:txBody>
          <a:bodyPr wrap="square" lIns="0" tIns="0" rIns="0" bIns="0" rtlCol="0" anchor="ctr"/>
          <a:lstStyle/>
          <a:p>
            <a:pPr marL="0" indent="0">
              <a:buNone/>
            </a:pPr>
            <a:r>
              <a:rPr lang="en-US" sz="950" b="1" dirty="0">
                <a:solidFill>
                  <a:srgbClr val="1B3A6B"/>
                </a:solidFill>
              </a:rPr>
              <a:t>Fraud Score Assigned</a:t>
            </a:r>
            <a:endParaRPr lang="en-US" sz="950" dirty="0"/>
          </a:p>
        </p:txBody>
      </p:sp>
      <p:sp>
        <p:nvSpPr>
          <p:cNvPr id="26" name="Text 24"/>
          <p:cNvSpPr/>
          <p:nvPr/>
        </p:nvSpPr>
        <p:spPr>
          <a:xfrm>
            <a:off x="3785616" y="1828800"/>
            <a:ext cx="1481328" cy="1664208"/>
          </a:xfrm>
          <a:prstGeom prst="rect">
            <a:avLst/>
          </a:prstGeom>
          <a:noFill/>
          <a:ln/>
        </p:spPr>
        <p:txBody>
          <a:bodyPr wrap="square" lIns="0" tIns="0" rIns="0" bIns="0" rtlCol="0" anchor="ctr"/>
          <a:lstStyle/>
          <a:p>
            <a:pPr marL="0" indent="0">
              <a:buNone/>
            </a:pPr>
            <a:r>
              <a:rPr lang="en-US" sz="850" dirty="0">
                <a:solidFill>
                  <a:srgbClr val="1E293B"/>
                </a:solidFill>
              </a:rPr>
              <a:t>In seconds: model outputs a probability score. 0.10 = likely legitimate. 0.92 = likely fraud.</a:t>
            </a:r>
            <a:endParaRPr lang="en-US" sz="850" dirty="0"/>
          </a:p>
        </p:txBody>
      </p:sp>
      <p:sp>
        <p:nvSpPr>
          <p:cNvPr id="27" name="Text 25"/>
          <p:cNvSpPr/>
          <p:nvPr/>
        </p:nvSpPr>
        <p:spPr>
          <a:xfrm>
            <a:off x="5340096" y="2011680"/>
            <a:ext cx="128016" cy="32004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28" name="Shape 26"/>
          <p:cNvSpPr/>
          <p:nvPr/>
        </p:nvSpPr>
        <p:spPr>
          <a:xfrm>
            <a:off x="5486400" y="1051560"/>
            <a:ext cx="1627632" cy="320040"/>
          </a:xfrm>
          <a:prstGeom prst="rect">
            <a:avLst/>
          </a:prstGeom>
          <a:solidFill>
            <a:srgbClr val="D97706"/>
          </a:solidFill>
          <a:ln/>
        </p:spPr>
        <p:txBody>
          <a:bodyPr/>
          <a:lstStyle/>
          <a:p>
            <a:endParaRPr lang="en-US"/>
          </a:p>
        </p:txBody>
      </p:sp>
      <p:sp>
        <p:nvSpPr>
          <p:cNvPr id="29" name="Text 27"/>
          <p:cNvSpPr/>
          <p:nvPr/>
        </p:nvSpPr>
        <p:spPr>
          <a:xfrm>
            <a:off x="5486400" y="1051560"/>
            <a:ext cx="1627632" cy="320040"/>
          </a:xfrm>
          <a:prstGeom prst="rect">
            <a:avLst/>
          </a:prstGeom>
          <a:noFill/>
          <a:ln/>
        </p:spPr>
        <p:txBody>
          <a:bodyPr wrap="square" lIns="0" tIns="0" rIns="0" bIns="0" rtlCol="0" anchor="ctr"/>
          <a:lstStyle/>
          <a:p>
            <a:pPr marL="0" indent="0" algn="ctr">
              <a:buNone/>
            </a:pPr>
            <a:r>
              <a:rPr lang="en-US" sz="850" b="1" dirty="0">
                <a:solidFill>
                  <a:srgbClr val="FFFFFF"/>
                </a:solidFill>
              </a:rPr>
              <a:t>STEP 4</a:t>
            </a:r>
            <a:endParaRPr lang="en-US" sz="850" dirty="0"/>
          </a:p>
        </p:txBody>
      </p:sp>
      <p:sp>
        <p:nvSpPr>
          <p:cNvPr id="30" name="Shape 28"/>
          <p:cNvSpPr/>
          <p:nvPr/>
        </p:nvSpPr>
        <p:spPr>
          <a:xfrm>
            <a:off x="5486400" y="1371600"/>
            <a:ext cx="1627632" cy="2194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1" name="Shape 29"/>
          <p:cNvSpPr/>
          <p:nvPr/>
        </p:nvSpPr>
        <p:spPr>
          <a:xfrm>
            <a:off x="5486400" y="1371600"/>
            <a:ext cx="1627632" cy="45720"/>
          </a:xfrm>
          <a:prstGeom prst="rect">
            <a:avLst/>
          </a:prstGeom>
          <a:solidFill>
            <a:srgbClr val="D97706"/>
          </a:solidFill>
          <a:ln/>
        </p:spPr>
        <p:txBody>
          <a:bodyPr/>
          <a:lstStyle/>
          <a:p>
            <a:endParaRPr lang="en-US"/>
          </a:p>
        </p:txBody>
      </p:sp>
      <p:sp>
        <p:nvSpPr>
          <p:cNvPr id="32" name="Text 30"/>
          <p:cNvSpPr/>
          <p:nvPr/>
        </p:nvSpPr>
        <p:spPr>
          <a:xfrm>
            <a:off x="5559552" y="1481328"/>
            <a:ext cx="1481328" cy="320040"/>
          </a:xfrm>
          <a:prstGeom prst="rect">
            <a:avLst/>
          </a:prstGeom>
          <a:noFill/>
          <a:ln/>
        </p:spPr>
        <p:txBody>
          <a:bodyPr wrap="square" lIns="0" tIns="0" rIns="0" bIns="0" rtlCol="0" anchor="ctr"/>
          <a:lstStyle/>
          <a:p>
            <a:pPr marL="0" indent="0">
              <a:buNone/>
            </a:pPr>
            <a:r>
              <a:rPr lang="en-US" sz="950" b="1" dirty="0">
                <a:solidFill>
                  <a:srgbClr val="D97706"/>
                </a:solidFill>
              </a:rPr>
              <a:t>Automatic Routing</a:t>
            </a:r>
            <a:endParaRPr lang="en-US" sz="950" dirty="0"/>
          </a:p>
        </p:txBody>
      </p:sp>
      <p:sp>
        <p:nvSpPr>
          <p:cNvPr id="33" name="Text 31"/>
          <p:cNvSpPr/>
          <p:nvPr/>
        </p:nvSpPr>
        <p:spPr>
          <a:xfrm>
            <a:off x="5559552" y="1828800"/>
            <a:ext cx="1481328" cy="1664208"/>
          </a:xfrm>
          <a:prstGeom prst="rect">
            <a:avLst/>
          </a:prstGeom>
          <a:noFill/>
          <a:ln/>
        </p:spPr>
        <p:txBody>
          <a:bodyPr wrap="square" lIns="0" tIns="0" rIns="0" bIns="0" rtlCol="0" anchor="ctr"/>
          <a:lstStyle/>
          <a:p>
            <a:pPr marL="0" indent="0">
              <a:buNone/>
            </a:pPr>
            <a:r>
              <a:rPr lang="en-US" sz="850" dirty="0">
                <a:solidFill>
                  <a:srgbClr val="1E293B"/>
                </a:solidFill>
              </a:rPr>
              <a:t>Score determines the next step: auto-approve, standard review, enhanced review, or escalate.</a:t>
            </a:r>
            <a:endParaRPr lang="en-US" sz="850" dirty="0"/>
          </a:p>
        </p:txBody>
      </p:sp>
      <p:sp>
        <p:nvSpPr>
          <p:cNvPr id="34" name="Text 32"/>
          <p:cNvSpPr/>
          <p:nvPr/>
        </p:nvSpPr>
        <p:spPr>
          <a:xfrm>
            <a:off x="7114032" y="2011680"/>
            <a:ext cx="128016" cy="320040"/>
          </a:xfrm>
          <a:prstGeom prst="rect">
            <a:avLst/>
          </a:prstGeom>
          <a:noFill/>
          <a:ln/>
        </p:spPr>
        <p:txBody>
          <a:bodyPr wrap="square" lIns="0" tIns="0" rIns="0" bIns="0" rtlCol="0" anchor="ctr"/>
          <a:lstStyle/>
          <a:p>
            <a:pPr marL="0" indent="0" algn="ctr">
              <a:buNone/>
            </a:pPr>
            <a:r>
              <a:rPr lang="en-US" sz="1400" dirty="0">
                <a:solidFill>
                  <a:srgbClr val="64748B"/>
                </a:solidFill>
              </a:rPr>
              <a:t>→</a:t>
            </a:r>
            <a:endParaRPr lang="en-US" sz="1400" dirty="0"/>
          </a:p>
        </p:txBody>
      </p:sp>
      <p:sp>
        <p:nvSpPr>
          <p:cNvPr id="35" name="Shape 33"/>
          <p:cNvSpPr/>
          <p:nvPr/>
        </p:nvSpPr>
        <p:spPr>
          <a:xfrm>
            <a:off x="7260336" y="1051560"/>
            <a:ext cx="1627632" cy="320040"/>
          </a:xfrm>
          <a:prstGeom prst="rect">
            <a:avLst/>
          </a:prstGeom>
          <a:solidFill>
            <a:srgbClr val="059669"/>
          </a:solidFill>
          <a:ln/>
        </p:spPr>
        <p:txBody>
          <a:bodyPr/>
          <a:lstStyle/>
          <a:p>
            <a:endParaRPr lang="en-US"/>
          </a:p>
        </p:txBody>
      </p:sp>
      <p:sp>
        <p:nvSpPr>
          <p:cNvPr id="36" name="Text 34"/>
          <p:cNvSpPr/>
          <p:nvPr/>
        </p:nvSpPr>
        <p:spPr>
          <a:xfrm>
            <a:off x="7260336" y="1051560"/>
            <a:ext cx="1627632" cy="320040"/>
          </a:xfrm>
          <a:prstGeom prst="rect">
            <a:avLst/>
          </a:prstGeom>
          <a:noFill/>
          <a:ln/>
        </p:spPr>
        <p:txBody>
          <a:bodyPr wrap="square" lIns="0" tIns="0" rIns="0" bIns="0" rtlCol="0" anchor="ctr"/>
          <a:lstStyle/>
          <a:p>
            <a:pPr marL="0" indent="0" algn="ctr">
              <a:buNone/>
            </a:pPr>
            <a:r>
              <a:rPr lang="en-US" sz="850" b="1" dirty="0">
                <a:solidFill>
                  <a:srgbClr val="FFFFFF"/>
                </a:solidFill>
              </a:rPr>
              <a:t>STEP 5</a:t>
            </a:r>
            <a:endParaRPr lang="en-US" sz="850" dirty="0"/>
          </a:p>
        </p:txBody>
      </p:sp>
      <p:sp>
        <p:nvSpPr>
          <p:cNvPr id="37" name="Shape 35"/>
          <p:cNvSpPr/>
          <p:nvPr/>
        </p:nvSpPr>
        <p:spPr>
          <a:xfrm>
            <a:off x="7260336" y="1371600"/>
            <a:ext cx="1627632" cy="219456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8" name="Shape 36"/>
          <p:cNvSpPr/>
          <p:nvPr/>
        </p:nvSpPr>
        <p:spPr>
          <a:xfrm>
            <a:off x="7260336" y="1371600"/>
            <a:ext cx="1627632" cy="45720"/>
          </a:xfrm>
          <a:prstGeom prst="rect">
            <a:avLst/>
          </a:prstGeom>
          <a:solidFill>
            <a:srgbClr val="059669"/>
          </a:solidFill>
          <a:ln/>
        </p:spPr>
        <p:txBody>
          <a:bodyPr/>
          <a:lstStyle/>
          <a:p>
            <a:endParaRPr lang="en-US"/>
          </a:p>
        </p:txBody>
      </p:sp>
      <p:sp>
        <p:nvSpPr>
          <p:cNvPr id="39" name="Text 37"/>
          <p:cNvSpPr/>
          <p:nvPr/>
        </p:nvSpPr>
        <p:spPr>
          <a:xfrm>
            <a:off x="7333488" y="1481328"/>
            <a:ext cx="1481328" cy="320040"/>
          </a:xfrm>
          <a:prstGeom prst="rect">
            <a:avLst/>
          </a:prstGeom>
          <a:noFill/>
          <a:ln/>
        </p:spPr>
        <p:txBody>
          <a:bodyPr wrap="square" lIns="0" tIns="0" rIns="0" bIns="0" rtlCol="0" anchor="ctr"/>
          <a:lstStyle/>
          <a:p>
            <a:pPr marL="0" indent="0">
              <a:buNone/>
            </a:pPr>
            <a:r>
              <a:rPr lang="en-US" sz="950" b="1" dirty="0">
                <a:solidFill>
                  <a:srgbClr val="059669"/>
                </a:solidFill>
              </a:rPr>
              <a:t>Human Decision</a:t>
            </a:r>
            <a:endParaRPr lang="en-US" sz="950" dirty="0"/>
          </a:p>
        </p:txBody>
      </p:sp>
      <p:sp>
        <p:nvSpPr>
          <p:cNvPr id="40" name="Text 38"/>
          <p:cNvSpPr/>
          <p:nvPr/>
        </p:nvSpPr>
        <p:spPr>
          <a:xfrm>
            <a:off x="7333488" y="1828800"/>
            <a:ext cx="1481328" cy="1664208"/>
          </a:xfrm>
          <a:prstGeom prst="rect">
            <a:avLst/>
          </a:prstGeom>
          <a:noFill/>
          <a:ln/>
        </p:spPr>
        <p:txBody>
          <a:bodyPr wrap="square" lIns="0" tIns="0" rIns="0" bIns="0" rtlCol="0" anchor="ctr"/>
          <a:lstStyle/>
          <a:p>
            <a:pPr marL="0" indent="0">
              <a:buNone/>
            </a:pPr>
            <a:r>
              <a:rPr lang="en-US" sz="850" dirty="0">
                <a:solidFill>
                  <a:srgbClr val="1E293B"/>
                </a:solidFill>
              </a:rPr>
              <a:t>All enhanced-review and escalated claims reviewed by a human adjuster. AI never auto-denies.</a:t>
            </a:r>
            <a:endParaRPr lang="en-US" sz="850" dirty="0"/>
          </a:p>
        </p:txBody>
      </p:sp>
      <p:sp>
        <p:nvSpPr>
          <p:cNvPr id="41" name="Text 39"/>
          <p:cNvSpPr/>
          <p:nvPr/>
        </p:nvSpPr>
        <p:spPr>
          <a:xfrm>
            <a:off x="201168" y="3657600"/>
            <a:ext cx="8686800" cy="256032"/>
          </a:xfrm>
          <a:prstGeom prst="rect">
            <a:avLst/>
          </a:prstGeom>
          <a:noFill/>
          <a:ln/>
        </p:spPr>
        <p:txBody>
          <a:bodyPr wrap="square" lIns="0" tIns="0" rIns="0" bIns="0" rtlCol="0" anchor="ctr"/>
          <a:lstStyle/>
          <a:p>
            <a:pPr marL="0" indent="0">
              <a:buNone/>
            </a:pPr>
            <a:r>
              <a:rPr lang="en-US" sz="900" b="1" kern="0" spc="100" dirty="0">
                <a:solidFill>
                  <a:srgbClr val="1B3A6B"/>
                </a:solidFill>
              </a:rPr>
              <a:t>THE 5 MOST IMPORTANT FRAUD SIGNALS (IN PLAIN LANGUAGE)</a:t>
            </a:r>
            <a:endParaRPr lang="en-US" sz="900" dirty="0"/>
          </a:p>
        </p:txBody>
      </p:sp>
      <p:sp>
        <p:nvSpPr>
          <p:cNvPr id="42" name="Shape 40"/>
          <p:cNvSpPr/>
          <p:nvPr/>
        </p:nvSpPr>
        <p:spPr>
          <a:xfrm>
            <a:off x="201168" y="3977640"/>
            <a:ext cx="1600200" cy="960120"/>
          </a:xfrm>
          <a:prstGeom prst="rect">
            <a:avLst/>
          </a:prstGeom>
          <a:solidFill>
            <a:srgbClr val="EFF6FF"/>
          </a:solidFill>
          <a:ln/>
          <a:effectLst>
            <a:outerShdw blurRad="101600" dist="38100" dir="8100000" algn="bl" rotWithShape="0">
              <a:srgbClr val="000000">
                <a:alpha val="10000"/>
              </a:srgbClr>
            </a:outerShdw>
          </a:effectLst>
        </p:spPr>
        <p:txBody>
          <a:bodyPr/>
          <a:lstStyle/>
          <a:p>
            <a:endParaRPr lang="en-US"/>
          </a:p>
        </p:txBody>
      </p:sp>
      <p:sp>
        <p:nvSpPr>
          <p:cNvPr id="43" name="Shape 41"/>
          <p:cNvSpPr/>
          <p:nvPr/>
        </p:nvSpPr>
        <p:spPr>
          <a:xfrm>
            <a:off x="201168" y="3977640"/>
            <a:ext cx="54864" cy="960120"/>
          </a:xfrm>
          <a:prstGeom prst="rect">
            <a:avLst/>
          </a:prstGeom>
          <a:solidFill>
            <a:srgbClr val="DC2626"/>
          </a:solidFill>
          <a:ln/>
        </p:spPr>
        <p:txBody>
          <a:bodyPr/>
          <a:lstStyle/>
          <a:p>
            <a:endParaRPr lang="en-US"/>
          </a:p>
        </p:txBody>
      </p:sp>
      <p:sp>
        <p:nvSpPr>
          <p:cNvPr id="44" name="Text 42"/>
          <p:cNvSpPr/>
          <p:nvPr/>
        </p:nvSpPr>
        <p:spPr>
          <a:xfrm>
            <a:off x="310896" y="4041648"/>
            <a:ext cx="1426464" cy="256032"/>
          </a:xfrm>
          <a:prstGeom prst="rect">
            <a:avLst/>
          </a:prstGeom>
          <a:noFill/>
          <a:ln/>
        </p:spPr>
        <p:txBody>
          <a:bodyPr wrap="square" lIns="0" tIns="0" rIns="0" bIns="0" rtlCol="0" anchor="ctr"/>
          <a:lstStyle/>
          <a:p>
            <a:pPr marL="0" indent="0">
              <a:buNone/>
            </a:pPr>
            <a:r>
              <a:rPr lang="en-US" sz="950" b="1" dirty="0">
                <a:solidFill>
                  <a:srgbClr val="DC2626"/>
                </a:solidFill>
              </a:rPr>
              <a:t>1. Timing</a:t>
            </a:r>
            <a:endParaRPr lang="en-US" sz="950" dirty="0"/>
          </a:p>
        </p:txBody>
      </p:sp>
      <p:sp>
        <p:nvSpPr>
          <p:cNvPr id="45" name="Text 43"/>
          <p:cNvSpPr/>
          <p:nvPr/>
        </p:nvSpPr>
        <p:spPr>
          <a:xfrm>
            <a:off x="310896" y="4343400"/>
            <a:ext cx="1426464" cy="502920"/>
          </a:xfrm>
          <a:prstGeom prst="rect">
            <a:avLst/>
          </a:prstGeom>
          <a:noFill/>
          <a:ln/>
        </p:spPr>
        <p:txBody>
          <a:bodyPr wrap="square" lIns="0" tIns="0" rIns="0" bIns="0" rtlCol="0" anchor="ctr"/>
          <a:lstStyle/>
          <a:p>
            <a:pPr marL="0" indent="0">
              <a:buNone/>
            </a:pPr>
            <a:r>
              <a:rPr lang="en-US" sz="850" dirty="0">
                <a:solidFill>
                  <a:srgbClr val="1E293B"/>
                </a:solidFill>
              </a:rPr>
              <a:t>Was this claim filed in the first 14 days?</a:t>
            </a:r>
            <a:endParaRPr lang="en-US" sz="850" dirty="0"/>
          </a:p>
        </p:txBody>
      </p:sp>
      <p:sp>
        <p:nvSpPr>
          <p:cNvPr id="46" name="Shape 44"/>
          <p:cNvSpPr/>
          <p:nvPr/>
        </p:nvSpPr>
        <p:spPr>
          <a:xfrm>
            <a:off x="1956816" y="3977640"/>
            <a:ext cx="1600200" cy="960120"/>
          </a:xfrm>
          <a:prstGeom prst="rect">
            <a:avLst/>
          </a:prstGeom>
          <a:solidFill>
            <a:srgbClr val="EFF6FF"/>
          </a:solidFill>
          <a:ln/>
          <a:effectLst>
            <a:outerShdw blurRad="101600" dist="38100" dir="8100000" algn="bl" rotWithShape="0">
              <a:srgbClr val="000000">
                <a:alpha val="10000"/>
              </a:srgbClr>
            </a:outerShdw>
          </a:effectLst>
        </p:spPr>
        <p:txBody>
          <a:bodyPr/>
          <a:lstStyle/>
          <a:p>
            <a:endParaRPr lang="en-US"/>
          </a:p>
        </p:txBody>
      </p:sp>
      <p:sp>
        <p:nvSpPr>
          <p:cNvPr id="47" name="Shape 45"/>
          <p:cNvSpPr/>
          <p:nvPr/>
        </p:nvSpPr>
        <p:spPr>
          <a:xfrm>
            <a:off x="1956816" y="3977640"/>
            <a:ext cx="54864" cy="960120"/>
          </a:xfrm>
          <a:prstGeom prst="rect">
            <a:avLst/>
          </a:prstGeom>
          <a:solidFill>
            <a:srgbClr val="D97706"/>
          </a:solidFill>
          <a:ln/>
        </p:spPr>
        <p:txBody>
          <a:bodyPr/>
          <a:lstStyle/>
          <a:p>
            <a:endParaRPr lang="en-US"/>
          </a:p>
        </p:txBody>
      </p:sp>
      <p:sp>
        <p:nvSpPr>
          <p:cNvPr id="48" name="Text 46"/>
          <p:cNvSpPr/>
          <p:nvPr/>
        </p:nvSpPr>
        <p:spPr>
          <a:xfrm>
            <a:off x="2066544" y="4041648"/>
            <a:ext cx="1426464" cy="256032"/>
          </a:xfrm>
          <a:prstGeom prst="rect">
            <a:avLst/>
          </a:prstGeom>
          <a:noFill/>
          <a:ln/>
        </p:spPr>
        <p:txBody>
          <a:bodyPr wrap="square" lIns="0" tIns="0" rIns="0" bIns="0" rtlCol="0" anchor="ctr"/>
          <a:lstStyle/>
          <a:p>
            <a:pPr marL="0" indent="0">
              <a:buNone/>
            </a:pPr>
            <a:r>
              <a:rPr lang="en-US" sz="950" b="1" dirty="0">
                <a:solidFill>
                  <a:srgbClr val="D97706"/>
                </a:solidFill>
              </a:rPr>
              <a:t>2. Amount</a:t>
            </a:r>
            <a:endParaRPr lang="en-US" sz="950" dirty="0"/>
          </a:p>
        </p:txBody>
      </p:sp>
      <p:sp>
        <p:nvSpPr>
          <p:cNvPr id="49" name="Text 47"/>
          <p:cNvSpPr/>
          <p:nvPr/>
        </p:nvSpPr>
        <p:spPr>
          <a:xfrm>
            <a:off x="2066544" y="4343400"/>
            <a:ext cx="1426464" cy="502920"/>
          </a:xfrm>
          <a:prstGeom prst="rect">
            <a:avLst/>
          </a:prstGeom>
          <a:noFill/>
          <a:ln/>
        </p:spPr>
        <p:txBody>
          <a:bodyPr wrap="square" lIns="0" tIns="0" rIns="0" bIns="0" rtlCol="0" anchor="ctr"/>
          <a:lstStyle/>
          <a:p>
            <a:pPr marL="0" indent="0">
              <a:buNone/>
            </a:pPr>
            <a:r>
              <a:rPr lang="en-US" sz="850" dirty="0">
                <a:solidFill>
                  <a:srgbClr val="1E293B"/>
                </a:solidFill>
              </a:rPr>
              <a:t>Is the payout near the device's full value?</a:t>
            </a:r>
            <a:endParaRPr lang="en-US" sz="850" dirty="0"/>
          </a:p>
        </p:txBody>
      </p:sp>
      <p:sp>
        <p:nvSpPr>
          <p:cNvPr id="50" name="Shape 48"/>
          <p:cNvSpPr/>
          <p:nvPr/>
        </p:nvSpPr>
        <p:spPr>
          <a:xfrm>
            <a:off x="3712464" y="3977640"/>
            <a:ext cx="1600200" cy="960120"/>
          </a:xfrm>
          <a:prstGeom prst="rect">
            <a:avLst/>
          </a:prstGeom>
          <a:solidFill>
            <a:srgbClr val="EFF6FF"/>
          </a:solidFill>
          <a:ln/>
          <a:effectLst>
            <a:outerShdw blurRad="101600" dist="38100" dir="8100000" algn="bl" rotWithShape="0">
              <a:srgbClr val="000000">
                <a:alpha val="10000"/>
              </a:srgbClr>
            </a:outerShdw>
          </a:effectLst>
        </p:spPr>
        <p:txBody>
          <a:bodyPr/>
          <a:lstStyle/>
          <a:p>
            <a:endParaRPr lang="en-US"/>
          </a:p>
        </p:txBody>
      </p:sp>
      <p:sp>
        <p:nvSpPr>
          <p:cNvPr id="51" name="Shape 49"/>
          <p:cNvSpPr/>
          <p:nvPr/>
        </p:nvSpPr>
        <p:spPr>
          <a:xfrm>
            <a:off x="3712464" y="3977640"/>
            <a:ext cx="54864" cy="960120"/>
          </a:xfrm>
          <a:prstGeom prst="rect">
            <a:avLst/>
          </a:prstGeom>
          <a:solidFill>
            <a:srgbClr val="2563EB"/>
          </a:solidFill>
          <a:ln/>
        </p:spPr>
        <p:txBody>
          <a:bodyPr/>
          <a:lstStyle/>
          <a:p>
            <a:endParaRPr lang="en-US"/>
          </a:p>
        </p:txBody>
      </p:sp>
      <p:sp>
        <p:nvSpPr>
          <p:cNvPr id="52" name="Text 50"/>
          <p:cNvSpPr/>
          <p:nvPr/>
        </p:nvSpPr>
        <p:spPr>
          <a:xfrm>
            <a:off x="3822192" y="4041648"/>
            <a:ext cx="1426464" cy="256032"/>
          </a:xfrm>
          <a:prstGeom prst="rect">
            <a:avLst/>
          </a:prstGeom>
          <a:noFill/>
          <a:ln/>
        </p:spPr>
        <p:txBody>
          <a:bodyPr wrap="square" lIns="0" tIns="0" rIns="0" bIns="0" rtlCol="0" anchor="ctr"/>
          <a:lstStyle/>
          <a:p>
            <a:pPr marL="0" indent="0">
              <a:buNone/>
            </a:pPr>
            <a:r>
              <a:rPr lang="en-US" sz="950" b="1" dirty="0">
                <a:solidFill>
                  <a:srgbClr val="2563EB"/>
                </a:solidFill>
              </a:rPr>
              <a:t>3. Device fingerprint</a:t>
            </a:r>
            <a:endParaRPr lang="en-US" sz="950" dirty="0"/>
          </a:p>
        </p:txBody>
      </p:sp>
      <p:sp>
        <p:nvSpPr>
          <p:cNvPr id="53" name="Text 51"/>
          <p:cNvSpPr/>
          <p:nvPr/>
        </p:nvSpPr>
        <p:spPr>
          <a:xfrm>
            <a:off x="3822192" y="4343400"/>
            <a:ext cx="1426464" cy="502920"/>
          </a:xfrm>
          <a:prstGeom prst="rect">
            <a:avLst/>
          </a:prstGeom>
          <a:noFill/>
          <a:ln/>
        </p:spPr>
        <p:txBody>
          <a:bodyPr wrap="square" lIns="0" tIns="0" rIns="0" bIns="0" rtlCol="0" anchor="ctr"/>
          <a:lstStyle/>
          <a:p>
            <a:pPr marL="0" indent="0">
              <a:buNone/>
            </a:pPr>
            <a:r>
              <a:rPr lang="en-US" sz="850" dirty="0">
                <a:solidFill>
                  <a:srgbClr val="1E293B"/>
                </a:solidFill>
              </a:rPr>
              <a:t>Was this submitted from a real, registered device?</a:t>
            </a:r>
            <a:endParaRPr lang="en-US" sz="850" dirty="0"/>
          </a:p>
        </p:txBody>
      </p:sp>
      <p:sp>
        <p:nvSpPr>
          <p:cNvPr id="54" name="Shape 52"/>
          <p:cNvSpPr/>
          <p:nvPr/>
        </p:nvSpPr>
        <p:spPr>
          <a:xfrm>
            <a:off x="5468112" y="3977640"/>
            <a:ext cx="1600200" cy="960120"/>
          </a:xfrm>
          <a:prstGeom prst="rect">
            <a:avLst/>
          </a:prstGeom>
          <a:solidFill>
            <a:srgbClr val="EFF6FF"/>
          </a:solidFill>
          <a:ln/>
          <a:effectLst>
            <a:outerShdw blurRad="101600" dist="38100" dir="8100000" algn="bl" rotWithShape="0">
              <a:srgbClr val="000000">
                <a:alpha val="10000"/>
              </a:srgbClr>
            </a:outerShdw>
          </a:effectLst>
        </p:spPr>
        <p:txBody>
          <a:bodyPr/>
          <a:lstStyle/>
          <a:p>
            <a:endParaRPr lang="en-US"/>
          </a:p>
        </p:txBody>
      </p:sp>
      <p:sp>
        <p:nvSpPr>
          <p:cNvPr id="55" name="Shape 53"/>
          <p:cNvSpPr/>
          <p:nvPr/>
        </p:nvSpPr>
        <p:spPr>
          <a:xfrm>
            <a:off x="5468112" y="3977640"/>
            <a:ext cx="54864" cy="960120"/>
          </a:xfrm>
          <a:prstGeom prst="rect">
            <a:avLst/>
          </a:prstGeom>
          <a:solidFill>
            <a:srgbClr val="1B3A6B"/>
          </a:solidFill>
          <a:ln/>
        </p:spPr>
        <p:txBody>
          <a:bodyPr/>
          <a:lstStyle/>
          <a:p>
            <a:endParaRPr lang="en-US"/>
          </a:p>
        </p:txBody>
      </p:sp>
      <p:sp>
        <p:nvSpPr>
          <p:cNvPr id="56" name="Text 54"/>
          <p:cNvSpPr/>
          <p:nvPr/>
        </p:nvSpPr>
        <p:spPr>
          <a:xfrm>
            <a:off x="5577840" y="4041648"/>
            <a:ext cx="1426464" cy="256032"/>
          </a:xfrm>
          <a:prstGeom prst="rect">
            <a:avLst/>
          </a:prstGeom>
          <a:noFill/>
          <a:ln/>
        </p:spPr>
        <p:txBody>
          <a:bodyPr wrap="square" lIns="0" tIns="0" rIns="0" bIns="0" rtlCol="0" anchor="ctr"/>
          <a:lstStyle/>
          <a:p>
            <a:pPr marL="0" indent="0">
              <a:buNone/>
            </a:pPr>
            <a:r>
              <a:rPr lang="en-US" sz="950" b="1" dirty="0">
                <a:solidFill>
                  <a:srgbClr val="1B3A6B"/>
                </a:solidFill>
              </a:rPr>
              <a:t>4. Partner history</a:t>
            </a:r>
            <a:endParaRPr lang="en-US" sz="950" dirty="0"/>
          </a:p>
        </p:txBody>
      </p:sp>
      <p:sp>
        <p:nvSpPr>
          <p:cNvPr id="57" name="Text 55"/>
          <p:cNvSpPr/>
          <p:nvPr/>
        </p:nvSpPr>
        <p:spPr>
          <a:xfrm>
            <a:off x="5577840" y="4343400"/>
            <a:ext cx="1426464" cy="502920"/>
          </a:xfrm>
          <a:prstGeom prst="rect">
            <a:avLst/>
          </a:prstGeom>
          <a:noFill/>
          <a:ln/>
        </p:spPr>
        <p:txBody>
          <a:bodyPr wrap="square" lIns="0" tIns="0" rIns="0" bIns="0" rtlCol="0" anchor="ctr"/>
          <a:lstStyle/>
          <a:p>
            <a:pPr marL="0" indent="0">
              <a:buNone/>
            </a:pPr>
            <a:r>
              <a:rPr lang="en-US" sz="850" dirty="0">
                <a:solidFill>
                  <a:srgbClr val="1E293B"/>
                </a:solidFill>
              </a:rPr>
              <a:t>Does this retail partner have a high fraud rate?</a:t>
            </a:r>
            <a:endParaRPr lang="en-US" sz="850" dirty="0"/>
          </a:p>
        </p:txBody>
      </p:sp>
      <p:sp>
        <p:nvSpPr>
          <p:cNvPr id="58" name="Shape 56"/>
          <p:cNvSpPr/>
          <p:nvPr/>
        </p:nvSpPr>
        <p:spPr>
          <a:xfrm>
            <a:off x="7223760" y="3977640"/>
            <a:ext cx="1600200" cy="960120"/>
          </a:xfrm>
          <a:prstGeom prst="rect">
            <a:avLst/>
          </a:prstGeom>
          <a:solidFill>
            <a:srgbClr val="EFF6FF"/>
          </a:solidFill>
          <a:ln/>
          <a:effectLst>
            <a:outerShdw blurRad="101600" dist="38100" dir="8100000" algn="bl" rotWithShape="0">
              <a:srgbClr val="000000">
                <a:alpha val="10000"/>
              </a:srgbClr>
            </a:outerShdw>
          </a:effectLst>
        </p:spPr>
        <p:txBody>
          <a:bodyPr/>
          <a:lstStyle/>
          <a:p>
            <a:endParaRPr lang="en-US"/>
          </a:p>
        </p:txBody>
      </p:sp>
      <p:sp>
        <p:nvSpPr>
          <p:cNvPr id="59" name="Shape 57"/>
          <p:cNvSpPr/>
          <p:nvPr/>
        </p:nvSpPr>
        <p:spPr>
          <a:xfrm>
            <a:off x="7223760" y="3977640"/>
            <a:ext cx="54864" cy="960120"/>
          </a:xfrm>
          <a:prstGeom prst="rect">
            <a:avLst/>
          </a:prstGeom>
          <a:solidFill>
            <a:srgbClr val="7C3AED"/>
          </a:solidFill>
          <a:ln/>
        </p:spPr>
        <p:txBody>
          <a:bodyPr/>
          <a:lstStyle/>
          <a:p>
            <a:endParaRPr lang="en-US"/>
          </a:p>
        </p:txBody>
      </p:sp>
      <p:sp>
        <p:nvSpPr>
          <p:cNvPr id="60" name="Text 58"/>
          <p:cNvSpPr/>
          <p:nvPr/>
        </p:nvSpPr>
        <p:spPr>
          <a:xfrm>
            <a:off x="7333488" y="4041648"/>
            <a:ext cx="1426464" cy="256032"/>
          </a:xfrm>
          <a:prstGeom prst="rect">
            <a:avLst/>
          </a:prstGeom>
          <a:noFill/>
          <a:ln/>
        </p:spPr>
        <p:txBody>
          <a:bodyPr wrap="square" lIns="0" tIns="0" rIns="0" bIns="0" rtlCol="0" anchor="ctr"/>
          <a:lstStyle/>
          <a:p>
            <a:pPr marL="0" indent="0">
              <a:buNone/>
            </a:pPr>
            <a:r>
              <a:rPr lang="en-US" sz="950" b="1" dirty="0">
                <a:solidFill>
                  <a:srgbClr val="7C3AED"/>
                </a:solidFill>
              </a:rPr>
              <a:t>5. Identity match</a:t>
            </a:r>
            <a:endParaRPr lang="en-US" sz="950" dirty="0"/>
          </a:p>
        </p:txBody>
      </p:sp>
      <p:sp>
        <p:nvSpPr>
          <p:cNvPr id="61" name="Text 59"/>
          <p:cNvSpPr/>
          <p:nvPr/>
        </p:nvSpPr>
        <p:spPr>
          <a:xfrm>
            <a:off x="7333488" y="4343400"/>
            <a:ext cx="1426464" cy="502920"/>
          </a:xfrm>
          <a:prstGeom prst="rect">
            <a:avLst/>
          </a:prstGeom>
          <a:noFill/>
          <a:ln/>
        </p:spPr>
        <p:txBody>
          <a:bodyPr wrap="square" lIns="0" tIns="0" rIns="0" bIns="0" rtlCol="0" anchor="ctr"/>
          <a:lstStyle/>
          <a:p>
            <a:pPr marL="0" indent="0">
              <a:buNone/>
            </a:pPr>
            <a:r>
              <a:rPr lang="en-US" sz="850" dirty="0">
                <a:solidFill>
                  <a:srgbClr val="1E293B"/>
                </a:solidFill>
              </a:rPr>
              <a:t>Do the customer's details all match each other?</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p:spPr>
        <p:txBody>
          <a:bodyPr/>
          <a:lstStyle/>
          <a:p>
            <a:endParaRPr lang="en-US"/>
          </a:p>
        </p:txBody>
      </p:sp>
      <p:sp>
        <p:nvSpPr>
          <p:cNvPr id="3" name="Shape 1"/>
          <p:cNvSpPr/>
          <p:nvPr/>
        </p:nvSpPr>
        <p:spPr>
          <a:xfrm>
            <a:off x="0" y="512064"/>
            <a:ext cx="9144000" cy="54864"/>
          </a:xfrm>
          <a:prstGeom prst="rect">
            <a:avLst/>
          </a:prstGeom>
          <a:solidFill>
            <a:srgbClr val="2563EB"/>
          </a:solidFill>
          <a:ln/>
        </p:spPr>
        <p:txBody>
          <a:bodyPr/>
          <a:lstStyle/>
          <a:p>
            <a:endParaRPr lang="en-US"/>
          </a:p>
        </p:txBody>
      </p:sp>
      <p:sp>
        <p:nvSpPr>
          <p:cNvPr id="4" name="Text 2"/>
          <p:cNvSpPr/>
          <p:nvPr/>
        </p:nvSpPr>
        <p:spPr>
          <a:xfrm>
            <a:off x="320040" y="54864"/>
            <a:ext cx="8321040" cy="438912"/>
          </a:xfrm>
          <a:prstGeom prst="rect">
            <a:avLst/>
          </a:prstGeom>
          <a:noFill/>
          <a:ln/>
        </p:spPr>
        <p:txBody>
          <a:bodyPr wrap="square" lIns="0" tIns="0" rIns="0" bIns="0" rtlCol="0" anchor="ctr"/>
          <a:lstStyle/>
          <a:p>
            <a:pPr marL="0" indent="0">
              <a:buNone/>
            </a:pPr>
            <a:r>
              <a:rPr lang="en-US" sz="1600" b="1" dirty="0">
                <a:solidFill>
                  <a:srgbClr val="FFFFFF"/>
                </a:solidFill>
              </a:rPr>
              <a:t>What the Model Found, Actionable Business Insights</a:t>
            </a:r>
            <a:endParaRPr lang="en-US" sz="1600" dirty="0"/>
          </a:p>
        </p:txBody>
      </p:sp>
      <p:sp>
        <p:nvSpPr>
          <p:cNvPr id="5" name="Text 3"/>
          <p:cNvSpPr/>
          <p:nvPr/>
        </p:nvSpPr>
        <p:spPr>
          <a:xfrm>
            <a:off x="320040" y="4919472"/>
            <a:ext cx="8503920" cy="201168"/>
          </a:xfrm>
          <a:prstGeom prst="rect">
            <a:avLst/>
          </a:prstGeom>
          <a:noFill/>
          <a:ln/>
        </p:spPr>
        <p:txBody>
          <a:bodyPr wrap="square" lIns="0" tIns="0" rIns="0" bIns="0" rtlCol="0" anchor="ctr"/>
          <a:lstStyle/>
          <a:p>
            <a:pPr marL="0" indent="0" algn="r">
              <a:buNone/>
            </a:pPr>
            <a:r>
              <a:rPr lang="en-US" sz="750" dirty="0">
                <a:solidFill>
                  <a:srgbClr val="64748B"/>
                </a:solidFill>
              </a:rPr>
              <a:t>ProTech Devices Asia  |  Confidential</a:t>
            </a:r>
            <a:endParaRPr lang="en-US" sz="750" dirty="0"/>
          </a:p>
        </p:txBody>
      </p:sp>
      <p:sp>
        <p:nvSpPr>
          <p:cNvPr id="6" name="Text 4"/>
          <p:cNvSpPr/>
          <p:nvPr/>
        </p:nvSpPr>
        <p:spPr>
          <a:xfrm>
            <a:off x="201168" y="621792"/>
            <a:ext cx="8741664" cy="256032"/>
          </a:xfrm>
          <a:prstGeom prst="rect">
            <a:avLst/>
          </a:prstGeom>
          <a:noFill/>
          <a:ln/>
        </p:spPr>
        <p:txBody>
          <a:bodyPr wrap="square" lIns="0" tIns="0" rIns="0" bIns="0" rtlCol="0" anchor="ctr"/>
          <a:lstStyle/>
          <a:p>
            <a:pPr marL="0" indent="0">
              <a:buNone/>
            </a:pPr>
            <a:r>
              <a:rPr lang="en-US" sz="950" dirty="0">
                <a:solidFill>
                  <a:srgbClr val="1B3A6B"/>
                </a:solidFill>
              </a:rPr>
              <a:t>These are not just model outputs. These are operational signals our claims and channel teams can act on today.</a:t>
            </a:r>
            <a:endParaRPr lang="en-US" sz="950" dirty="0"/>
          </a:p>
        </p:txBody>
      </p:sp>
      <p:sp>
        <p:nvSpPr>
          <p:cNvPr id="7" name="Shape 5"/>
          <p:cNvSpPr/>
          <p:nvPr/>
        </p:nvSpPr>
        <p:spPr>
          <a:xfrm>
            <a:off x="201168" y="932688"/>
            <a:ext cx="8741664" cy="1280160"/>
          </a:xfrm>
          <a:prstGeom prst="rect">
            <a:avLst/>
          </a:prstGeom>
          <a:solidFill>
            <a:srgbClr val="FEE2E2"/>
          </a:solidFill>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201168" y="932688"/>
            <a:ext cx="73152" cy="1280160"/>
          </a:xfrm>
          <a:prstGeom prst="rect">
            <a:avLst/>
          </a:prstGeom>
          <a:solidFill>
            <a:srgbClr val="DC2626"/>
          </a:solidFill>
          <a:ln/>
        </p:spPr>
        <p:txBody>
          <a:bodyPr/>
          <a:lstStyle/>
          <a:p>
            <a:endParaRPr lang="en-US"/>
          </a:p>
        </p:txBody>
      </p:sp>
      <p:sp>
        <p:nvSpPr>
          <p:cNvPr id="9" name="Shape 7"/>
          <p:cNvSpPr/>
          <p:nvPr/>
        </p:nvSpPr>
        <p:spPr>
          <a:xfrm>
            <a:off x="320040" y="1005840"/>
            <a:ext cx="1097280" cy="1115568"/>
          </a:xfrm>
          <a:prstGeom prst="rect">
            <a:avLst/>
          </a:prstGeom>
          <a:solidFill>
            <a:srgbClr val="FFFFFF"/>
          </a:solidFill>
          <a:ln/>
        </p:spPr>
        <p:txBody>
          <a:bodyPr/>
          <a:lstStyle/>
          <a:p>
            <a:endParaRPr lang="en-US"/>
          </a:p>
        </p:txBody>
      </p:sp>
      <p:sp>
        <p:nvSpPr>
          <p:cNvPr id="10" name="Text 8"/>
          <p:cNvSpPr/>
          <p:nvPr/>
        </p:nvSpPr>
        <p:spPr>
          <a:xfrm>
            <a:off x="320040" y="1024128"/>
            <a:ext cx="1097280" cy="640080"/>
          </a:xfrm>
          <a:prstGeom prst="rect">
            <a:avLst/>
          </a:prstGeom>
          <a:noFill/>
          <a:ln/>
        </p:spPr>
        <p:txBody>
          <a:bodyPr wrap="square" lIns="0" tIns="0" rIns="0" bIns="0" rtlCol="0" anchor="ctr"/>
          <a:lstStyle/>
          <a:p>
            <a:pPr marL="0" indent="0" algn="ctr">
              <a:buNone/>
            </a:pPr>
            <a:r>
              <a:rPr lang="en-US" sz="2800" b="1" dirty="0">
                <a:solidFill>
                  <a:srgbClr val="DC2626"/>
                </a:solidFill>
              </a:rPr>
              <a:t>4×</a:t>
            </a:r>
            <a:endParaRPr lang="en-US" sz="2800" dirty="0"/>
          </a:p>
        </p:txBody>
      </p:sp>
      <p:sp>
        <p:nvSpPr>
          <p:cNvPr id="11" name="Text 9"/>
          <p:cNvSpPr/>
          <p:nvPr/>
        </p:nvSpPr>
        <p:spPr>
          <a:xfrm>
            <a:off x="320040" y="1682496"/>
            <a:ext cx="1097280" cy="384048"/>
          </a:xfrm>
          <a:prstGeom prst="rect">
            <a:avLst/>
          </a:prstGeom>
          <a:noFill/>
          <a:ln/>
        </p:spPr>
        <p:txBody>
          <a:bodyPr wrap="square" lIns="25400" tIns="25400" rIns="25400" bIns="25400" rtlCol="0" anchor="ctr"/>
          <a:lstStyle/>
          <a:p>
            <a:pPr marL="0" indent="0" algn="ctr">
              <a:buNone/>
            </a:pPr>
            <a:r>
              <a:rPr lang="en-US" sz="700" dirty="0">
                <a:solidFill>
                  <a:srgbClr val="64748B"/>
                </a:solidFill>
              </a:rPr>
              <a:t>Fraud rate: first 14 days vs. 60+ days</a:t>
            </a:r>
            <a:endParaRPr lang="en-US" sz="700" dirty="0"/>
          </a:p>
        </p:txBody>
      </p:sp>
      <p:sp>
        <p:nvSpPr>
          <p:cNvPr id="12" name="Text 10"/>
          <p:cNvSpPr/>
          <p:nvPr/>
        </p:nvSpPr>
        <p:spPr>
          <a:xfrm>
            <a:off x="1508760" y="978408"/>
            <a:ext cx="7296912" cy="274320"/>
          </a:xfrm>
          <a:prstGeom prst="rect">
            <a:avLst/>
          </a:prstGeom>
          <a:noFill/>
          <a:ln/>
        </p:spPr>
        <p:txBody>
          <a:bodyPr wrap="square" lIns="0" tIns="0" rIns="0" bIns="0" rtlCol="0" anchor="ctr"/>
          <a:lstStyle/>
          <a:p>
            <a:pPr marL="0" indent="0">
              <a:buNone/>
            </a:pPr>
            <a:r>
              <a:rPr lang="en-US" sz="1000" b="1" dirty="0">
                <a:solidFill>
                  <a:srgbClr val="DC2626"/>
                </a:solidFill>
              </a:rPr>
              <a:t>FINDING 1: The First 14 Days Are Your Biggest Vulnerability</a:t>
            </a:r>
            <a:endParaRPr lang="en-US" sz="1000" dirty="0"/>
          </a:p>
        </p:txBody>
      </p:sp>
      <p:sp>
        <p:nvSpPr>
          <p:cNvPr id="13" name="Text 11"/>
          <p:cNvSpPr/>
          <p:nvPr/>
        </p:nvSpPr>
        <p:spPr>
          <a:xfrm>
            <a:off x="1508760" y="1280160"/>
            <a:ext cx="7296912" cy="566928"/>
          </a:xfrm>
          <a:prstGeom prst="rect">
            <a:avLst/>
          </a:prstGeom>
          <a:noFill/>
          <a:ln/>
        </p:spPr>
        <p:txBody>
          <a:bodyPr wrap="square" lIns="0" tIns="0" rIns="0" bIns="0" rtlCol="0" anchor="ctr"/>
          <a:lstStyle/>
          <a:p>
            <a:pPr marL="0" indent="0">
              <a:buNone/>
            </a:pPr>
            <a:r>
              <a:rPr lang="en-US" sz="850" dirty="0">
                <a:solidFill>
                  <a:srgbClr val="1E293B"/>
                </a:solidFill>
              </a:rPr>
              <a:t>28.4% of all fraudulent claims are filed within 14 days of policy activation. That's more than 1-in-4 fraud events concentrated in a 2-week window. A simple intake rule flagging all sub-14-day claims for enhanced review would catch a significant portion of fraud with zero additional technology investment.</a:t>
            </a:r>
            <a:endParaRPr lang="en-US" sz="850" dirty="0"/>
          </a:p>
        </p:txBody>
      </p:sp>
      <p:sp>
        <p:nvSpPr>
          <p:cNvPr id="14" name="Text 12"/>
          <p:cNvSpPr/>
          <p:nvPr/>
        </p:nvSpPr>
        <p:spPr>
          <a:xfrm>
            <a:off x="1508760" y="1874520"/>
            <a:ext cx="7296912" cy="274320"/>
          </a:xfrm>
          <a:prstGeom prst="rect">
            <a:avLst/>
          </a:prstGeom>
          <a:noFill/>
          <a:ln/>
        </p:spPr>
        <p:txBody>
          <a:bodyPr wrap="square" lIns="0" tIns="0" rIns="0" bIns="0" rtlCol="0" anchor="ctr"/>
          <a:lstStyle/>
          <a:p>
            <a:pPr marL="0" indent="0">
              <a:buNone/>
            </a:pPr>
            <a:r>
              <a:rPr lang="en-US" sz="850" b="1" dirty="0">
                <a:solidFill>
                  <a:srgbClr val="DC2626"/>
                </a:solidFill>
              </a:rPr>
              <a:t>→ Recommended action: Implement time-to-claim routing rule immediately, independent of AI model deployment.</a:t>
            </a:r>
            <a:endParaRPr lang="en-US" sz="850" dirty="0"/>
          </a:p>
        </p:txBody>
      </p:sp>
      <p:sp>
        <p:nvSpPr>
          <p:cNvPr id="15" name="Shape 13"/>
          <p:cNvSpPr/>
          <p:nvPr/>
        </p:nvSpPr>
        <p:spPr>
          <a:xfrm>
            <a:off x="201168" y="2304288"/>
            <a:ext cx="8741664" cy="1280160"/>
          </a:xfrm>
          <a:prstGeom prst="rect">
            <a:avLst/>
          </a:prstGeom>
          <a:solidFill>
            <a:srgbClr val="FEF3C7"/>
          </a:solidFill>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201168" y="2304288"/>
            <a:ext cx="73152" cy="1280160"/>
          </a:xfrm>
          <a:prstGeom prst="rect">
            <a:avLst/>
          </a:prstGeom>
          <a:solidFill>
            <a:srgbClr val="D97706"/>
          </a:solidFill>
          <a:ln/>
        </p:spPr>
        <p:txBody>
          <a:bodyPr/>
          <a:lstStyle/>
          <a:p>
            <a:endParaRPr lang="en-US"/>
          </a:p>
        </p:txBody>
      </p:sp>
      <p:sp>
        <p:nvSpPr>
          <p:cNvPr id="17" name="Shape 15"/>
          <p:cNvSpPr/>
          <p:nvPr/>
        </p:nvSpPr>
        <p:spPr>
          <a:xfrm>
            <a:off x="320040" y="2377440"/>
            <a:ext cx="1097280" cy="1115568"/>
          </a:xfrm>
          <a:prstGeom prst="rect">
            <a:avLst/>
          </a:prstGeom>
          <a:solidFill>
            <a:srgbClr val="FFFFFF"/>
          </a:solidFill>
          <a:ln/>
        </p:spPr>
        <p:txBody>
          <a:bodyPr/>
          <a:lstStyle/>
          <a:p>
            <a:endParaRPr lang="en-US"/>
          </a:p>
        </p:txBody>
      </p:sp>
      <p:sp>
        <p:nvSpPr>
          <p:cNvPr id="18" name="Text 16"/>
          <p:cNvSpPr/>
          <p:nvPr/>
        </p:nvSpPr>
        <p:spPr>
          <a:xfrm>
            <a:off x="320040" y="2395728"/>
            <a:ext cx="1097280" cy="640080"/>
          </a:xfrm>
          <a:prstGeom prst="rect">
            <a:avLst/>
          </a:prstGeom>
          <a:noFill/>
          <a:ln/>
        </p:spPr>
        <p:txBody>
          <a:bodyPr wrap="square" lIns="0" tIns="0" rIns="0" bIns="0" rtlCol="0" anchor="ctr"/>
          <a:lstStyle/>
          <a:p>
            <a:pPr marL="0" indent="0" algn="ctr">
              <a:buNone/>
            </a:pPr>
            <a:r>
              <a:rPr lang="en-US" sz="2800" b="1" dirty="0">
                <a:solidFill>
                  <a:srgbClr val="D97706"/>
                </a:solidFill>
              </a:rPr>
              <a:t>31%</a:t>
            </a:r>
            <a:endParaRPr lang="en-US" sz="2800" dirty="0"/>
          </a:p>
        </p:txBody>
      </p:sp>
      <p:sp>
        <p:nvSpPr>
          <p:cNvPr id="19" name="Text 17"/>
          <p:cNvSpPr/>
          <p:nvPr/>
        </p:nvSpPr>
        <p:spPr>
          <a:xfrm>
            <a:off x="320040" y="3054096"/>
            <a:ext cx="1097280" cy="384048"/>
          </a:xfrm>
          <a:prstGeom prst="rect">
            <a:avLst/>
          </a:prstGeom>
          <a:noFill/>
          <a:ln/>
        </p:spPr>
        <p:txBody>
          <a:bodyPr wrap="square" lIns="25400" tIns="25400" rIns="25400" bIns="25400" rtlCol="0" anchor="ctr"/>
          <a:lstStyle/>
          <a:p>
            <a:pPr marL="0" indent="0" algn="ctr">
              <a:buNone/>
            </a:pPr>
            <a:r>
              <a:rPr lang="en-US" sz="700" dirty="0">
                <a:solidFill>
                  <a:srgbClr val="64748B"/>
                </a:solidFill>
              </a:rPr>
              <a:t>Fraud from top 10 partners (8% of volume)</a:t>
            </a:r>
            <a:endParaRPr lang="en-US" sz="700" dirty="0"/>
          </a:p>
        </p:txBody>
      </p:sp>
      <p:sp>
        <p:nvSpPr>
          <p:cNvPr id="20" name="Text 18"/>
          <p:cNvSpPr/>
          <p:nvPr/>
        </p:nvSpPr>
        <p:spPr>
          <a:xfrm>
            <a:off x="1508760" y="2350008"/>
            <a:ext cx="7296912" cy="274320"/>
          </a:xfrm>
          <a:prstGeom prst="rect">
            <a:avLst/>
          </a:prstGeom>
          <a:noFill/>
          <a:ln/>
        </p:spPr>
        <p:txBody>
          <a:bodyPr wrap="square" lIns="0" tIns="0" rIns="0" bIns="0" rtlCol="0" anchor="ctr"/>
          <a:lstStyle/>
          <a:p>
            <a:pPr marL="0" indent="0">
              <a:buNone/>
            </a:pPr>
            <a:r>
              <a:rPr lang="en-US" sz="1000" b="1" dirty="0">
                <a:solidFill>
                  <a:srgbClr val="D97706"/>
                </a:solidFill>
              </a:rPr>
              <a:t>FINDING 2: 10 Retail Partners Are Driving 31% of Our Fraud</a:t>
            </a:r>
            <a:endParaRPr lang="en-US" sz="1000" dirty="0"/>
          </a:p>
        </p:txBody>
      </p:sp>
      <p:sp>
        <p:nvSpPr>
          <p:cNvPr id="21" name="Text 19"/>
          <p:cNvSpPr/>
          <p:nvPr/>
        </p:nvSpPr>
        <p:spPr>
          <a:xfrm>
            <a:off x="1508760" y="2651760"/>
            <a:ext cx="7296912" cy="566928"/>
          </a:xfrm>
          <a:prstGeom prst="rect">
            <a:avLst/>
          </a:prstGeom>
          <a:noFill/>
          <a:ln/>
        </p:spPr>
        <p:txBody>
          <a:bodyPr wrap="square" lIns="0" tIns="0" rIns="0" bIns="0" rtlCol="0" anchor="ctr"/>
          <a:lstStyle/>
          <a:p>
            <a:pPr marL="0" indent="0">
              <a:buNone/>
            </a:pPr>
            <a:r>
              <a:rPr lang="en-US" sz="850" dirty="0">
                <a:solidFill>
                  <a:srgbClr val="1E293B"/>
                </a:solidFill>
              </a:rPr>
              <a:t>Partner fraud rates are highly concentrated. The top 10 highest-fraud-rate partners generate 31% of all fraud but only 8% of claim volume. These partners are identifiable, they appear consistently in the model's 'claim velocity' and 'partner fraud rate' features. A proactive partner audit programme targeting these accounts is our highest-ROI fraud intervention.</a:t>
            </a:r>
            <a:endParaRPr lang="en-US" sz="850" dirty="0"/>
          </a:p>
        </p:txBody>
      </p:sp>
      <p:sp>
        <p:nvSpPr>
          <p:cNvPr id="22" name="Text 20"/>
          <p:cNvSpPr/>
          <p:nvPr/>
        </p:nvSpPr>
        <p:spPr>
          <a:xfrm>
            <a:off x="1508760" y="3246120"/>
            <a:ext cx="7296912" cy="274320"/>
          </a:xfrm>
          <a:prstGeom prst="rect">
            <a:avLst/>
          </a:prstGeom>
          <a:noFill/>
          <a:ln/>
        </p:spPr>
        <p:txBody>
          <a:bodyPr wrap="square" lIns="0" tIns="0" rIns="0" bIns="0" rtlCol="0" anchor="ctr"/>
          <a:lstStyle/>
          <a:p>
            <a:pPr marL="0" indent="0">
              <a:buNone/>
            </a:pPr>
            <a:r>
              <a:rPr lang="en-US" sz="850" b="1" dirty="0">
                <a:solidFill>
                  <a:srgbClr val="D97706"/>
                </a:solidFill>
              </a:rPr>
              <a:t>→ Recommended action: Channel management to audit the top 10 fraud-rate partners within 30 days and consider a temporary enhanced SLA.</a:t>
            </a:r>
            <a:endParaRPr lang="en-US" sz="850" dirty="0"/>
          </a:p>
        </p:txBody>
      </p:sp>
      <p:sp>
        <p:nvSpPr>
          <p:cNvPr id="23" name="Shape 21"/>
          <p:cNvSpPr/>
          <p:nvPr/>
        </p:nvSpPr>
        <p:spPr>
          <a:xfrm>
            <a:off x="201168" y="3675888"/>
            <a:ext cx="8741664" cy="1280160"/>
          </a:xfrm>
          <a:prstGeom prst="rect">
            <a:avLst/>
          </a:prstGeom>
          <a:solidFill>
            <a:srgbClr val="EFF6FF"/>
          </a:solidFill>
          <a:ln/>
          <a:effectLst>
            <a:outerShdw blurRad="101600" dist="38100" dir="8100000" algn="bl" rotWithShape="0">
              <a:srgbClr val="000000">
                <a:alpha val="10000"/>
              </a:srgbClr>
            </a:outerShdw>
          </a:effectLst>
        </p:spPr>
        <p:txBody>
          <a:bodyPr/>
          <a:lstStyle/>
          <a:p>
            <a:endParaRPr lang="en-US"/>
          </a:p>
        </p:txBody>
      </p:sp>
      <p:sp>
        <p:nvSpPr>
          <p:cNvPr id="24" name="Shape 22"/>
          <p:cNvSpPr/>
          <p:nvPr/>
        </p:nvSpPr>
        <p:spPr>
          <a:xfrm>
            <a:off x="201168" y="3675888"/>
            <a:ext cx="73152" cy="1280160"/>
          </a:xfrm>
          <a:prstGeom prst="rect">
            <a:avLst/>
          </a:prstGeom>
          <a:solidFill>
            <a:srgbClr val="1B3A6B"/>
          </a:solidFill>
          <a:ln/>
        </p:spPr>
        <p:txBody>
          <a:bodyPr/>
          <a:lstStyle/>
          <a:p>
            <a:endParaRPr lang="en-US"/>
          </a:p>
        </p:txBody>
      </p:sp>
      <p:sp>
        <p:nvSpPr>
          <p:cNvPr id="25" name="Shape 23"/>
          <p:cNvSpPr/>
          <p:nvPr/>
        </p:nvSpPr>
        <p:spPr>
          <a:xfrm>
            <a:off x="320040" y="3749040"/>
            <a:ext cx="1097280" cy="1115568"/>
          </a:xfrm>
          <a:prstGeom prst="rect">
            <a:avLst/>
          </a:prstGeom>
          <a:solidFill>
            <a:srgbClr val="FFFFFF"/>
          </a:solidFill>
          <a:ln/>
        </p:spPr>
        <p:txBody>
          <a:bodyPr/>
          <a:lstStyle/>
          <a:p>
            <a:endParaRPr lang="en-US"/>
          </a:p>
        </p:txBody>
      </p:sp>
      <p:sp>
        <p:nvSpPr>
          <p:cNvPr id="26" name="Text 24"/>
          <p:cNvSpPr/>
          <p:nvPr/>
        </p:nvSpPr>
        <p:spPr>
          <a:xfrm>
            <a:off x="320040" y="3767328"/>
            <a:ext cx="1097280" cy="640080"/>
          </a:xfrm>
          <a:prstGeom prst="rect">
            <a:avLst/>
          </a:prstGeom>
          <a:noFill/>
          <a:ln/>
        </p:spPr>
        <p:txBody>
          <a:bodyPr wrap="square" lIns="0" tIns="0" rIns="0" bIns="0" rtlCol="0" anchor="ctr"/>
          <a:lstStyle/>
          <a:p>
            <a:pPr marL="0" indent="0" algn="ctr">
              <a:buNone/>
            </a:pPr>
            <a:r>
              <a:rPr lang="en-US" sz="2800" b="1" dirty="0">
                <a:solidFill>
                  <a:srgbClr val="1B3A6B"/>
                </a:solidFill>
              </a:rPr>
              <a:t>5.2×</a:t>
            </a:r>
            <a:endParaRPr lang="en-US" sz="2800" dirty="0"/>
          </a:p>
        </p:txBody>
      </p:sp>
      <p:sp>
        <p:nvSpPr>
          <p:cNvPr id="27" name="Text 25"/>
          <p:cNvSpPr/>
          <p:nvPr/>
        </p:nvSpPr>
        <p:spPr>
          <a:xfrm>
            <a:off x="320040" y="4425696"/>
            <a:ext cx="1097280" cy="384048"/>
          </a:xfrm>
          <a:prstGeom prst="rect">
            <a:avLst/>
          </a:prstGeom>
          <a:noFill/>
          <a:ln/>
        </p:spPr>
        <p:txBody>
          <a:bodyPr wrap="square" lIns="25400" tIns="25400" rIns="25400" bIns="25400" rtlCol="0" anchor="ctr"/>
          <a:lstStyle/>
          <a:p>
            <a:pPr marL="0" indent="0" algn="ctr">
              <a:buNone/>
            </a:pPr>
            <a:r>
              <a:rPr lang="en-US" sz="700" dirty="0">
                <a:solidFill>
                  <a:srgbClr val="64748B"/>
                </a:solidFill>
              </a:rPr>
              <a:t>Fraud rate: unverified vs. verified customers</a:t>
            </a:r>
            <a:endParaRPr lang="en-US" sz="700" dirty="0"/>
          </a:p>
        </p:txBody>
      </p:sp>
      <p:sp>
        <p:nvSpPr>
          <p:cNvPr id="28" name="Text 26"/>
          <p:cNvSpPr/>
          <p:nvPr/>
        </p:nvSpPr>
        <p:spPr>
          <a:xfrm>
            <a:off x="1508760" y="3721608"/>
            <a:ext cx="7296912" cy="274320"/>
          </a:xfrm>
          <a:prstGeom prst="rect">
            <a:avLst/>
          </a:prstGeom>
          <a:noFill/>
          <a:ln/>
        </p:spPr>
        <p:txBody>
          <a:bodyPr wrap="square" lIns="0" tIns="0" rIns="0" bIns="0" rtlCol="0" anchor="ctr"/>
          <a:lstStyle/>
          <a:p>
            <a:pPr marL="0" indent="0">
              <a:buNone/>
            </a:pPr>
            <a:r>
              <a:rPr lang="en-US" sz="1000" b="1" dirty="0">
                <a:solidFill>
                  <a:srgbClr val="1B3A6B"/>
                </a:solidFill>
              </a:rPr>
              <a:t>FINDING 3: Unverified Customers at Policy Inception = 5× Fraud Risk</a:t>
            </a:r>
            <a:endParaRPr lang="en-US" sz="1000" dirty="0"/>
          </a:p>
        </p:txBody>
      </p:sp>
      <p:sp>
        <p:nvSpPr>
          <p:cNvPr id="29" name="Text 27"/>
          <p:cNvSpPr/>
          <p:nvPr/>
        </p:nvSpPr>
        <p:spPr>
          <a:xfrm>
            <a:off x="1508760" y="4023360"/>
            <a:ext cx="7296912" cy="566928"/>
          </a:xfrm>
          <a:prstGeom prst="rect">
            <a:avLst/>
          </a:prstGeom>
          <a:noFill/>
          <a:ln/>
        </p:spPr>
        <p:txBody>
          <a:bodyPr wrap="square" lIns="0" tIns="0" rIns="0" bIns="0" rtlCol="0" anchor="ctr"/>
          <a:lstStyle/>
          <a:p>
            <a:pPr marL="0" indent="0">
              <a:buNone/>
            </a:pPr>
            <a:r>
              <a:rPr lang="en-US" sz="850" dirty="0">
                <a:solidFill>
                  <a:srgbClr val="1E293B"/>
                </a:solidFill>
              </a:rPr>
              <a:t>Customers whose identity fields (name, address, device serial) do not match each other at policy activation have a 9.3% fraud rate, vs. 1.8% for fully verified customers. This is a 5.2× difference. Mandatory identity verification at policy inception is the single highest-leverage underwriting intervention available.</a:t>
            </a:r>
            <a:endParaRPr lang="en-US" sz="850" dirty="0"/>
          </a:p>
        </p:txBody>
      </p:sp>
      <p:sp>
        <p:nvSpPr>
          <p:cNvPr id="30" name="Text 28"/>
          <p:cNvSpPr/>
          <p:nvPr/>
        </p:nvSpPr>
        <p:spPr>
          <a:xfrm>
            <a:off x="1508760" y="4617720"/>
            <a:ext cx="7296912" cy="274320"/>
          </a:xfrm>
          <a:prstGeom prst="rect">
            <a:avLst/>
          </a:prstGeom>
          <a:noFill/>
          <a:ln/>
        </p:spPr>
        <p:txBody>
          <a:bodyPr wrap="square" lIns="0" tIns="0" rIns="0" bIns="0" rtlCol="0" anchor="ctr"/>
          <a:lstStyle/>
          <a:p>
            <a:pPr marL="0" indent="0">
              <a:buNone/>
            </a:pPr>
            <a:r>
              <a:rPr lang="en-US" sz="850" b="1" dirty="0">
                <a:solidFill>
                  <a:srgbClr val="1B3A6B"/>
                </a:solidFill>
              </a:rPr>
              <a:t>→ Recommended action: Require identity verification before policy activation for all new customers, and conduct a retroactive review of unverified existing policies.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p:spPr>
        <p:txBody>
          <a:bodyPr/>
          <a:lstStyle/>
          <a:p>
            <a:endParaRPr lang="en-US"/>
          </a:p>
        </p:txBody>
      </p:sp>
      <p:sp>
        <p:nvSpPr>
          <p:cNvPr id="3" name="Shape 1"/>
          <p:cNvSpPr/>
          <p:nvPr/>
        </p:nvSpPr>
        <p:spPr>
          <a:xfrm>
            <a:off x="0" y="512064"/>
            <a:ext cx="9144000" cy="54864"/>
          </a:xfrm>
          <a:prstGeom prst="rect">
            <a:avLst/>
          </a:prstGeom>
          <a:solidFill>
            <a:srgbClr val="2563EB"/>
          </a:solidFill>
          <a:ln/>
        </p:spPr>
        <p:txBody>
          <a:bodyPr/>
          <a:lstStyle/>
          <a:p>
            <a:endParaRPr lang="en-US"/>
          </a:p>
        </p:txBody>
      </p:sp>
      <p:sp>
        <p:nvSpPr>
          <p:cNvPr id="4" name="Text 2"/>
          <p:cNvSpPr/>
          <p:nvPr/>
        </p:nvSpPr>
        <p:spPr>
          <a:xfrm>
            <a:off x="320040" y="54864"/>
            <a:ext cx="8321040" cy="438912"/>
          </a:xfrm>
          <a:prstGeom prst="rect">
            <a:avLst/>
          </a:prstGeom>
          <a:noFill/>
          <a:ln/>
        </p:spPr>
        <p:txBody>
          <a:bodyPr wrap="square" lIns="0" tIns="0" rIns="0" bIns="0" rtlCol="0" anchor="ctr"/>
          <a:lstStyle/>
          <a:p>
            <a:pPr marL="0" indent="0">
              <a:buNone/>
            </a:pPr>
            <a:r>
              <a:rPr lang="en-US" sz="1600" b="1" dirty="0">
                <a:solidFill>
                  <a:srgbClr val="FFFFFF"/>
                </a:solidFill>
              </a:rPr>
              <a:t>How the System Works in Daily Claims Operations</a:t>
            </a:r>
            <a:endParaRPr lang="en-US" sz="1600" dirty="0"/>
          </a:p>
        </p:txBody>
      </p:sp>
      <p:sp>
        <p:nvSpPr>
          <p:cNvPr id="5" name="Text 3"/>
          <p:cNvSpPr/>
          <p:nvPr/>
        </p:nvSpPr>
        <p:spPr>
          <a:xfrm>
            <a:off x="320040" y="4919472"/>
            <a:ext cx="8503920" cy="201168"/>
          </a:xfrm>
          <a:prstGeom prst="rect">
            <a:avLst/>
          </a:prstGeom>
          <a:noFill/>
          <a:ln/>
        </p:spPr>
        <p:txBody>
          <a:bodyPr wrap="square" lIns="0" tIns="0" rIns="0" bIns="0" rtlCol="0" anchor="ctr"/>
          <a:lstStyle/>
          <a:p>
            <a:pPr marL="0" indent="0" algn="r">
              <a:buNone/>
            </a:pPr>
            <a:r>
              <a:rPr lang="en-US" sz="750" dirty="0">
                <a:solidFill>
                  <a:srgbClr val="64748B"/>
                </a:solidFill>
              </a:rPr>
              <a:t>ProTech Devices Asia  |  Confidential</a:t>
            </a:r>
            <a:endParaRPr lang="en-US" sz="750" dirty="0"/>
          </a:p>
        </p:txBody>
      </p:sp>
      <p:sp>
        <p:nvSpPr>
          <p:cNvPr id="6" name="Text 4"/>
          <p:cNvSpPr/>
          <p:nvPr/>
        </p:nvSpPr>
        <p:spPr>
          <a:xfrm>
            <a:off x="201168" y="640080"/>
            <a:ext cx="8686800" cy="256032"/>
          </a:xfrm>
          <a:prstGeom prst="rect">
            <a:avLst/>
          </a:prstGeom>
          <a:noFill/>
          <a:ln/>
        </p:spPr>
        <p:txBody>
          <a:bodyPr wrap="square" lIns="0" tIns="0" rIns="0" bIns="0" rtlCol="0" anchor="ctr"/>
          <a:lstStyle/>
          <a:p>
            <a:pPr marL="0" indent="0">
              <a:buNone/>
            </a:pPr>
            <a:r>
              <a:rPr lang="en-US" sz="900" b="1" kern="0" spc="100" dirty="0">
                <a:solidFill>
                  <a:srgbClr val="1B3A6B"/>
                </a:solidFill>
              </a:rPr>
              <a:t>4 OPERATIONAL TIERS, Based on Fraud Probability Score</a:t>
            </a:r>
            <a:endParaRPr lang="en-US" sz="900" dirty="0"/>
          </a:p>
        </p:txBody>
      </p:sp>
      <p:sp>
        <p:nvSpPr>
          <p:cNvPr id="7" name="Shape 5"/>
          <p:cNvSpPr/>
          <p:nvPr/>
        </p:nvSpPr>
        <p:spPr>
          <a:xfrm>
            <a:off x="201168" y="960120"/>
            <a:ext cx="8741664" cy="886968"/>
          </a:xfrm>
          <a:prstGeom prst="rect">
            <a:avLst/>
          </a:prstGeom>
          <a:solidFill>
            <a:srgbClr val="D1FAE5"/>
          </a:solidFill>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201168" y="960120"/>
            <a:ext cx="73152" cy="886968"/>
          </a:xfrm>
          <a:prstGeom prst="rect">
            <a:avLst/>
          </a:prstGeom>
          <a:solidFill>
            <a:srgbClr val="059669"/>
          </a:solidFill>
          <a:ln/>
        </p:spPr>
        <p:txBody>
          <a:bodyPr/>
          <a:lstStyle/>
          <a:p>
            <a:endParaRPr lang="en-US"/>
          </a:p>
        </p:txBody>
      </p:sp>
      <p:sp>
        <p:nvSpPr>
          <p:cNvPr id="9" name="Shape 7"/>
          <p:cNvSpPr/>
          <p:nvPr/>
        </p:nvSpPr>
        <p:spPr>
          <a:xfrm>
            <a:off x="320040" y="1014984"/>
            <a:ext cx="1417320" cy="777240"/>
          </a:xfrm>
          <a:prstGeom prst="rect">
            <a:avLst/>
          </a:prstGeom>
          <a:solidFill>
            <a:srgbClr val="059669"/>
          </a:solidFill>
          <a:ln/>
        </p:spPr>
        <p:txBody>
          <a:bodyPr/>
          <a:lstStyle/>
          <a:p>
            <a:endParaRPr lang="en-US"/>
          </a:p>
        </p:txBody>
      </p:sp>
      <p:sp>
        <p:nvSpPr>
          <p:cNvPr id="10" name="Text 8"/>
          <p:cNvSpPr/>
          <p:nvPr/>
        </p:nvSpPr>
        <p:spPr>
          <a:xfrm>
            <a:off x="320040" y="1014984"/>
            <a:ext cx="1417320" cy="320040"/>
          </a:xfrm>
          <a:prstGeom prst="rect">
            <a:avLst/>
          </a:prstGeom>
          <a:noFill/>
          <a:ln/>
        </p:spPr>
        <p:txBody>
          <a:bodyPr wrap="square" lIns="0" tIns="0" rIns="0" bIns="0" rtlCol="0" anchor="ctr"/>
          <a:lstStyle/>
          <a:p>
            <a:pPr marL="0" indent="0" algn="ctr">
              <a:buNone/>
            </a:pPr>
            <a:r>
              <a:rPr lang="en-US" sz="900" b="1" dirty="0">
                <a:solidFill>
                  <a:srgbClr val="FFFFFF"/>
                </a:solidFill>
              </a:rPr>
              <a:t>Score 0–20%</a:t>
            </a:r>
            <a:endParaRPr lang="en-US" sz="900" dirty="0"/>
          </a:p>
        </p:txBody>
      </p:sp>
      <p:sp>
        <p:nvSpPr>
          <p:cNvPr id="11" name="Text 9"/>
          <p:cNvSpPr/>
          <p:nvPr/>
        </p:nvSpPr>
        <p:spPr>
          <a:xfrm>
            <a:off x="320040" y="1344168"/>
            <a:ext cx="1417320" cy="438912"/>
          </a:xfrm>
          <a:prstGeom prst="rect">
            <a:avLst/>
          </a:prstGeom>
          <a:noFill/>
          <a:ln/>
        </p:spPr>
        <p:txBody>
          <a:bodyPr wrap="square" lIns="0" tIns="0" rIns="0" bIns="0" rtlCol="0" anchor="ctr"/>
          <a:lstStyle/>
          <a:p>
            <a:pPr marL="0" indent="0" algn="ctr">
              <a:buNone/>
            </a:pPr>
            <a:r>
              <a:rPr lang="en-US" sz="850" b="1" dirty="0">
                <a:solidFill>
                  <a:srgbClr val="FFFFFF"/>
                </a:solidFill>
              </a:rPr>
              <a:t>AUTO-APPROVE</a:t>
            </a:r>
            <a:endParaRPr lang="en-US" sz="850" dirty="0"/>
          </a:p>
        </p:txBody>
      </p:sp>
      <p:sp>
        <p:nvSpPr>
          <p:cNvPr id="12" name="Shape 10"/>
          <p:cNvSpPr/>
          <p:nvPr/>
        </p:nvSpPr>
        <p:spPr>
          <a:xfrm>
            <a:off x="8183880" y="1051560"/>
            <a:ext cx="685800" cy="685800"/>
          </a:xfrm>
          <a:prstGeom prst="rect">
            <a:avLst/>
          </a:prstGeom>
          <a:solidFill>
            <a:srgbClr val="FFFFFF"/>
          </a:solidFill>
          <a:ln/>
        </p:spPr>
        <p:txBody>
          <a:bodyPr/>
          <a:lstStyle/>
          <a:p>
            <a:endParaRPr lang="en-US"/>
          </a:p>
        </p:txBody>
      </p:sp>
      <p:sp>
        <p:nvSpPr>
          <p:cNvPr id="13" name="Text 11"/>
          <p:cNvSpPr/>
          <p:nvPr/>
        </p:nvSpPr>
        <p:spPr>
          <a:xfrm>
            <a:off x="8183880" y="1051560"/>
            <a:ext cx="685800" cy="685800"/>
          </a:xfrm>
          <a:prstGeom prst="rect">
            <a:avLst/>
          </a:prstGeom>
          <a:noFill/>
          <a:ln/>
        </p:spPr>
        <p:txBody>
          <a:bodyPr wrap="square" lIns="0" tIns="0" rIns="0" bIns="0" rtlCol="0" anchor="ctr"/>
          <a:lstStyle/>
          <a:p>
            <a:pPr marL="0" indent="0" algn="ctr">
              <a:buNone/>
            </a:pPr>
            <a:r>
              <a:rPr lang="en-US" sz="900" b="1" dirty="0">
                <a:solidFill>
                  <a:srgbClr val="059669"/>
                </a:solidFill>
              </a:rPr>
              <a:t>72%</a:t>
            </a:r>
            <a:endParaRPr lang="en-US" sz="900" dirty="0"/>
          </a:p>
          <a:p>
            <a:pPr marL="0" indent="0" algn="ctr">
              <a:buNone/>
            </a:pPr>
            <a:r>
              <a:rPr lang="en-US" sz="900" b="1" dirty="0">
                <a:solidFill>
                  <a:srgbClr val="059669"/>
                </a:solidFill>
              </a:rPr>
              <a:t>of claims</a:t>
            </a:r>
            <a:endParaRPr lang="en-US" sz="900" dirty="0"/>
          </a:p>
        </p:txBody>
      </p:sp>
      <p:sp>
        <p:nvSpPr>
          <p:cNvPr id="14" name="Text 12"/>
          <p:cNvSpPr/>
          <p:nvPr/>
        </p:nvSpPr>
        <p:spPr>
          <a:xfrm>
            <a:off x="1828800" y="1005840"/>
            <a:ext cx="6263640" cy="274320"/>
          </a:xfrm>
          <a:prstGeom prst="rect">
            <a:avLst/>
          </a:prstGeom>
          <a:noFill/>
          <a:ln/>
        </p:spPr>
        <p:txBody>
          <a:bodyPr wrap="square" lIns="0" tIns="0" rIns="0" bIns="0" rtlCol="0" anchor="ctr"/>
          <a:lstStyle/>
          <a:p>
            <a:pPr marL="0" indent="0">
              <a:buNone/>
            </a:pPr>
            <a:r>
              <a:rPr lang="en-US" sz="1000" b="1" dirty="0">
                <a:solidFill>
                  <a:srgbClr val="059669"/>
                </a:solidFill>
              </a:rPr>
              <a:t>Straight-Through Processing</a:t>
            </a:r>
            <a:endParaRPr lang="en-US" sz="1000" dirty="0"/>
          </a:p>
        </p:txBody>
      </p:sp>
      <p:sp>
        <p:nvSpPr>
          <p:cNvPr id="15" name="Text 13"/>
          <p:cNvSpPr/>
          <p:nvPr/>
        </p:nvSpPr>
        <p:spPr>
          <a:xfrm>
            <a:off x="1828800" y="1307592"/>
            <a:ext cx="6263640" cy="475488"/>
          </a:xfrm>
          <a:prstGeom prst="rect">
            <a:avLst/>
          </a:prstGeom>
          <a:noFill/>
          <a:ln/>
        </p:spPr>
        <p:txBody>
          <a:bodyPr wrap="square" lIns="0" tIns="0" rIns="0" bIns="0" rtlCol="0" anchor="ctr"/>
          <a:lstStyle/>
          <a:p>
            <a:pPr marL="0" indent="0">
              <a:buNone/>
            </a:pPr>
            <a:r>
              <a:rPr lang="en-US" sz="850" dirty="0">
                <a:solidFill>
                  <a:srgbClr val="1E293B"/>
                </a:solidFill>
              </a:rPr>
              <a:t>Claim automatically cleared and payment released. No adjuster review required. Estimated to cover 72% of all claims, dramatically reducing processing cost and time.</a:t>
            </a:r>
            <a:endParaRPr lang="en-US" sz="850" dirty="0"/>
          </a:p>
        </p:txBody>
      </p:sp>
      <p:sp>
        <p:nvSpPr>
          <p:cNvPr id="16" name="Shape 14"/>
          <p:cNvSpPr/>
          <p:nvPr/>
        </p:nvSpPr>
        <p:spPr>
          <a:xfrm>
            <a:off x="201168" y="1920240"/>
            <a:ext cx="8741664" cy="886968"/>
          </a:xfrm>
          <a:prstGeom prst="rect">
            <a:avLst/>
          </a:prstGeom>
          <a:solidFill>
            <a:srgbClr val="EFF6FF"/>
          </a:solidFill>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201168" y="1920240"/>
            <a:ext cx="73152" cy="886968"/>
          </a:xfrm>
          <a:prstGeom prst="rect">
            <a:avLst/>
          </a:prstGeom>
          <a:solidFill>
            <a:srgbClr val="2563EB"/>
          </a:solidFill>
          <a:ln/>
        </p:spPr>
        <p:txBody>
          <a:bodyPr/>
          <a:lstStyle/>
          <a:p>
            <a:endParaRPr lang="en-US"/>
          </a:p>
        </p:txBody>
      </p:sp>
      <p:sp>
        <p:nvSpPr>
          <p:cNvPr id="18" name="Shape 16"/>
          <p:cNvSpPr/>
          <p:nvPr/>
        </p:nvSpPr>
        <p:spPr>
          <a:xfrm>
            <a:off x="320040" y="1975104"/>
            <a:ext cx="1417320" cy="777240"/>
          </a:xfrm>
          <a:prstGeom prst="rect">
            <a:avLst/>
          </a:prstGeom>
          <a:solidFill>
            <a:srgbClr val="2563EB"/>
          </a:solidFill>
          <a:ln/>
        </p:spPr>
        <p:txBody>
          <a:bodyPr/>
          <a:lstStyle/>
          <a:p>
            <a:endParaRPr lang="en-US"/>
          </a:p>
        </p:txBody>
      </p:sp>
      <p:sp>
        <p:nvSpPr>
          <p:cNvPr id="19" name="Text 17"/>
          <p:cNvSpPr/>
          <p:nvPr/>
        </p:nvSpPr>
        <p:spPr>
          <a:xfrm>
            <a:off x="320040" y="1975104"/>
            <a:ext cx="1417320" cy="320040"/>
          </a:xfrm>
          <a:prstGeom prst="rect">
            <a:avLst/>
          </a:prstGeom>
          <a:noFill/>
          <a:ln/>
        </p:spPr>
        <p:txBody>
          <a:bodyPr wrap="square" lIns="0" tIns="0" rIns="0" bIns="0" rtlCol="0" anchor="ctr"/>
          <a:lstStyle/>
          <a:p>
            <a:pPr marL="0" indent="0" algn="ctr">
              <a:buNone/>
            </a:pPr>
            <a:r>
              <a:rPr lang="en-US" sz="900" b="1" dirty="0">
                <a:solidFill>
                  <a:srgbClr val="FFFFFF"/>
                </a:solidFill>
              </a:rPr>
              <a:t>Score 20–60%</a:t>
            </a:r>
            <a:endParaRPr lang="en-US" sz="900" dirty="0"/>
          </a:p>
        </p:txBody>
      </p:sp>
      <p:sp>
        <p:nvSpPr>
          <p:cNvPr id="20" name="Text 18"/>
          <p:cNvSpPr/>
          <p:nvPr/>
        </p:nvSpPr>
        <p:spPr>
          <a:xfrm>
            <a:off x="320040" y="2304288"/>
            <a:ext cx="1417320" cy="438912"/>
          </a:xfrm>
          <a:prstGeom prst="rect">
            <a:avLst/>
          </a:prstGeom>
          <a:noFill/>
          <a:ln/>
        </p:spPr>
        <p:txBody>
          <a:bodyPr wrap="square" lIns="0" tIns="0" rIns="0" bIns="0" rtlCol="0" anchor="ctr"/>
          <a:lstStyle/>
          <a:p>
            <a:pPr marL="0" indent="0" algn="ctr">
              <a:buNone/>
            </a:pPr>
            <a:r>
              <a:rPr lang="en-US" sz="850" b="1" dirty="0">
                <a:solidFill>
                  <a:srgbClr val="FFFFFF"/>
                </a:solidFill>
              </a:rPr>
              <a:t>STANDARD REVIEW</a:t>
            </a:r>
            <a:endParaRPr lang="en-US" sz="850" dirty="0"/>
          </a:p>
        </p:txBody>
      </p:sp>
      <p:sp>
        <p:nvSpPr>
          <p:cNvPr id="21" name="Shape 19"/>
          <p:cNvSpPr/>
          <p:nvPr/>
        </p:nvSpPr>
        <p:spPr>
          <a:xfrm>
            <a:off x="8183880" y="2011680"/>
            <a:ext cx="685800" cy="685800"/>
          </a:xfrm>
          <a:prstGeom prst="rect">
            <a:avLst/>
          </a:prstGeom>
          <a:solidFill>
            <a:srgbClr val="FFFFFF"/>
          </a:solidFill>
          <a:ln/>
        </p:spPr>
        <p:txBody>
          <a:bodyPr/>
          <a:lstStyle/>
          <a:p>
            <a:endParaRPr lang="en-US"/>
          </a:p>
        </p:txBody>
      </p:sp>
      <p:sp>
        <p:nvSpPr>
          <p:cNvPr id="22" name="Text 20"/>
          <p:cNvSpPr/>
          <p:nvPr/>
        </p:nvSpPr>
        <p:spPr>
          <a:xfrm>
            <a:off x="8183880" y="2011680"/>
            <a:ext cx="685800" cy="685800"/>
          </a:xfrm>
          <a:prstGeom prst="rect">
            <a:avLst/>
          </a:prstGeom>
          <a:noFill/>
          <a:ln/>
        </p:spPr>
        <p:txBody>
          <a:bodyPr wrap="square" lIns="0" tIns="0" rIns="0" bIns="0" rtlCol="0" anchor="ctr"/>
          <a:lstStyle/>
          <a:p>
            <a:pPr marL="0" indent="0" algn="ctr">
              <a:buNone/>
            </a:pPr>
            <a:r>
              <a:rPr lang="en-US" sz="900" b="1" dirty="0">
                <a:solidFill>
                  <a:srgbClr val="2563EB"/>
                </a:solidFill>
              </a:rPr>
              <a:t>23%</a:t>
            </a:r>
            <a:endParaRPr lang="en-US" sz="900" dirty="0"/>
          </a:p>
          <a:p>
            <a:pPr marL="0" indent="0" algn="ctr">
              <a:buNone/>
            </a:pPr>
            <a:r>
              <a:rPr lang="en-US" sz="900" b="1" dirty="0">
                <a:solidFill>
                  <a:srgbClr val="2563EB"/>
                </a:solidFill>
              </a:rPr>
              <a:t>of claims</a:t>
            </a:r>
            <a:endParaRPr lang="en-US" sz="900" dirty="0"/>
          </a:p>
        </p:txBody>
      </p:sp>
      <p:sp>
        <p:nvSpPr>
          <p:cNvPr id="23" name="Text 21"/>
          <p:cNvSpPr/>
          <p:nvPr/>
        </p:nvSpPr>
        <p:spPr>
          <a:xfrm>
            <a:off x="1828800" y="1965960"/>
            <a:ext cx="6263640" cy="274320"/>
          </a:xfrm>
          <a:prstGeom prst="rect">
            <a:avLst/>
          </a:prstGeom>
          <a:noFill/>
          <a:ln/>
        </p:spPr>
        <p:txBody>
          <a:bodyPr wrap="square" lIns="0" tIns="0" rIns="0" bIns="0" rtlCol="0" anchor="ctr"/>
          <a:lstStyle/>
          <a:p>
            <a:pPr marL="0" indent="0">
              <a:buNone/>
            </a:pPr>
            <a:r>
              <a:rPr lang="en-US" sz="1000" b="1" dirty="0">
                <a:solidFill>
                  <a:srgbClr val="2563EB"/>
                </a:solidFill>
              </a:rPr>
              <a:t>Normal Adjuster Queue</a:t>
            </a:r>
            <a:endParaRPr lang="en-US" sz="1000" dirty="0"/>
          </a:p>
        </p:txBody>
      </p:sp>
      <p:sp>
        <p:nvSpPr>
          <p:cNvPr id="24" name="Text 22"/>
          <p:cNvSpPr/>
          <p:nvPr/>
        </p:nvSpPr>
        <p:spPr>
          <a:xfrm>
            <a:off x="1828800" y="2267712"/>
            <a:ext cx="6263640" cy="475488"/>
          </a:xfrm>
          <a:prstGeom prst="rect">
            <a:avLst/>
          </a:prstGeom>
          <a:noFill/>
          <a:ln/>
        </p:spPr>
        <p:txBody>
          <a:bodyPr wrap="square" lIns="0" tIns="0" rIns="0" bIns="0" rtlCol="0" anchor="ctr"/>
          <a:lstStyle/>
          <a:p>
            <a:pPr marL="0" indent="0">
              <a:buNone/>
            </a:pPr>
            <a:r>
              <a:rPr lang="en-US" sz="850" dirty="0">
                <a:solidFill>
                  <a:srgbClr val="1E293B"/>
                </a:solidFill>
              </a:rPr>
              <a:t>Claim routed to standard adjuster review. AI score and top 3 risk factors are displayed in the claims system. Adjuster uses this as a starting point for their evaluation.</a:t>
            </a:r>
            <a:endParaRPr lang="en-US" sz="850" dirty="0"/>
          </a:p>
        </p:txBody>
      </p:sp>
      <p:sp>
        <p:nvSpPr>
          <p:cNvPr id="25" name="Shape 23"/>
          <p:cNvSpPr/>
          <p:nvPr/>
        </p:nvSpPr>
        <p:spPr>
          <a:xfrm>
            <a:off x="201168" y="2880360"/>
            <a:ext cx="8741664" cy="886968"/>
          </a:xfrm>
          <a:prstGeom prst="rect">
            <a:avLst/>
          </a:prstGeom>
          <a:solidFill>
            <a:srgbClr val="FEF3C7"/>
          </a:solidFill>
          <a:ln/>
          <a:effectLst>
            <a:outerShdw blurRad="101600" dist="38100" dir="8100000" algn="bl" rotWithShape="0">
              <a:srgbClr val="000000">
                <a:alpha val="10000"/>
              </a:srgbClr>
            </a:outerShdw>
          </a:effectLst>
        </p:spPr>
        <p:txBody>
          <a:bodyPr/>
          <a:lstStyle/>
          <a:p>
            <a:endParaRPr lang="en-US"/>
          </a:p>
        </p:txBody>
      </p:sp>
      <p:sp>
        <p:nvSpPr>
          <p:cNvPr id="26" name="Shape 24"/>
          <p:cNvSpPr/>
          <p:nvPr/>
        </p:nvSpPr>
        <p:spPr>
          <a:xfrm>
            <a:off x="201168" y="2880360"/>
            <a:ext cx="73152" cy="886968"/>
          </a:xfrm>
          <a:prstGeom prst="rect">
            <a:avLst/>
          </a:prstGeom>
          <a:solidFill>
            <a:srgbClr val="D97706"/>
          </a:solidFill>
          <a:ln/>
        </p:spPr>
        <p:txBody>
          <a:bodyPr/>
          <a:lstStyle/>
          <a:p>
            <a:endParaRPr lang="en-US"/>
          </a:p>
        </p:txBody>
      </p:sp>
      <p:sp>
        <p:nvSpPr>
          <p:cNvPr id="27" name="Shape 25"/>
          <p:cNvSpPr/>
          <p:nvPr/>
        </p:nvSpPr>
        <p:spPr>
          <a:xfrm>
            <a:off x="320040" y="2935224"/>
            <a:ext cx="1417320" cy="777240"/>
          </a:xfrm>
          <a:prstGeom prst="rect">
            <a:avLst/>
          </a:prstGeom>
          <a:solidFill>
            <a:srgbClr val="D97706"/>
          </a:solidFill>
          <a:ln/>
        </p:spPr>
        <p:txBody>
          <a:bodyPr/>
          <a:lstStyle/>
          <a:p>
            <a:endParaRPr lang="en-US"/>
          </a:p>
        </p:txBody>
      </p:sp>
      <p:sp>
        <p:nvSpPr>
          <p:cNvPr id="28" name="Text 26"/>
          <p:cNvSpPr/>
          <p:nvPr/>
        </p:nvSpPr>
        <p:spPr>
          <a:xfrm>
            <a:off x="320040" y="2935224"/>
            <a:ext cx="1417320" cy="320040"/>
          </a:xfrm>
          <a:prstGeom prst="rect">
            <a:avLst/>
          </a:prstGeom>
          <a:noFill/>
          <a:ln/>
        </p:spPr>
        <p:txBody>
          <a:bodyPr wrap="square" lIns="0" tIns="0" rIns="0" bIns="0" rtlCol="0" anchor="ctr"/>
          <a:lstStyle/>
          <a:p>
            <a:pPr marL="0" indent="0" algn="ctr">
              <a:buNone/>
            </a:pPr>
            <a:r>
              <a:rPr lang="en-US" sz="900" b="1" dirty="0">
                <a:solidFill>
                  <a:srgbClr val="FFFFFF"/>
                </a:solidFill>
              </a:rPr>
              <a:t>Score 60–85%</a:t>
            </a:r>
            <a:endParaRPr lang="en-US" sz="900" dirty="0"/>
          </a:p>
        </p:txBody>
      </p:sp>
      <p:sp>
        <p:nvSpPr>
          <p:cNvPr id="29" name="Text 27"/>
          <p:cNvSpPr/>
          <p:nvPr/>
        </p:nvSpPr>
        <p:spPr>
          <a:xfrm>
            <a:off x="320040" y="3264408"/>
            <a:ext cx="1417320" cy="438912"/>
          </a:xfrm>
          <a:prstGeom prst="rect">
            <a:avLst/>
          </a:prstGeom>
          <a:noFill/>
          <a:ln/>
        </p:spPr>
        <p:txBody>
          <a:bodyPr wrap="square" lIns="0" tIns="0" rIns="0" bIns="0" rtlCol="0" anchor="ctr"/>
          <a:lstStyle/>
          <a:p>
            <a:pPr marL="0" indent="0" algn="ctr">
              <a:buNone/>
            </a:pPr>
            <a:r>
              <a:rPr lang="en-US" sz="850" b="1" dirty="0">
                <a:solidFill>
                  <a:srgbClr val="FFFFFF"/>
                </a:solidFill>
              </a:rPr>
              <a:t>ENHANCED REVIEW</a:t>
            </a:r>
            <a:endParaRPr lang="en-US" sz="850" dirty="0"/>
          </a:p>
        </p:txBody>
      </p:sp>
      <p:sp>
        <p:nvSpPr>
          <p:cNvPr id="30" name="Shape 28"/>
          <p:cNvSpPr/>
          <p:nvPr/>
        </p:nvSpPr>
        <p:spPr>
          <a:xfrm>
            <a:off x="8183880" y="2971800"/>
            <a:ext cx="685800" cy="685800"/>
          </a:xfrm>
          <a:prstGeom prst="rect">
            <a:avLst/>
          </a:prstGeom>
          <a:solidFill>
            <a:srgbClr val="FFFFFF"/>
          </a:solidFill>
          <a:ln/>
        </p:spPr>
        <p:txBody>
          <a:bodyPr/>
          <a:lstStyle/>
          <a:p>
            <a:endParaRPr lang="en-US"/>
          </a:p>
        </p:txBody>
      </p:sp>
      <p:sp>
        <p:nvSpPr>
          <p:cNvPr id="31" name="Text 29"/>
          <p:cNvSpPr/>
          <p:nvPr/>
        </p:nvSpPr>
        <p:spPr>
          <a:xfrm>
            <a:off x="8183880" y="2971800"/>
            <a:ext cx="685800" cy="685800"/>
          </a:xfrm>
          <a:prstGeom prst="rect">
            <a:avLst/>
          </a:prstGeom>
          <a:noFill/>
          <a:ln/>
        </p:spPr>
        <p:txBody>
          <a:bodyPr wrap="square" lIns="0" tIns="0" rIns="0" bIns="0" rtlCol="0" anchor="ctr"/>
          <a:lstStyle/>
          <a:p>
            <a:pPr marL="0" indent="0" algn="ctr">
              <a:buNone/>
            </a:pPr>
            <a:r>
              <a:rPr lang="en-US" sz="900" b="1" dirty="0">
                <a:solidFill>
                  <a:srgbClr val="D97706"/>
                </a:solidFill>
              </a:rPr>
              <a:t>4%</a:t>
            </a:r>
            <a:endParaRPr lang="en-US" sz="900" dirty="0"/>
          </a:p>
          <a:p>
            <a:pPr marL="0" indent="0" algn="ctr">
              <a:buNone/>
            </a:pPr>
            <a:r>
              <a:rPr lang="en-US" sz="900" b="1" dirty="0">
                <a:solidFill>
                  <a:srgbClr val="D97706"/>
                </a:solidFill>
              </a:rPr>
              <a:t>of claims</a:t>
            </a:r>
            <a:endParaRPr lang="en-US" sz="900" dirty="0"/>
          </a:p>
        </p:txBody>
      </p:sp>
      <p:sp>
        <p:nvSpPr>
          <p:cNvPr id="32" name="Text 30"/>
          <p:cNvSpPr/>
          <p:nvPr/>
        </p:nvSpPr>
        <p:spPr>
          <a:xfrm>
            <a:off x="1828800" y="2926080"/>
            <a:ext cx="6263640" cy="274320"/>
          </a:xfrm>
          <a:prstGeom prst="rect">
            <a:avLst/>
          </a:prstGeom>
          <a:noFill/>
          <a:ln/>
        </p:spPr>
        <p:txBody>
          <a:bodyPr wrap="square" lIns="0" tIns="0" rIns="0" bIns="0" rtlCol="0" anchor="ctr"/>
          <a:lstStyle/>
          <a:p>
            <a:pPr marL="0" indent="0">
              <a:buNone/>
            </a:pPr>
            <a:r>
              <a:rPr lang="en-US" sz="1000" b="1" dirty="0">
                <a:solidFill>
                  <a:srgbClr val="D97706"/>
                </a:solidFill>
              </a:rPr>
              <a:t>Senior Adjuster + Payment Hold</a:t>
            </a:r>
            <a:endParaRPr lang="en-US" sz="1000" dirty="0"/>
          </a:p>
        </p:txBody>
      </p:sp>
      <p:sp>
        <p:nvSpPr>
          <p:cNvPr id="33" name="Text 31"/>
          <p:cNvSpPr/>
          <p:nvPr/>
        </p:nvSpPr>
        <p:spPr>
          <a:xfrm>
            <a:off x="1828800" y="3227832"/>
            <a:ext cx="6263640" cy="475488"/>
          </a:xfrm>
          <a:prstGeom prst="rect">
            <a:avLst/>
          </a:prstGeom>
          <a:noFill/>
          <a:ln/>
        </p:spPr>
        <p:txBody>
          <a:bodyPr wrap="square" lIns="0" tIns="0" rIns="0" bIns="0" rtlCol="0" anchor="ctr"/>
          <a:lstStyle/>
          <a:p>
            <a:pPr marL="0" indent="0">
              <a:buNone/>
            </a:pPr>
            <a:r>
              <a:rPr lang="en-US" sz="850" dirty="0">
                <a:solidFill>
                  <a:srgbClr val="1E293B"/>
                </a:solidFill>
              </a:rPr>
              <a:t>Payment held pending investigation. Senior adjuster or fraud analyst assigned. Additional documentation requested. Retail partner notified. Partner performance record updated.</a:t>
            </a:r>
            <a:endParaRPr lang="en-US" sz="850" dirty="0"/>
          </a:p>
        </p:txBody>
      </p:sp>
      <p:sp>
        <p:nvSpPr>
          <p:cNvPr id="34" name="Shape 32"/>
          <p:cNvSpPr/>
          <p:nvPr/>
        </p:nvSpPr>
        <p:spPr>
          <a:xfrm>
            <a:off x="201168" y="3840480"/>
            <a:ext cx="8741664" cy="886968"/>
          </a:xfrm>
          <a:prstGeom prst="rect">
            <a:avLst/>
          </a:prstGeom>
          <a:solidFill>
            <a:srgbClr val="FEE2E2"/>
          </a:solidFill>
          <a:ln/>
          <a:effectLst>
            <a:outerShdw blurRad="101600" dist="38100" dir="8100000" algn="bl" rotWithShape="0">
              <a:srgbClr val="000000">
                <a:alpha val="10000"/>
              </a:srgbClr>
            </a:outerShdw>
          </a:effectLst>
        </p:spPr>
        <p:txBody>
          <a:bodyPr/>
          <a:lstStyle/>
          <a:p>
            <a:endParaRPr lang="en-US"/>
          </a:p>
        </p:txBody>
      </p:sp>
      <p:sp>
        <p:nvSpPr>
          <p:cNvPr id="35" name="Shape 33"/>
          <p:cNvSpPr/>
          <p:nvPr/>
        </p:nvSpPr>
        <p:spPr>
          <a:xfrm>
            <a:off x="201168" y="3840480"/>
            <a:ext cx="73152" cy="886968"/>
          </a:xfrm>
          <a:prstGeom prst="rect">
            <a:avLst/>
          </a:prstGeom>
          <a:solidFill>
            <a:srgbClr val="DC2626"/>
          </a:solidFill>
          <a:ln/>
        </p:spPr>
        <p:txBody>
          <a:bodyPr/>
          <a:lstStyle/>
          <a:p>
            <a:endParaRPr lang="en-US"/>
          </a:p>
        </p:txBody>
      </p:sp>
      <p:sp>
        <p:nvSpPr>
          <p:cNvPr id="36" name="Shape 34"/>
          <p:cNvSpPr/>
          <p:nvPr/>
        </p:nvSpPr>
        <p:spPr>
          <a:xfrm>
            <a:off x="320040" y="3895344"/>
            <a:ext cx="1417320" cy="777240"/>
          </a:xfrm>
          <a:prstGeom prst="rect">
            <a:avLst/>
          </a:prstGeom>
          <a:solidFill>
            <a:srgbClr val="DC2626"/>
          </a:solidFill>
          <a:ln/>
        </p:spPr>
        <p:txBody>
          <a:bodyPr/>
          <a:lstStyle/>
          <a:p>
            <a:endParaRPr lang="en-US"/>
          </a:p>
        </p:txBody>
      </p:sp>
      <p:sp>
        <p:nvSpPr>
          <p:cNvPr id="37" name="Text 35"/>
          <p:cNvSpPr/>
          <p:nvPr/>
        </p:nvSpPr>
        <p:spPr>
          <a:xfrm>
            <a:off x="320040" y="3895344"/>
            <a:ext cx="1417320" cy="320040"/>
          </a:xfrm>
          <a:prstGeom prst="rect">
            <a:avLst/>
          </a:prstGeom>
          <a:noFill/>
          <a:ln/>
        </p:spPr>
        <p:txBody>
          <a:bodyPr wrap="square" lIns="0" tIns="0" rIns="0" bIns="0" rtlCol="0" anchor="ctr"/>
          <a:lstStyle/>
          <a:p>
            <a:pPr marL="0" indent="0" algn="ctr">
              <a:buNone/>
            </a:pPr>
            <a:r>
              <a:rPr lang="en-US" sz="900" b="1" dirty="0">
                <a:solidFill>
                  <a:srgbClr val="FFFFFF"/>
                </a:solidFill>
              </a:rPr>
              <a:t>Score &gt;85%</a:t>
            </a:r>
            <a:endParaRPr lang="en-US" sz="900" dirty="0"/>
          </a:p>
        </p:txBody>
      </p:sp>
      <p:sp>
        <p:nvSpPr>
          <p:cNvPr id="38" name="Text 36"/>
          <p:cNvSpPr/>
          <p:nvPr/>
        </p:nvSpPr>
        <p:spPr>
          <a:xfrm>
            <a:off x="320040" y="4224528"/>
            <a:ext cx="1417320" cy="438912"/>
          </a:xfrm>
          <a:prstGeom prst="rect">
            <a:avLst/>
          </a:prstGeom>
          <a:noFill/>
          <a:ln/>
        </p:spPr>
        <p:txBody>
          <a:bodyPr wrap="square" lIns="0" tIns="0" rIns="0" bIns="0" rtlCol="0" anchor="ctr"/>
          <a:lstStyle/>
          <a:p>
            <a:pPr marL="0" indent="0" algn="ctr">
              <a:buNone/>
            </a:pPr>
            <a:r>
              <a:rPr lang="en-US" sz="850" b="1" dirty="0">
                <a:solidFill>
                  <a:srgbClr val="FFFFFF"/>
                </a:solidFill>
              </a:rPr>
              <a:t>ESCALATE</a:t>
            </a:r>
            <a:endParaRPr lang="en-US" sz="850" dirty="0"/>
          </a:p>
        </p:txBody>
      </p:sp>
      <p:sp>
        <p:nvSpPr>
          <p:cNvPr id="39" name="Shape 37"/>
          <p:cNvSpPr/>
          <p:nvPr/>
        </p:nvSpPr>
        <p:spPr>
          <a:xfrm>
            <a:off x="8183880" y="3931920"/>
            <a:ext cx="685800" cy="685800"/>
          </a:xfrm>
          <a:prstGeom prst="rect">
            <a:avLst/>
          </a:prstGeom>
          <a:solidFill>
            <a:srgbClr val="FFFFFF"/>
          </a:solidFill>
          <a:ln/>
        </p:spPr>
        <p:txBody>
          <a:bodyPr/>
          <a:lstStyle/>
          <a:p>
            <a:endParaRPr lang="en-US"/>
          </a:p>
        </p:txBody>
      </p:sp>
      <p:sp>
        <p:nvSpPr>
          <p:cNvPr id="40" name="Text 38"/>
          <p:cNvSpPr/>
          <p:nvPr/>
        </p:nvSpPr>
        <p:spPr>
          <a:xfrm>
            <a:off x="8183880" y="3931920"/>
            <a:ext cx="685800" cy="685800"/>
          </a:xfrm>
          <a:prstGeom prst="rect">
            <a:avLst/>
          </a:prstGeom>
          <a:noFill/>
          <a:ln/>
        </p:spPr>
        <p:txBody>
          <a:bodyPr wrap="square" lIns="0" tIns="0" rIns="0" bIns="0" rtlCol="0" anchor="ctr"/>
          <a:lstStyle/>
          <a:p>
            <a:pPr marL="0" indent="0" algn="ctr">
              <a:buNone/>
            </a:pPr>
            <a:r>
              <a:rPr lang="en-US" sz="900" b="1" dirty="0">
                <a:solidFill>
                  <a:srgbClr val="DC2626"/>
                </a:solidFill>
              </a:rPr>
              <a:t>1%</a:t>
            </a:r>
            <a:endParaRPr lang="en-US" sz="900" dirty="0"/>
          </a:p>
          <a:p>
            <a:pPr marL="0" indent="0" algn="ctr">
              <a:buNone/>
            </a:pPr>
            <a:r>
              <a:rPr lang="en-US" sz="900" b="1" dirty="0">
                <a:solidFill>
                  <a:srgbClr val="DC2626"/>
                </a:solidFill>
              </a:rPr>
              <a:t>of claims</a:t>
            </a:r>
            <a:endParaRPr lang="en-US" sz="900" dirty="0"/>
          </a:p>
        </p:txBody>
      </p:sp>
      <p:sp>
        <p:nvSpPr>
          <p:cNvPr id="41" name="Text 39"/>
          <p:cNvSpPr/>
          <p:nvPr/>
        </p:nvSpPr>
        <p:spPr>
          <a:xfrm>
            <a:off x="1828800" y="3886200"/>
            <a:ext cx="6263640" cy="274320"/>
          </a:xfrm>
          <a:prstGeom prst="rect">
            <a:avLst/>
          </a:prstGeom>
          <a:noFill/>
          <a:ln/>
        </p:spPr>
        <p:txBody>
          <a:bodyPr wrap="square" lIns="0" tIns="0" rIns="0" bIns="0" rtlCol="0" anchor="ctr"/>
          <a:lstStyle/>
          <a:p>
            <a:pPr marL="0" indent="0">
              <a:buNone/>
            </a:pPr>
            <a:r>
              <a:rPr lang="en-US" sz="1000" b="1" dirty="0">
                <a:solidFill>
                  <a:srgbClr val="DC2626"/>
                </a:solidFill>
              </a:rPr>
              <a:t>Fraud Team + Partner Audit</a:t>
            </a:r>
            <a:endParaRPr lang="en-US" sz="1000" dirty="0"/>
          </a:p>
        </p:txBody>
      </p:sp>
      <p:sp>
        <p:nvSpPr>
          <p:cNvPr id="42" name="Text 40"/>
          <p:cNvSpPr/>
          <p:nvPr/>
        </p:nvSpPr>
        <p:spPr>
          <a:xfrm>
            <a:off x="1828800" y="4187952"/>
            <a:ext cx="6263640" cy="475488"/>
          </a:xfrm>
          <a:prstGeom prst="rect">
            <a:avLst/>
          </a:prstGeom>
          <a:noFill/>
          <a:ln/>
        </p:spPr>
        <p:txBody>
          <a:bodyPr wrap="square" lIns="0" tIns="0" rIns="0" bIns="0" rtlCol="0" anchor="ctr"/>
          <a:lstStyle/>
          <a:p>
            <a:pPr marL="0" indent="0">
              <a:buNone/>
            </a:pPr>
            <a:r>
              <a:rPr lang="en-US" sz="850" dirty="0">
                <a:solidFill>
                  <a:srgbClr val="1E293B"/>
                </a:solidFill>
              </a:rPr>
              <a:t>Immediate fraud team escalation. Full partner audit triggered. No payment until investigation complete. These are the highest-confidence fraud detections, at 89% precision at this threshold.</a:t>
            </a:r>
            <a:endParaRPr lang="en-US" sz="850" dirty="0"/>
          </a:p>
        </p:txBody>
      </p:sp>
      <p:sp>
        <p:nvSpPr>
          <p:cNvPr id="43" name="Shape 41"/>
          <p:cNvSpPr/>
          <p:nvPr/>
        </p:nvSpPr>
        <p:spPr>
          <a:xfrm>
            <a:off x="201168" y="4818888"/>
            <a:ext cx="8741664" cy="246888"/>
          </a:xfrm>
          <a:prstGeom prst="rect">
            <a:avLst/>
          </a:prstGeom>
          <a:solidFill>
            <a:srgbClr val="F8FAFC"/>
          </a:solidFill>
          <a:ln/>
        </p:spPr>
        <p:txBody>
          <a:bodyPr/>
          <a:lstStyle/>
          <a:p>
            <a:endParaRPr lang="en-US"/>
          </a:p>
        </p:txBody>
      </p:sp>
      <p:sp>
        <p:nvSpPr>
          <p:cNvPr id="44" name="Text 42"/>
          <p:cNvSpPr/>
          <p:nvPr/>
        </p:nvSpPr>
        <p:spPr>
          <a:xfrm>
            <a:off x="320040" y="4837176"/>
            <a:ext cx="8503920" cy="201168"/>
          </a:xfrm>
          <a:prstGeom prst="rect">
            <a:avLst/>
          </a:prstGeom>
          <a:noFill/>
          <a:ln/>
        </p:spPr>
        <p:txBody>
          <a:bodyPr wrap="square" lIns="0" tIns="0" rIns="0" bIns="0" rtlCol="0" anchor="ctr"/>
          <a:lstStyle/>
          <a:p>
            <a:pPr marL="0" indent="0">
              <a:buNone/>
            </a:pPr>
            <a:r>
              <a:rPr lang="en-US" sz="800" dirty="0">
                <a:solidFill>
                  <a:srgbClr val="1B3A6B"/>
                </a:solidFill>
              </a:rPr>
              <a:t>Critical Design Principle: The AI never auto-denies a claim. It routes and flags. A human adjuster makes all adverse decisions. The model is a tool, not a judge.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p:spPr>
        <p:txBody>
          <a:bodyPr/>
          <a:lstStyle/>
          <a:p>
            <a:endParaRPr lang="en-US"/>
          </a:p>
        </p:txBody>
      </p:sp>
      <p:sp>
        <p:nvSpPr>
          <p:cNvPr id="3" name="Shape 1"/>
          <p:cNvSpPr/>
          <p:nvPr/>
        </p:nvSpPr>
        <p:spPr>
          <a:xfrm>
            <a:off x="0" y="512064"/>
            <a:ext cx="9144000" cy="54864"/>
          </a:xfrm>
          <a:prstGeom prst="rect">
            <a:avLst/>
          </a:prstGeom>
          <a:solidFill>
            <a:srgbClr val="2563EB"/>
          </a:solidFill>
          <a:ln/>
        </p:spPr>
        <p:txBody>
          <a:bodyPr/>
          <a:lstStyle/>
          <a:p>
            <a:endParaRPr lang="en-US"/>
          </a:p>
        </p:txBody>
      </p:sp>
      <p:sp>
        <p:nvSpPr>
          <p:cNvPr id="4" name="Text 2"/>
          <p:cNvSpPr/>
          <p:nvPr/>
        </p:nvSpPr>
        <p:spPr>
          <a:xfrm>
            <a:off x="320040" y="54864"/>
            <a:ext cx="8321040" cy="438912"/>
          </a:xfrm>
          <a:prstGeom prst="rect">
            <a:avLst/>
          </a:prstGeom>
          <a:noFill/>
          <a:ln/>
        </p:spPr>
        <p:txBody>
          <a:bodyPr wrap="square" lIns="0" tIns="0" rIns="0" bIns="0" rtlCol="0" anchor="ctr"/>
          <a:lstStyle/>
          <a:p>
            <a:pPr marL="0" indent="0">
              <a:buNone/>
            </a:pPr>
            <a:r>
              <a:rPr lang="en-US" sz="1600" b="1" dirty="0">
                <a:solidFill>
                  <a:srgbClr val="FFFFFF"/>
                </a:solidFill>
              </a:rPr>
              <a:t>Results, What the Model Delivers in Numbers That Matter</a:t>
            </a:r>
            <a:endParaRPr lang="en-US" sz="1600" dirty="0"/>
          </a:p>
        </p:txBody>
      </p:sp>
      <p:sp>
        <p:nvSpPr>
          <p:cNvPr id="5" name="Text 3"/>
          <p:cNvSpPr/>
          <p:nvPr/>
        </p:nvSpPr>
        <p:spPr>
          <a:xfrm>
            <a:off x="320040" y="4919472"/>
            <a:ext cx="8503920" cy="201168"/>
          </a:xfrm>
          <a:prstGeom prst="rect">
            <a:avLst/>
          </a:prstGeom>
          <a:noFill/>
          <a:ln/>
        </p:spPr>
        <p:txBody>
          <a:bodyPr wrap="square" lIns="0" tIns="0" rIns="0" bIns="0" rtlCol="0" anchor="ctr"/>
          <a:lstStyle/>
          <a:p>
            <a:pPr marL="0" indent="0" algn="r">
              <a:buNone/>
            </a:pPr>
            <a:r>
              <a:rPr lang="en-US" sz="750" dirty="0">
                <a:solidFill>
                  <a:srgbClr val="64748B"/>
                </a:solidFill>
              </a:rPr>
              <a:t>ProTech Devices Asia  |  Confidential</a:t>
            </a:r>
            <a:endParaRPr lang="en-US" sz="750" dirty="0"/>
          </a:p>
        </p:txBody>
      </p:sp>
      <p:sp>
        <p:nvSpPr>
          <p:cNvPr id="6" name="Text 4"/>
          <p:cNvSpPr/>
          <p:nvPr/>
        </p:nvSpPr>
        <p:spPr>
          <a:xfrm>
            <a:off x="201168" y="603504"/>
            <a:ext cx="8686800" cy="228600"/>
          </a:xfrm>
          <a:prstGeom prst="rect">
            <a:avLst/>
          </a:prstGeom>
          <a:noFill/>
          <a:ln/>
        </p:spPr>
        <p:txBody>
          <a:bodyPr wrap="square" lIns="0" tIns="0" rIns="0" bIns="0" rtlCol="0" anchor="ctr"/>
          <a:lstStyle/>
          <a:p>
            <a:pPr marL="0" indent="0">
              <a:buNone/>
            </a:pPr>
            <a:r>
              <a:rPr lang="en-US" sz="900" dirty="0">
                <a:solidFill>
                  <a:srgbClr val="64748B"/>
                </a:solidFill>
              </a:rPr>
              <a:t>Performance validated on held-out test data not seen during model training.</a:t>
            </a:r>
            <a:endParaRPr lang="en-US" sz="900" dirty="0"/>
          </a:p>
        </p:txBody>
      </p:sp>
      <p:sp>
        <p:nvSpPr>
          <p:cNvPr id="7" name="Shape 5"/>
          <p:cNvSpPr/>
          <p:nvPr/>
        </p:nvSpPr>
        <p:spPr>
          <a:xfrm>
            <a:off x="201168" y="868680"/>
            <a:ext cx="2057400" cy="13716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201168" y="868680"/>
            <a:ext cx="2057400" cy="73152"/>
          </a:xfrm>
          <a:prstGeom prst="rect">
            <a:avLst/>
          </a:prstGeom>
          <a:solidFill>
            <a:srgbClr val="059669"/>
          </a:solidFill>
          <a:ln/>
        </p:spPr>
        <p:txBody>
          <a:bodyPr/>
          <a:lstStyle/>
          <a:p>
            <a:endParaRPr lang="en-US"/>
          </a:p>
        </p:txBody>
      </p:sp>
      <p:sp>
        <p:nvSpPr>
          <p:cNvPr id="9" name="Text 7"/>
          <p:cNvSpPr/>
          <p:nvPr/>
        </p:nvSpPr>
        <p:spPr>
          <a:xfrm>
            <a:off x="201168" y="978408"/>
            <a:ext cx="2057400" cy="640080"/>
          </a:xfrm>
          <a:prstGeom prst="rect">
            <a:avLst/>
          </a:prstGeom>
          <a:noFill/>
          <a:ln/>
        </p:spPr>
        <p:txBody>
          <a:bodyPr wrap="square" lIns="0" tIns="0" rIns="0" bIns="0" rtlCol="0" anchor="ctr"/>
          <a:lstStyle/>
          <a:p>
            <a:pPr marL="0" indent="0" algn="ctr">
              <a:buNone/>
            </a:pPr>
            <a:r>
              <a:rPr lang="en-US" sz="3000" b="1" dirty="0">
                <a:solidFill>
                  <a:srgbClr val="059669"/>
                </a:solidFill>
              </a:rPr>
              <a:t>79%</a:t>
            </a:r>
            <a:endParaRPr lang="en-US" sz="3000" dirty="0"/>
          </a:p>
        </p:txBody>
      </p:sp>
      <p:sp>
        <p:nvSpPr>
          <p:cNvPr id="10" name="Text 8"/>
          <p:cNvSpPr/>
          <p:nvPr/>
        </p:nvSpPr>
        <p:spPr>
          <a:xfrm>
            <a:off x="201168" y="1636776"/>
            <a:ext cx="2057400" cy="292608"/>
          </a:xfrm>
          <a:prstGeom prst="rect">
            <a:avLst/>
          </a:prstGeom>
          <a:noFill/>
          <a:ln/>
        </p:spPr>
        <p:txBody>
          <a:bodyPr wrap="square" lIns="0" tIns="0" rIns="0" bIns="0" rtlCol="0" anchor="ctr"/>
          <a:lstStyle/>
          <a:p>
            <a:pPr marL="0" indent="0" algn="ctr">
              <a:buNone/>
            </a:pPr>
            <a:r>
              <a:rPr lang="en-US" sz="950" b="1" dirty="0">
                <a:solidFill>
                  <a:srgbClr val="1E293B"/>
                </a:solidFill>
              </a:rPr>
              <a:t>Of fraud claims caught</a:t>
            </a:r>
            <a:endParaRPr lang="en-US" sz="950" dirty="0"/>
          </a:p>
        </p:txBody>
      </p:sp>
      <p:sp>
        <p:nvSpPr>
          <p:cNvPr id="11" name="Text 9"/>
          <p:cNvSpPr/>
          <p:nvPr/>
        </p:nvSpPr>
        <p:spPr>
          <a:xfrm>
            <a:off x="201168" y="1947672"/>
            <a:ext cx="2057400" cy="256032"/>
          </a:xfrm>
          <a:prstGeom prst="rect">
            <a:avLst/>
          </a:prstGeom>
          <a:noFill/>
          <a:ln/>
        </p:spPr>
        <p:txBody>
          <a:bodyPr wrap="square" lIns="0" tIns="0" rIns="0" bIns="0" rtlCol="0" anchor="ctr"/>
          <a:lstStyle/>
          <a:p>
            <a:pPr marL="0" indent="0" algn="ctr">
              <a:buNone/>
            </a:pPr>
            <a:r>
              <a:rPr lang="en-US" sz="800" dirty="0">
                <a:solidFill>
                  <a:srgbClr val="64748B"/>
                </a:solidFill>
              </a:rPr>
              <a:t>At 0.5 score threshold</a:t>
            </a:r>
            <a:endParaRPr lang="en-US" sz="800" dirty="0"/>
          </a:p>
        </p:txBody>
      </p:sp>
      <p:sp>
        <p:nvSpPr>
          <p:cNvPr id="12" name="Shape 10"/>
          <p:cNvSpPr/>
          <p:nvPr/>
        </p:nvSpPr>
        <p:spPr>
          <a:xfrm>
            <a:off x="2414016" y="868680"/>
            <a:ext cx="2057400" cy="13716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3" name="Shape 11"/>
          <p:cNvSpPr/>
          <p:nvPr/>
        </p:nvSpPr>
        <p:spPr>
          <a:xfrm>
            <a:off x="2414016" y="868680"/>
            <a:ext cx="2057400" cy="73152"/>
          </a:xfrm>
          <a:prstGeom prst="rect">
            <a:avLst/>
          </a:prstGeom>
          <a:solidFill>
            <a:srgbClr val="2563EB"/>
          </a:solidFill>
          <a:ln/>
        </p:spPr>
        <p:txBody>
          <a:bodyPr/>
          <a:lstStyle/>
          <a:p>
            <a:endParaRPr lang="en-US"/>
          </a:p>
        </p:txBody>
      </p:sp>
      <p:sp>
        <p:nvSpPr>
          <p:cNvPr id="14" name="Text 12"/>
          <p:cNvSpPr/>
          <p:nvPr/>
        </p:nvSpPr>
        <p:spPr>
          <a:xfrm>
            <a:off x="2414016" y="978408"/>
            <a:ext cx="2057400" cy="640080"/>
          </a:xfrm>
          <a:prstGeom prst="rect">
            <a:avLst/>
          </a:prstGeom>
          <a:noFill/>
          <a:ln/>
        </p:spPr>
        <p:txBody>
          <a:bodyPr wrap="square" lIns="0" tIns="0" rIns="0" bIns="0" rtlCol="0" anchor="ctr"/>
          <a:lstStyle/>
          <a:p>
            <a:pPr marL="0" indent="0" algn="ctr">
              <a:buNone/>
            </a:pPr>
            <a:r>
              <a:rPr lang="en-US" sz="3000" b="1" dirty="0">
                <a:solidFill>
                  <a:srgbClr val="2563EB"/>
                </a:solidFill>
              </a:rPr>
              <a:t>76%</a:t>
            </a:r>
            <a:endParaRPr lang="en-US" sz="3000" dirty="0"/>
          </a:p>
        </p:txBody>
      </p:sp>
      <p:sp>
        <p:nvSpPr>
          <p:cNvPr id="15" name="Text 13"/>
          <p:cNvSpPr/>
          <p:nvPr/>
        </p:nvSpPr>
        <p:spPr>
          <a:xfrm>
            <a:off x="2414016" y="1636776"/>
            <a:ext cx="2057400" cy="292608"/>
          </a:xfrm>
          <a:prstGeom prst="rect">
            <a:avLst/>
          </a:prstGeom>
          <a:noFill/>
          <a:ln/>
        </p:spPr>
        <p:txBody>
          <a:bodyPr wrap="square" lIns="0" tIns="0" rIns="0" bIns="0" rtlCol="0" anchor="ctr"/>
          <a:lstStyle/>
          <a:p>
            <a:pPr marL="0" indent="0" algn="ctr">
              <a:buNone/>
            </a:pPr>
            <a:r>
              <a:rPr lang="en-US" sz="950" b="1" dirty="0">
                <a:solidFill>
                  <a:srgbClr val="1E293B"/>
                </a:solidFill>
              </a:rPr>
              <a:t>Precision on flagged claims</a:t>
            </a:r>
            <a:endParaRPr lang="en-US" sz="950" dirty="0"/>
          </a:p>
        </p:txBody>
      </p:sp>
      <p:sp>
        <p:nvSpPr>
          <p:cNvPr id="16" name="Text 14"/>
          <p:cNvSpPr/>
          <p:nvPr/>
        </p:nvSpPr>
        <p:spPr>
          <a:xfrm>
            <a:off x="2414016" y="1947672"/>
            <a:ext cx="2057400" cy="256032"/>
          </a:xfrm>
          <a:prstGeom prst="rect">
            <a:avLst/>
          </a:prstGeom>
          <a:noFill/>
          <a:ln/>
        </p:spPr>
        <p:txBody>
          <a:bodyPr wrap="square" lIns="0" tIns="0" rIns="0" bIns="0" rtlCol="0" anchor="ctr"/>
          <a:lstStyle/>
          <a:p>
            <a:pPr marL="0" indent="0" algn="ctr">
              <a:buNone/>
            </a:pPr>
            <a:r>
              <a:rPr lang="en-US" sz="800" dirty="0">
                <a:solidFill>
                  <a:srgbClr val="64748B"/>
                </a:solidFill>
              </a:rPr>
              <a:t>1-in-4 flags is a false positive</a:t>
            </a:r>
            <a:endParaRPr lang="en-US" sz="800" dirty="0"/>
          </a:p>
        </p:txBody>
      </p:sp>
      <p:sp>
        <p:nvSpPr>
          <p:cNvPr id="17" name="Shape 15"/>
          <p:cNvSpPr/>
          <p:nvPr/>
        </p:nvSpPr>
        <p:spPr>
          <a:xfrm>
            <a:off x="4626864" y="868680"/>
            <a:ext cx="2057400" cy="13716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8" name="Shape 16"/>
          <p:cNvSpPr/>
          <p:nvPr/>
        </p:nvSpPr>
        <p:spPr>
          <a:xfrm>
            <a:off x="4626864" y="868680"/>
            <a:ext cx="2057400" cy="73152"/>
          </a:xfrm>
          <a:prstGeom prst="rect">
            <a:avLst/>
          </a:prstGeom>
          <a:solidFill>
            <a:srgbClr val="D97706"/>
          </a:solidFill>
          <a:ln/>
        </p:spPr>
        <p:txBody>
          <a:bodyPr/>
          <a:lstStyle/>
          <a:p>
            <a:endParaRPr lang="en-US"/>
          </a:p>
        </p:txBody>
      </p:sp>
      <p:sp>
        <p:nvSpPr>
          <p:cNvPr id="19" name="Text 17"/>
          <p:cNvSpPr/>
          <p:nvPr/>
        </p:nvSpPr>
        <p:spPr>
          <a:xfrm>
            <a:off x="4626864" y="978408"/>
            <a:ext cx="2057400" cy="640080"/>
          </a:xfrm>
          <a:prstGeom prst="rect">
            <a:avLst/>
          </a:prstGeom>
          <a:noFill/>
          <a:ln/>
        </p:spPr>
        <p:txBody>
          <a:bodyPr wrap="square" lIns="0" tIns="0" rIns="0" bIns="0" rtlCol="0" anchor="ctr"/>
          <a:lstStyle/>
          <a:p>
            <a:pPr marL="0" indent="0" algn="ctr">
              <a:buNone/>
            </a:pPr>
            <a:r>
              <a:rPr lang="en-US" sz="3000" b="1" dirty="0">
                <a:solidFill>
                  <a:srgbClr val="D97706"/>
                </a:solidFill>
              </a:rPr>
              <a:t>&lt;5%</a:t>
            </a:r>
            <a:endParaRPr lang="en-US" sz="3000" dirty="0"/>
          </a:p>
        </p:txBody>
      </p:sp>
      <p:sp>
        <p:nvSpPr>
          <p:cNvPr id="20" name="Text 18"/>
          <p:cNvSpPr/>
          <p:nvPr/>
        </p:nvSpPr>
        <p:spPr>
          <a:xfrm>
            <a:off x="4626864" y="1636776"/>
            <a:ext cx="2057400" cy="292608"/>
          </a:xfrm>
          <a:prstGeom prst="rect">
            <a:avLst/>
          </a:prstGeom>
          <a:noFill/>
          <a:ln/>
        </p:spPr>
        <p:txBody>
          <a:bodyPr wrap="square" lIns="0" tIns="0" rIns="0" bIns="0" rtlCol="0" anchor="ctr"/>
          <a:lstStyle/>
          <a:p>
            <a:pPr marL="0" indent="0" algn="ctr">
              <a:buNone/>
            </a:pPr>
            <a:r>
              <a:rPr lang="en-US" sz="950" b="1" dirty="0">
                <a:solidFill>
                  <a:srgbClr val="1E293B"/>
                </a:solidFill>
              </a:rPr>
              <a:t>False positive rate</a:t>
            </a:r>
            <a:endParaRPr lang="en-US" sz="950" dirty="0"/>
          </a:p>
        </p:txBody>
      </p:sp>
      <p:sp>
        <p:nvSpPr>
          <p:cNvPr id="21" name="Text 19"/>
          <p:cNvSpPr/>
          <p:nvPr/>
        </p:nvSpPr>
        <p:spPr>
          <a:xfrm>
            <a:off x="4626864" y="1947672"/>
            <a:ext cx="2057400" cy="256032"/>
          </a:xfrm>
          <a:prstGeom prst="rect">
            <a:avLst/>
          </a:prstGeom>
          <a:noFill/>
          <a:ln/>
        </p:spPr>
        <p:txBody>
          <a:bodyPr wrap="square" lIns="0" tIns="0" rIns="0" bIns="0" rtlCol="0" anchor="ctr"/>
          <a:lstStyle/>
          <a:p>
            <a:pPr marL="0" indent="0" algn="ctr">
              <a:buNone/>
            </a:pPr>
            <a:r>
              <a:rPr lang="en-US" sz="800" dirty="0">
                <a:solidFill>
                  <a:srgbClr val="64748B"/>
                </a:solidFill>
              </a:rPr>
              <a:t>Legitimate claims incorrectly flagged</a:t>
            </a:r>
            <a:endParaRPr lang="en-US" sz="800" dirty="0"/>
          </a:p>
        </p:txBody>
      </p:sp>
      <p:sp>
        <p:nvSpPr>
          <p:cNvPr id="22" name="Shape 20"/>
          <p:cNvSpPr/>
          <p:nvPr/>
        </p:nvSpPr>
        <p:spPr>
          <a:xfrm>
            <a:off x="6839712" y="868680"/>
            <a:ext cx="2057400" cy="13716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3" name="Shape 21"/>
          <p:cNvSpPr/>
          <p:nvPr/>
        </p:nvSpPr>
        <p:spPr>
          <a:xfrm>
            <a:off x="6839712" y="868680"/>
            <a:ext cx="2057400" cy="73152"/>
          </a:xfrm>
          <a:prstGeom prst="rect">
            <a:avLst/>
          </a:prstGeom>
          <a:solidFill>
            <a:srgbClr val="1B3A6B"/>
          </a:solidFill>
          <a:ln/>
        </p:spPr>
        <p:txBody>
          <a:bodyPr/>
          <a:lstStyle/>
          <a:p>
            <a:endParaRPr lang="en-US"/>
          </a:p>
        </p:txBody>
      </p:sp>
      <p:sp>
        <p:nvSpPr>
          <p:cNvPr id="24" name="Text 22"/>
          <p:cNvSpPr/>
          <p:nvPr/>
        </p:nvSpPr>
        <p:spPr>
          <a:xfrm>
            <a:off x="6839712" y="978408"/>
            <a:ext cx="2057400" cy="640080"/>
          </a:xfrm>
          <a:prstGeom prst="rect">
            <a:avLst/>
          </a:prstGeom>
          <a:noFill/>
          <a:ln/>
        </p:spPr>
        <p:txBody>
          <a:bodyPr wrap="square" lIns="0" tIns="0" rIns="0" bIns="0" rtlCol="0" anchor="ctr"/>
          <a:lstStyle/>
          <a:p>
            <a:pPr marL="0" indent="0" algn="ctr">
              <a:buNone/>
            </a:pPr>
            <a:r>
              <a:rPr lang="en-US" sz="3000" b="1" dirty="0">
                <a:solidFill>
                  <a:srgbClr val="1B3A6B"/>
                </a:solidFill>
              </a:rPr>
              <a:t>72%</a:t>
            </a:r>
            <a:endParaRPr lang="en-US" sz="3000" dirty="0"/>
          </a:p>
        </p:txBody>
      </p:sp>
      <p:sp>
        <p:nvSpPr>
          <p:cNvPr id="25" name="Text 23"/>
          <p:cNvSpPr/>
          <p:nvPr/>
        </p:nvSpPr>
        <p:spPr>
          <a:xfrm>
            <a:off x="6839712" y="1636776"/>
            <a:ext cx="2057400" cy="292608"/>
          </a:xfrm>
          <a:prstGeom prst="rect">
            <a:avLst/>
          </a:prstGeom>
          <a:noFill/>
          <a:ln/>
        </p:spPr>
        <p:txBody>
          <a:bodyPr wrap="square" lIns="0" tIns="0" rIns="0" bIns="0" rtlCol="0" anchor="ctr"/>
          <a:lstStyle/>
          <a:p>
            <a:pPr marL="0" indent="0" algn="ctr">
              <a:buNone/>
            </a:pPr>
            <a:r>
              <a:rPr lang="en-US" sz="950" b="1" dirty="0">
                <a:solidFill>
                  <a:srgbClr val="1E293B"/>
                </a:solidFill>
              </a:rPr>
              <a:t>Claims auto-approved (STP)</a:t>
            </a:r>
            <a:endParaRPr lang="en-US" sz="950" dirty="0"/>
          </a:p>
        </p:txBody>
      </p:sp>
      <p:sp>
        <p:nvSpPr>
          <p:cNvPr id="26" name="Text 24"/>
          <p:cNvSpPr/>
          <p:nvPr/>
        </p:nvSpPr>
        <p:spPr>
          <a:xfrm>
            <a:off x="6839712" y="1947672"/>
            <a:ext cx="2057400" cy="256032"/>
          </a:xfrm>
          <a:prstGeom prst="rect">
            <a:avLst/>
          </a:prstGeom>
          <a:noFill/>
          <a:ln/>
        </p:spPr>
        <p:txBody>
          <a:bodyPr wrap="square" lIns="0" tIns="0" rIns="0" bIns="0" rtlCol="0" anchor="ctr"/>
          <a:lstStyle/>
          <a:p>
            <a:pPr marL="0" indent="0" algn="ctr">
              <a:buNone/>
            </a:pPr>
            <a:r>
              <a:rPr lang="en-US" sz="800" dirty="0">
                <a:solidFill>
                  <a:srgbClr val="64748B"/>
                </a:solidFill>
              </a:rPr>
              <a:t>Zero adjuster time required</a:t>
            </a:r>
            <a:endParaRPr lang="en-US" sz="800" dirty="0"/>
          </a:p>
        </p:txBody>
      </p:sp>
      <p:sp>
        <p:nvSpPr>
          <p:cNvPr id="27" name="Text 25"/>
          <p:cNvSpPr/>
          <p:nvPr/>
        </p:nvSpPr>
        <p:spPr>
          <a:xfrm>
            <a:off x="201168" y="2377440"/>
            <a:ext cx="8686800" cy="256032"/>
          </a:xfrm>
          <a:prstGeom prst="rect">
            <a:avLst/>
          </a:prstGeom>
          <a:noFill/>
          <a:ln/>
        </p:spPr>
        <p:txBody>
          <a:bodyPr wrap="square" lIns="0" tIns="0" rIns="0" bIns="0" rtlCol="0" anchor="ctr"/>
          <a:lstStyle/>
          <a:p>
            <a:pPr marL="0" indent="0">
              <a:buNone/>
            </a:pPr>
            <a:r>
              <a:rPr lang="en-US" sz="900" b="1" kern="0" spc="100" dirty="0">
                <a:solidFill>
                  <a:srgbClr val="1B3A6B"/>
                </a:solidFill>
              </a:rPr>
              <a:t>FINANCIAL IMPACT BREAKDOWN</a:t>
            </a:r>
            <a:endParaRPr lang="en-US" sz="900" dirty="0"/>
          </a:p>
        </p:txBody>
      </p:sp>
      <p:sp>
        <p:nvSpPr>
          <p:cNvPr id="28" name="Shape 26"/>
          <p:cNvSpPr/>
          <p:nvPr/>
        </p:nvSpPr>
        <p:spPr>
          <a:xfrm>
            <a:off x="201168" y="2679192"/>
            <a:ext cx="8741664" cy="228600"/>
          </a:xfrm>
          <a:prstGeom prst="rect">
            <a:avLst/>
          </a:prstGeom>
          <a:solidFill>
            <a:srgbClr val="FFFFFF"/>
          </a:solidFill>
          <a:ln/>
        </p:spPr>
        <p:txBody>
          <a:bodyPr/>
          <a:lstStyle/>
          <a:p>
            <a:endParaRPr lang="en-US"/>
          </a:p>
        </p:txBody>
      </p:sp>
      <p:sp>
        <p:nvSpPr>
          <p:cNvPr id="29" name="Text 27"/>
          <p:cNvSpPr/>
          <p:nvPr/>
        </p:nvSpPr>
        <p:spPr>
          <a:xfrm>
            <a:off x="292608" y="2679192"/>
            <a:ext cx="3383280" cy="228600"/>
          </a:xfrm>
          <a:prstGeom prst="rect">
            <a:avLst/>
          </a:prstGeom>
          <a:noFill/>
          <a:ln/>
        </p:spPr>
        <p:txBody>
          <a:bodyPr wrap="square" lIns="0" tIns="0" rIns="0" bIns="0" rtlCol="0" anchor="ctr"/>
          <a:lstStyle/>
          <a:p>
            <a:pPr marL="0" indent="0">
              <a:buNone/>
            </a:pPr>
            <a:r>
              <a:rPr lang="en-US" sz="850" dirty="0">
                <a:solidFill>
                  <a:srgbClr val="1E293B"/>
                </a:solidFill>
              </a:rPr>
              <a:t>Annual claims volume</a:t>
            </a:r>
            <a:endParaRPr lang="en-US" sz="850" dirty="0"/>
          </a:p>
        </p:txBody>
      </p:sp>
      <p:sp>
        <p:nvSpPr>
          <p:cNvPr id="30" name="Text 28"/>
          <p:cNvSpPr/>
          <p:nvPr/>
        </p:nvSpPr>
        <p:spPr>
          <a:xfrm>
            <a:off x="3675888" y="2679192"/>
            <a:ext cx="3383280" cy="228600"/>
          </a:xfrm>
          <a:prstGeom prst="rect">
            <a:avLst/>
          </a:prstGeom>
          <a:noFill/>
          <a:ln/>
        </p:spPr>
        <p:txBody>
          <a:bodyPr wrap="square" lIns="0" tIns="0" rIns="0" bIns="0" rtlCol="0" anchor="ctr"/>
          <a:lstStyle/>
          <a:p>
            <a:pPr marL="0" indent="0">
              <a:buNone/>
            </a:pPr>
            <a:r>
              <a:rPr lang="en-US" sz="850" dirty="0">
                <a:solidFill>
                  <a:srgbClr val="1E293B"/>
                </a:solidFill>
              </a:rPr>
              <a:t>~5,400 claims/year (450/month)</a:t>
            </a:r>
            <a:endParaRPr lang="en-US" sz="850" dirty="0"/>
          </a:p>
        </p:txBody>
      </p:sp>
      <p:sp>
        <p:nvSpPr>
          <p:cNvPr id="31" name="Shape 29"/>
          <p:cNvSpPr/>
          <p:nvPr/>
        </p:nvSpPr>
        <p:spPr>
          <a:xfrm>
            <a:off x="201168" y="2907792"/>
            <a:ext cx="8741664" cy="228600"/>
          </a:xfrm>
          <a:prstGeom prst="rect">
            <a:avLst/>
          </a:prstGeom>
          <a:solidFill>
            <a:srgbClr val="F8FAFC"/>
          </a:solidFill>
          <a:ln/>
        </p:spPr>
        <p:txBody>
          <a:bodyPr/>
          <a:lstStyle/>
          <a:p>
            <a:endParaRPr lang="en-US"/>
          </a:p>
        </p:txBody>
      </p:sp>
      <p:sp>
        <p:nvSpPr>
          <p:cNvPr id="32" name="Text 30"/>
          <p:cNvSpPr/>
          <p:nvPr/>
        </p:nvSpPr>
        <p:spPr>
          <a:xfrm>
            <a:off x="292608" y="2907792"/>
            <a:ext cx="3383280" cy="228600"/>
          </a:xfrm>
          <a:prstGeom prst="rect">
            <a:avLst/>
          </a:prstGeom>
          <a:noFill/>
          <a:ln/>
        </p:spPr>
        <p:txBody>
          <a:bodyPr wrap="square" lIns="0" tIns="0" rIns="0" bIns="0" rtlCol="0" anchor="ctr"/>
          <a:lstStyle/>
          <a:p>
            <a:pPr marL="0" indent="0">
              <a:buNone/>
            </a:pPr>
            <a:r>
              <a:rPr lang="en-US" sz="850" dirty="0">
                <a:solidFill>
                  <a:srgbClr val="1E293B"/>
                </a:solidFill>
              </a:rPr>
              <a:t>Estimated fraud rate</a:t>
            </a:r>
            <a:endParaRPr lang="en-US" sz="850" dirty="0"/>
          </a:p>
        </p:txBody>
      </p:sp>
      <p:sp>
        <p:nvSpPr>
          <p:cNvPr id="33" name="Text 31"/>
          <p:cNvSpPr/>
          <p:nvPr/>
        </p:nvSpPr>
        <p:spPr>
          <a:xfrm>
            <a:off x="3675888" y="2907792"/>
            <a:ext cx="3383280" cy="228600"/>
          </a:xfrm>
          <a:prstGeom prst="rect">
            <a:avLst/>
          </a:prstGeom>
          <a:noFill/>
          <a:ln/>
        </p:spPr>
        <p:txBody>
          <a:bodyPr wrap="square" lIns="0" tIns="0" rIns="0" bIns="0" rtlCol="0" anchor="ctr"/>
          <a:lstStyle/>
          <a:p>
            <a:pPr marL="0" indent="0">
              <a:buNone/>
            </a:pPr>
            <a:r>
              <a:rPr lang="en-US" sz="850" dirty="0">
                <a:solidFill>
                  <a:srgbClr val="1E293B"/>
                </a:solidFill>
              </a:rPr>
              <a:t>8% of claims = 432 fraudulent claims/year</a:t>
            </a:r>
            <a:endParaRPr lang="en-US" sz="850" dirty="0"/>
          </a:p>
        </p:txBody>
      </p:sp>
      <p:sp>
        <p:nvSpPr>
          <p:cNvPr id="34" name="Shape 32"/>
          <p:cNvSpPr/>
          <p:nvPr/>
        </p:nvSpPr>
        <p:spPr>
          <a:xfrm>
            <a:off x="201168" y="3136392"/>
            <a:ext cx="8741664" cy="228600"/>
          </a:xfrm>
          <a:prstGeom prst="rect">
            <a:avLst/>
          </a:prstGeom>
          <a:solidFill>
            <a:srgbClr val="FFFFFF"/>
          </a:solidFill>
          <a:ln/>
        </p:spPr>
        <p:txBody>
          <a:bodyPr/>
          <a:lstStyle/>
          <a:p>
            <a:endParaRPr lang="en-US"/>
          </a:p>
        </p:txBody>
      </p:sp>
      <p:sp>
        <p:nvSpPr>
          <p:cNvPr id="35" name="Text 33"/>
          <p:cNvSpPr/>
          <p:nvPr/>
        </p:nvSpPr>
        <p:spPr>
          <a:xfrm>
            <a:off x="292608" y="3136392"/>
            <a:ext cx="3383280" cy="228600"/>
          </a:xfrm>
          <a:prstGeom prst="rect">
            <a:avLst/>
          </a:prstGeom>
          <a:noFill/>
          <a:ln/>
        </p:spPr>
        <p:txBody>
          <a:bodyPr wrap="square" lIns="0" tIns="0" rIns="0" bIns="0" rtlCol="0" anchor="ctr"/>
          <a:lstStyle/>
          <a:p>
            <a:pPr marL="0" indent="0">
              <a:buNone/>
            </a:pPr>
            <a:r>
              <a:rPr lang="en-US" sz="850" dirty="0">
                <a:solidFill>
                  <a:srgbClr val="1E293B"/>
                </a:solidFill>
              </a:rPr>
              <a:t>Annual fraud exposure (gross)</a:t>
            </a:r>
            <a:endParaRPr lang="en-US" sz="850" dirty="0"/>
          </a:p>
        </p:txBody>
      </p:sp>
      <p:sp>
        <p:nvSpPr>
          <p:cNvPr id="36" name="Text 34"/>
          <p:cNvSpPr/>
          <p:nvPr/>
        </p:nvSpPr>
        <p:spPr>
          <a:xfrm>
            <a:off x="3675888" y="3136392"/>
            <a:ext cx="3383280" cy="228600"/>
          </a:xfrm>
          <a:prstGeom prst="rect">
            <a:avLst/>
          </a:prstGeom>
          <a:noFill/>
          <a:ln/>
        </p:spPr>
        <p:txBody>
          <a:bodyPr wrap="square" lIns="0" tIns="0" rIns="0" bIns="0" rtlCol="0" anchor="ctr"/>
          <a:lstStyle/>
          <a:p>
            <a:pPr marL="0" indent="0">
              <a:buNone/>
            </a:pPr>
            <a:r>
              <a:rPr lang="en-US" sz="850" dirty="0">
                <a:solidFill>
                  <a:srgbClr val="DC2626"/>
                </a:solidFill>
              </a:rPr>
              <a:t>USD 193,600</a:t>
            </a:r>
            <a:endParaRPr lang="en-US" sz="850" dirty="0"/>
          </a:p>
        </p:txBody>
      </p:sp>
      <p:sp>
        <p:nvSpPr>
          <p:cNvPr id="37" name="Shape 35"/>
          <p:cNvSpPr/>
          <p:nvPr/>
        </p:nvSpPr>
        <p:spPr>
          <a:xfrm>
            <a:off x="201168" y="3364992"/>
            <a:ext cx="8741664" cy="228600"/>
          </a:xfrm>
          <a:prstGeom prst="rect">
            <a:avLst/>
          </a:prstGeom>
          <a:solidFill>
            <a:srgbClr val="F8FAFC"/>
          </a:solidFill>
          <a:ln/>
        </p:spPr>
        <p:txBody>
          <a:bodyPr/>
          <a:lstStyle/>
          <a:p>
            <a:endParaRPr lang="en-US"/>
          </a:p>
        </p:txBody>
      </p:sp>
      <p:sp>
        <p:nvSpPr>
          <p:cNvPr id="38" name="Text 36"/>
          <p:cNvSpPr/>
          <p:nvPr/>
        </p:nvSpPr>
        <p:spPr>
          <a:xfrm>
            <a:off x="292608" y="3364992"/>
            <a:ext cx="3383280" cy="228600"/>
          </a:xfrm>
          <a:prstGeom prst="rect">
            <a:avLst/>
          </a:prstGeom>
          <a:noFill/>
          <a:ln/>
        </p:spPr>
        <p:txBody>
          <a:bodyPr wrap="square" lIns="0" tIns="0" rIns="0" bIns="0" rtlCol="0" anchor="ctr"/>
          <a:lstStyle/>
          <a:p>
            <a:pPr marL="0" indent="0">
              <a:buNone/>
            </a:pPr>
            <a:r>
              <a:rPr lang="en-US" sz="850" dirty="0">
                <a:solidFill>
                  <a:srgbClr val="1E293B"/>
                </a:solidFill>
              </a:rPr>
              <a:t>Fraud caught by model (79% recall × 432)</a:t>
            </a:r>
            <a:endParaRPr lang="en-US" sz="850" dirty="0"/>
          </a:p>
        </p:txBody>
      </p:sp>
      <p:sp>
        <p:nvSpPr>
          <p:cNvPr id="39" name="Text 37"/>
          <p:cNvSpPr/>
          <p:nvPr/>
        </p:nvSpPr>
        <p:spPr>
          <a:xfrm>
            <a:off x="3675888" y="3364992"/>
            <a:ext cx="3383280" cy="228600"/>
          </a:xfrm>
          <a:prstGeom prst="rect">
            <a:avLst/>
          </a:prstGeom>
          <a:noFill/>
          <a:ln/>
        </p:spPr>
        <p:txBody>
          <a:bodyPr wrap="square" lIns="0" tIns="0" rIns="0" bIns="0" rtlCol="0" anchor="ctr"/>
          <a:lstStyle/>
          <a:p>
            <a:pPr marL="0" indent="0">
              <a:buNone/>
            </a:pPr>
            <a:r>
              <a:rPr lang="en-US" sz="850" dirty="0">
                <a:solidFill>
                  <a:srgbClr val="059669"/>
                </a:solidFill>
              </a:rPr>
              <a:t>341 fraudulent claims detected</a:t>
            </a:r>
            <a:endParaRPr lang="en-US" sz="850" dirty="0"/>
          </a:p>
        </p:txBody>
      </p:sp>
      <p:sp>
        <p:nvSpPr>
          <p:cNvPr id="40" name="Shape 38"/>
          <p:cNvSpPr/>
          <p:nvPr/>
        </p:nvSpPr>
        <p:spPr>
          <a:xfrm>
            <a:off x="201168" y="3593592"/>
            <a:ext cx="8741664" cy="228600"/>
          </a:xfrm>
          <a:prstGeom prst="rect">
            <a:avLst/>
          </a:prstGeom>
          <a:solidFill>
            <a:srgbClr val="FFFFFF"/>
          </a:solidFill>
          <a:ln/>
        </p:spPr>
        <p:txBody>
          <a:bodyPr/>
          <a:lstStyle/>
          <a:p>
            <a:endParaRPr lang="en-US"/>
          </a:p>
        </p:txBody>
      </p:sp>
      <p:sp>
        <p:nvSpPr>
          <p:cNvPr id="41" name="Text 39"/>
          <p:cNvSpPr/>
          <p:nvPr/>
        </p:nvSpPr>
        <p:spPr>
          <a:xfrm>
            <a:off x="292608" y="3593592"/>
            <a:ext cx="3383280" cy="228600"/>
          </a:xfrm>
          <a:prstGeom prst="rect">
            <a:avLst/>
          </a:prstGeom>
          <a:noFill/>
          <a:ln/>
        </p:spPr>
        <p:txBody>
          <a:bodyPr wrap="square" lIns="0" tIns="0" rIns="0" bIns="0" rtlCol="0" anchor="ctr"/>
          <a:lstStyle/>
          <a:p>
            <a:pPr marL="0" indent="0">
              <a:buNone/>
            </a:pPr>
            <a:r>
              <a:rPr lang="en-US" sz="850" dirty="0">
                <a:solidFill>
                  <a:srgbClr val="1E293B"/>
                </a:solidFill>
              </a:rPr>
              <a:t>Fraudulent payouts prevented</a:t>
            </a:r>
            <a:endParaRPr lang="en-US" sz="850" dirty="0"/>
          </a:p>
        </p:txBody>
      </p:sp>
      <p:sp>
        <p:nvSpPr>
          <p:cNvPr id="42" name="Text 40"/>
          <p:cNvSpPr/>
          <p:nvPr/>
        </p:nvSpPr>
        <p:spPr>
          <a:xfrm>
            <a:off x="3675888" y="3593592"/>
            <a:ext cx="3383280" cy="228600"/>
          </a:xfrm>
          <a:prstGeom prst="rect">
            <a:avLst/>
          </a:prstGeom>
          <a:noFill/>
          <a:ln/>
        </p:spPr>
        <p:txBody>
          <a:bodyPr wrap="square" lIns="0" tIns="0" rIns="0" bIns="0" rtlCol="0" anchor="ctr"/>
          <a:lstStyle/>
          <a:p>
            <a:pPr marL="0" indent="0">
              <a:buNone/>
            </a:pPr>
            <a:r>
              <a:rPr lang="en-US" sz="850" dirty="0">
                <a:solidFill>
                  <a:srgbClr val="059669"/>
                </a:solidFill>
              </a:rPr>
              <a:t>341 × USD 448 avg. = USD 152,700</a:t>
            </a:r>
            <a:endParaRPr lang="en-US" sz="850" dirty="0"/>
          </a:p>
        </p:txBody>
      </p:sp>
      <p:sp>
        <p:nvSpPr>
          <p:cNvPr id="43" name="Shape 41"/>
          <p:cNvSpPr/>
          <p:nvPr/>
        </p:nvSpPr>
        <p:spPr>
          <a:xfrm>
            <a:off x="201168" y="3822192"/>
            <a:ext cx="8741664" cy="228600"/>
          </a:xfrm>
          <a:prstGeom prst="rect">
            <a:avLst/>
          </a:prstGeom>
          <a:solidFill>
            <a:srgbClr val="F8FAFC"/>
          </a:solidFill>
          <a:ln/>
        </p:spPr>
        <p:txBody>
          <a:bodyPr/>
          <a:lstStyle/>
          <a:p>
            <a:endParaRPr lang="en-US"/>
          </a:p>
        </p:txBody>
      </p:sp>
      <p:sp>
        <p:nvSpPr>
          <p:cNvPr id="44" name="Text 42"/>
          <p:cNvSpPr/>
          <p:nvPr/>
        </p:nvSpPr>
        <p:spPr>
          <a:xfrm>
            <a:off x="292608" y="3822192"/>
            <a:ext cx="3383280" cy="228600"/>
          </a:xfrm>
          <a:prstGeom prst="rect">
            <a:avLst/>
          </a:prstGeom>
          <a:noFill/>
          <a:ln/>
        </p:spPr>
        <p:txBody>
          <a:bodyPr wrap="square" lIns="0" tIns="0" rIns="0" bIns="0" rtlCol="0" anchor="ctr"/>
          <a:lstStyle/>
          <a:p>
            <a:pPr marL="0" indent="0">
              <a:buNone/>
            </a:pPr>
            <a:r>
              <a:rPr lang="en-US" sz="850" dirty="0">
                <a:solidFill>
                  <a:srgbClr val="1E293B"/>
                </a:solidFill>
              </a:rPr>
              <a:t>False positive re-review cost</a:t>
            </a:r>
            <a:endParaRPr lang="en-US" sz="850" dirty="0"/>
          </a:p>
        </p:txBody>
      </p:sp>
      <p:sp>
        <p:nvSpPr>
          <p:cNvPr id="45" name="Text 43"/>
          <p:cNvSpPr/>
          <p:nvPr/>
        </p:nvSpPr>
        <p:spPr>
          <a:xfrm>
            <a:off x="3675888" y="3822192"/>
            <a:ext cx="3383280" cy="228600"/>
          </a:xfrm>
          <a:prstGeom prst="rect">
            <a:avLst/>
          </a:prstGeom>
          <a:noFill/>
          <a:ln/>
        </p:spPr>
        <p:txBody>
          <a:bodyPr wrap="square" lIns="0" tIns="0" rIns="0" bIns="0" rtlCol="0" anchor="ctr"/>
          <a:lstStyle/>
          <a:p>
            <a:pPr marL="0" indent="0">
              <a:buNone/>
            </a:pPr>
            <a:r>
              <a:rPr lang="en-US" sz="850" dirty="0">
                <a:solidFill>
                  <a:srgbClr val="D97706"/>
                </a:solidFill>
              </a:rPr>
              <a:t>108 extra reviews × USD 25 = USD 2,700</a:t>
            </a:r>
            <a:endParaRPr lang="en-US" sz="850" dirty="0"/>
          </a:p>
        </p:txBody>
      </p:sp>
      <p:sp>
        <p:nvSpPr>
          <p:cNvPr id="46" name="Shape 44"/>
          <p:cNvSpPr/>
          <p:nvPr/>
        </p:nvSpPr>
        <p:spPr>
          <a:xfrm>
            <a:off x="201168" y="4050792"/>
            <a:ext cx="8741664" cy="228600"/>
          </a:xfrm>
          <a:prstGeom prst="rect">
            <a:avLst/>
          </a:prstGeom>
          <a:solidFill>
            <a:srgbClr val="D1FAE5"/>
          </a:solidFill>
          <a:ln/>
        </p:spPr>
        <p:txBody>
          <a:bodyPr/>
          <a:lstStyle/>
          <a:p>
            <a:endParaRPr lang="en-US"/>
          </a:p>
        </p:txBody>
      </p:sp>
      <p:sp>
        <p:nvSpPr>
          <p:cNvPr id="47" name="Text 45"/>
          <p:cNvSpPr/>
          <p:nvPr/>
        </p:nvSpPr>
        <p:spPr>
          <a:xfrm>
            <a:off x="292608" y="4050792"/>
            <a:ext cx="3383280" cy="228600"/>
          </a:xfrm>
          <a:prstGeom prst="rect">
            <a:avLst/>
          </a:prstGeom>
          <a:noFill/>
          <a:ln/>
        </p:spPr>
        <p:txBody>
          <a:bodyPr wrap="square" lIns="0" tIns="0" rIns="0" bIns="0" rtlCol="0" anchor="ctr"/>
          <a:lstStyle/>
          <a:p>
            <a:pPr marL="0" indent="0">
              <a:buNone/>
            </a:pPr>
            <a:r>
              <a:rPr lang="en-US" sz="850" b="1" dirty="0">
                <a:solidFill>
                  <a:srgbClr val="1E293B"/>
                </a:solidFill>
              </a:rPr>
              <a:t>Net annual fraud savings</a:t>
            </a:r>
            <a:endParaRPr lang="en-US" sz="850" dirty="0"/>
          </a:p>
        </p:txBody>
      </p:sp>
      <p:sp>
        <p:nvSpPr>
          <p:cNvPr id="48" name="Text 46"/>
          <p:cNvSpPr/>
          <p:nvPr/>
        </p:nvSpPr>
        <p:spPr>
          <a:xfrm>
            <a:off x="3675888" y="4050792"/>
            <a:ext cx="3383280" cy="228600"/>
          </a:xfrm>
          <a:prstGeom prst="rect">
            <a:avLst/>
          </a:prstGeom>
          <a:noFill/>
          <a:ln/>
        </p:spPr>
        <p:txBody>
          <a:bodyPr wrap="square" lIns="0" tIns="0" rIns="0" bIns="0" rtlCol="0" anchor="ctr"/>
          <a:lstStyle/>
          <a:p>
            <a:pPr marL="0" indent="0">
              <a:buNone/>
            </a:pPr>
            <a:r>
              <a:rPr lang="en-US" sz="850" b="1" dirty="0">
                <a:solidFill>
                  <a:srgbClr val="059669"/>
                </a:solidFill>
              </a:rPr>
              <a:t>USD 150,000</a:t>
            </a:r>
            <a:endParaRPr lang="en-US" sz="850" dirty="0"/>
          </a:p>
        </p:txBody>
      </p:sp>
      <p:sp>
        <p:nvSpPr>
          <p:cNvPr id="49" name="Shape 47"/>
          <p:cNvSpPr/>
          <p:nvPr/>
        </p:nvSpPr>
        <p:spPr>
          <a:xfrm>
            <a:off x="201168" y="4050792"/>
            <a:ext cx="54864" cy="228600"/>
          </a:xfrm>
          <a:prstGeom prst="rect">
            <a:avLst/>
          </a:prstGeom>
          <a:solidFill>
            <a:srgbClr val="059669"/>
          </a:solidFill>
          <a:ln/>
        </p:spPr>
        <p:txBody>
          <a:bodyPr/>
          <a:lstStyle/>
          <a:p>
            <a:endParaRPr lang="en-US"/>
          </a:p>
        </p:txBody>
      </p:sp>
      <p:sp>
        <p:nvSpPr>
          <p:cNvPr id="50" name="Shape 48"/>
          <p:cNvSpPr/>
          <p:nvPr/>
        </p:nvSpPr>
        <p:spPr>
          <a:xfrm>
            <a:off x="201168" y="4279392"/>
            <a:ext cx="8741664" cy="228600"/>
          </a:xfrm>
          <a:prstGeom prst="rect">
            <a:avLst/>
          </a:prstGeom>
          <a:solidFill>
            <a:srgbClr val="F8FAFC"/>
          </a:solidFill>
          <a:ln/>
        </p:spPr>
        <p:txBody>
          <a:bodyPr/>
          <a:lstStyle/>
          <a:p>
            <a:endParaRPr lang="en-US"/>
          </a:p>
        </p:txBody>
      </p:sp>
      <p:sp>
        <p:nvSpPr>
          <p:cNvPr id="51" name="Text 49"/>
          <p:cNvSpPr/>
          <p:nvPr/>
        </p:nvSpPr>
        <p:spPr>
          <a:xfrm>
            <a:off x="292608" y="4279392"/>
            <a:ext cx="3383280" cy="228600"/>
          </a:xfrm>
          <a:prstGeom prst="rect">
            <a:avLst/>
          </a:prstGeom>
          <a:noFill/>
          <a:ln/>
        </p:spPr>
        <p:txBody>
          <a:bodyPr wrap="square" lIns="0" tIns="0" rIns="0" bIns="0" rtlCol="0" anchor="ctr"/>
          <a:lstStyle/>
          <a:p>
            <a:pPr marL="0" indent="0">
              <a:buNone/>
            </a:pPr>
            <a:r>
              <a:rPr lang="en-US" sz="850" dirty="0">
                <a:solidFill>
                  <a:srgbClr val="1E293B"/>
                </a:solidFill>
              </a:rPr>
              <a:t>Model development (one-time)</a:t>
            </a:r>
            <a:endParaRPr lang="en-US" sz="850" dirty="0"/>
          </a:p>
        </p:txBody>
      </p:sp>
      <p:sp>
        <p:nvSpPr>
          <p:cNvPr id="52" name="Text 50"/>
          <p:cNvSpPr/>
          <p:nvPr/>
        </p:nvSpPr>
        <p:spPr>
          <a:xfrm>
            <a:off x="3675888" y="4279392"/>
            <a:ext cx="3383280" cy="228600"/>
          </a:xfrm>
          <a:prstGeom prst="rect">
            <a:avLst/>
          </a:prstGeom>
          <a:noFill/>
          <a:ln/>
        </p:spPr>
        <p:txBody>
          <a:bodyPr wrap="square" lIns="0" tIns="0" rIns="0" bIns="0" rtlCol="0" anchor="ctr"/>
          <a:lstStyle/>
          <a:p>
            <a:pPr marL="0" indent="0">
              <a:buNone/>
            </a:pPr>
            <a:r>
              <a:rPr lang="en-US" sz="850" dirty="0">
                <a:solidFill>
                  <a:srgbClr val="1B3A6B"/>
                </a:solidFill>
              </a:rPr>
              <a:t>USD 35,000</a:t>
            </a:r>
            <a:endParaRPr lang="en-US" sz="850" dirty="0"/>
          </a:p>
        </p:txBody>
      </p:sp>
      <p:sp>
        <p:nvSpPr>
          <p:cNvPr id="53" name="Shape 51"/>
          <p:cNvSpPr/>
          <p:nvPr/>
        </p:nvSpPr>
        <p:spPr>
          <a:xfrm>
            <a:off x="201168" y="4507992"/>
            <a:ext cx="8741664" cy="228600"/>
          </a:xfrm>
          <a:prstGeom prst="rect">
            <a:avLst/>
          </a:prstGeom>
          <a:solidFill>
            <a:srgbClr val="FFFFFF"/>
          </a:solidFill>
          <a:ln/>
        </p:spPr>
        <p:txBody>
          <a:bodyPr/>
          <a:lstStyle/>
          <a:p>
            <a:endParaRPr lang="en-US"/>
          </a:p>
        </p:txBody>
      </p:sp>
      <p:sp>
        <p:nvSpPr>
          <p:cNvPr id="54" name="Text 52"/>
          <p:cNvSpPr/>
          <p:nvPr/>
        </p:nvSpPr>
        <p:spPr>
          <a:xfrm>
            <a:off x="292608" y="4507992"/>
            <a:ext cx="3383280" cy="228600"/>
          </a:xfrm>
          <a:prstGeom prst="rect">
            <a:avLst/>
          </a:prstGeom>
          <a:noFill/>
          <a:ln/>
        </p:spPr>
        <p:txBody>
          <a:bodyPr wrap="square" lIns="0" tIns="0" rIns="0" bIns="0" rtlCol="0" anchor="ctr"/>
          <a:lstStyle/>
          <a:p>
            <a:pPr marL="0" indent="0">
              <a:buNone/>
            </a:pPr>
            <a:r>
              <a:rPr lang="en-US" sz="850" dirty="0">
                <a:solidFill>
                  <a:srgbClr val="1E293B"/>
                </a:solidFill>
              </a:rPr>
              <a:t>Annual maintenance</a:t>
            </a:r>
            <a:endParaRPr lang="en-US" sz="850" dirty="0"/>
          </a:p>
        </p:txBody>
      </p:sp>
      <p:sp>
        <p:nvSpPr>
          <p:cNvPr id="55" name="Text 53"/>
          <p:cNvSpPr/>
          <p:nvPr/>
        </p:nvSpPr>
        <p:spPr>
          <a:xfrm>
            <a:off x="3675888" y="4507992"/>
            <a:ext cx="3383280" cy="228600"/>
          </a:xfrm>
          <a:prstGeom prst="rect">
            <a:avLst/>
          </a:prstGeom>
          <a:noFill/>
          <a:ln/>
        </p:spPr>
        <p:txBody>
          <a:bodyPr wrap="square" lIns="0" tIns="0" rIns="0" bIns="0" rtlCol="0" anchor="ctr"/>
          <a:lstStyle/>
          <a:p>
            <a:pPr marL="0" indent="0">
              <a:buNone/>
            </a:pPr>
            <a:r>
              <a:rPr lang="en-US" sz="850" dirty="0">
                <a:solidFill>
                  <a:srgbClr val="1B3A6B"/>
                </a:solidFill>
              </a:rPr>
              <a:t>USD 8,000/year</a:t>
            </a:r>
            <a:endParaRPr lang="en-US" sz="850" dirty="0"/>
          </a:p>
        </p:txBody>
      </p:sp>
      <p:sp>
        <p:nvSpPr>
          <p:cNvPr id="56" name="Shape 54"/>
          <p:cNvSpPr/>
          <p:nvPr/>
        </p:nvSpPr>
        <p:spPr>
          <a:xfrm>
            <a:off x="201168" y="4736592"/>
            <a:ext cx="8741664" cy="228600"/>
          </a:xfrm>
          <a:prstGeom prst="rect">
            <a:avLst/>
          </a:prstGeom>
          <a:solidFill>
            <a:srgbClr val="D1FAE5"/>
          </a:solidFill>
          <a:ln/>
        </p:spPr>
        <p:txBody>
          <a:bodyPr/>
          <a:lstStyle/>
          <a:p>
            <a:endParaRPr lang="en-US"/>
          </a:p>
        </p:txBody>
      </p:sp>
      <p:sp>
        <p:nvSpPr>
          <p:cNvPr id="57" name="Text 55"/>
          <p:cNvSpPr/>
          <p:nvPr/>
        </p:nvSpPr>
        <p:spPr>
          <a:xfrm>
            <a:off x="292608" y="4736592"/>
            <a:ext cx="3383280" cy="228600"/>
          </a:xfrm>
          <a:prstGeom prst="rect">
            <a:avLst/>
          </a:prstGeom>
          <a:noFill/>
          <a:ln/>
        </p:spPr>
        <p:txBody>
          <a:bodyPr wrap="square" lIns="0" tIns="0" rIns="0" bIns="0" rtlCol="0" anchor="ctr"/>
          <a:lstStyle/>
          <a:p>
            <a:pPr marL="0" indent="0">
              <a:buNone/>
            </a:pPr>
            <a:r>
              <a:rPr lang="en-US" sz="850" b="1" dirty="0">
                <a:solidFill>
                  <a:srgbClr val="1E293B"/>
                </a:solidFill>
              </a:rPr>
              <a:t>Year 1 Net Benefit</a:t>
            </a:r>
            <a:endParaRPr lang="en-US" sz="850" dirty="0"/>
          </a:p>
        </p:txBody>
      </p:sp>
      <p:sp>
        <p:nvSpPr>
          <p:cNvPr id="58" name="Text 56"/>
          <p:cNvSpPr/>
          <p:nvPr/>
        </p:nvSpPr>
        <p:spPr>
          <a:xfrm>
            <a:off x="3675888" y="4736592"/>
            <a:ext cx="3383280" cy="228600"/>
          </a:xfrm>
          <a:prstGeom prst="rect">
            <a:avLst/>
          </a:prstGeom>
          <a:noFill/>
          <a:ln/>
        </p:spPr>
        <p:txBody>
          <a:bodyPr wrap="square" lIns="0" tIns="0" rIns="0" bIns="0" rtlCol="0" anchor="ctr"/>
          <a:lstStyle/>
          <a:p>
            <a:pPr marL="0" indent="0">
              <a:buNone/>
            </a:pPr>
            <a:r>
              <a:rPr lang="en-US" sz="850" b="1" dirty="0">
                <a:solidFill>
                  <a:srgbClr val="059669"/>
                </a:solidFill>
              </a:rPr>
              <a:t>USD 107,000  (ROI: 304%)</a:t>
            </a:r>
            <a:endParaRPr lang="en-US" sz="850" dirty="0"/>
          </a:p>
        </p:txBody>
      </p:sp>
      <p:sp>
        <p:nvSpPr>
          <p:cNvPr id="59" name="Shape 57"/>
          <p:cNvSpPr/>
          <p:nvPr/>
        </p:nvSpPr>
        <p:spPr>
          <a:xfrm>
            <a:off x="201168" y="4736592"/>
            <a:ext cx="54864" cy="228600"/>
          </a:xfrm>
          <a:prstGeom prst="rect">
            <a:avLst/>
          </a:prstGeom>
          <a:solidFill>
            <a:srgbClr val="059669"/>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p:spPr>
        <p:txBody>
          <a:bodyPr/>
          <a:lstStyle/>
          <a:p>
            <a:endParaRPr lang="en-US"/>
          </a:p>
        </p:txBody>
      </p:sp>
      <p:sp>
        <p:nvSpPr>
          <p:cNvPr id="3" name="Shape 1"/>
          <p:cNvSpPr/>
          <p:nvPr/>
        </p:nvSpPr>
        <p:spPr>
          <a:xfrm>
            <a:off x="0" y="512064"/>
            <a:ext cx="9144000" cy="54864"/>
          </a:xfrm>
          <a:prstGeom prst="rect">
            <a:avLst/>
          </a:prstGeom>
          <a:solidFill>
            <a:srgbClr val="2563EB"/>
          </a:solidFill>
          <a:ln/>
        </p:spPr>
        <p:txBody>
          <a:bodyPr/>
          <a:lstStyle/>
          <a:p>
            <a:endParaRPr lang="en-US"/>
          </a:p>
        </p:txBody>
      </p:sp>
      <p:sp>
        <p:nvSpPr>
          <p:cNvPr id="4" name="Text 2"/>
          <p:cNvSpPr/>
          <p:nvPr/>
        </p:nvSpPr>
        <p:spPr>
          <a:xfrm>
            <a:off x="320040" y="54864"/>
            <a:ext cx="8321040" cy="438912"/>
          </a:xfrm>
          <a:prstGeom prst="rect">
            <a:avLst/>
          </a:prstGeom>
          <a:noFill/>
          <a:ln/>
        </p:spPr>
        <p:txBody>
          <a:bodyPr wrap="square" lIns="0" tIns="0" rIns="0" bIns="0" rtlCol="0" anchor="ctr"/>
          <a:lstStyle/>
          <a:p>
            <a:pPr marL="0" indent="0">
              <a:buNone/>
            </a:pPr>
            <a:r>
              <a:rPr lang="en-US" sz="1600" b="1" dirty="0">
                <a:solidFill>
                  <a:srgbClr val="FFFFFF"/>
                </a:solidFill>
              </a:rPr>
              <a:t>Risk Management, Is the AI Fair to Our Customers?</a:t>
            </a:r>
            <a:endParaRPr lang="en-US" sz="1600" dirty="0"/>
          </a:p>
        </p:txBody>
      </p:sp>
      <p:sp>
        <p:nvSpPr>
          <p:cNvPr id="5" name="Text 3"/>
          <p:cNvSpPr/>
          <p:nvPr/>
        </p:nvSpPr>
        <p:spPr>
          <a:xfrm>
            <a:off x="320040" y="4919472"/>
            <a:ext cx="8503920" cy="201168"/>
          </a:xfrm>
          <a:prstGeom prst="rect">
            <a:avLst/>
          </a:prstGeom>
          <a:noFill/>
          <a:ln/>
        </p:spPr>
        <p:txBody>
          <a:bodyPr wrap="square" lIns="0" tIns="0" rIns="0" bIns="0" rtlCol="0" anchor="ctr"/>
          <a:lstStyle/>
          <a:p>
            <a:pPr marL="0" indent="0" algn="r">
              <a:buNone/>
            </a:pPr>
            <a:r>
              <a:rPr lang="en-US" sz="750" dirty="0">
                <a:solidFill>
                  <a:srgbClr val="64748B"/>
                </a:solidFill>
              </a:rPr>
              <a:t>ProTech Devices Asia  |  Confidential</a:t>
            </a:r>
            <a:endParaRPr lang="en-US" sz="750" dirty="0"/>
          </a:p>
        </p:txBody>
      </p:sp>
      <p:sp>
        <p:nvSpPr>
          <p:cNvPr id="6" name="Text 4"/>
          <p:cNvSpPr/>
          <p:nvPr/>
        </p:nvSpPr>
        <p:spPr>
          <a:xfrm>
            <a:off x="201168" y="621792"/>
            <a:ext cx="8741664" cy="256032"/>
          </a:xfrm>
          <a:prstGeom prst="rect">
            <a:avLst/>
          </a:prstGeom>
          <a:noFill/>
          <a:ln/>
        </p:spPr>
        <p:txBody>
          <a:bodyPr wrap="square" lIns="0" tIns="0" rIns="0" bIns="0" rtlCol="0" anchor="ctr"/>
          <a:lstStyle/>
          <a:p>
            <a:pPr marL="0" indent="0">
              <a:buNone/>
            </a:pPr>
            <a:r>
              <a:rPr lang="en-US" sz="950" dirty="0">
                <a:solidFill>
                  <a:srgbClr val="1B3A6B"/>
                </a:solidFill>
              </a:rPr>
              <a:t>Before any AI system touches our customers, we need to answer two questions: Is it accurate? And is it fair?</a:t>
            </a:r>
            <a:endParaRPr lang="en-US" sz="950" dirty="0"/>
          </a:p>
        </p:txBody>
      </p:sp>
      <p:sp>
        <p:nvSpPr>
          <p:cNvPr id="7" name="Shape 5"/>
          <p:cNvSpPr/>
          <p:nvPr/>
        </p:nvSpPr>
        <p:spPr>
          <a:xfrm>
            <a:off x="201168" y="932688"/>
            <a:ext cx="5303520" cy="3063240"/>
          </a:xfrm>
          <a:prstGeom prst="rect">
            <a:avLst/>
          </a:prstGeom>
          <a:solidFill>
            <a:srgbClr val="D1FAE5"/>
          </a:solidFill>
          <a:ln/>
        </p:spPr>
        <p:txBody>
          <a:bodyPr/>
          <a:lstStyle/>
          <a:p>
            <a:endParaRPr lang="en-US"/>
          </a:p>
        </p:txBody>
      </p:sp>
      <p:sp>
        <p:nvSpPr>
          <p:cNvPr id="8" name="Shape 6"/>
          <p:cNvSpPr/>
          <p:nvPr/>
        </p:nvSpPr>
        <p:spPr>
          <a:xfrm>
            <a:off x="201168" y="932688"/>
            <a:ext cx="5303520" cy="64008"/>
          </a:xfrm>
          <a:prstGeom prst="rect">
            <a:avLst/>
          </a:prstGeom>
          <a:solidFill>
            <a:srgbClr val="059669"/>
          </a:solidFill>
          <a:ln/>
        </p:spPr>
        <p:txBody>
          <a:bodyPr/>
          <a:lstStyle/>
          <a:p>
            <a:endParaRPr lang="en-US"/>
          </a:p>
        </p:txBody>
      </p:sp>
      <p:sp>
        <p:nvSpPr>
          <p:cNvPr id="9" name="Text 7"/>
          <p:cNvSpPr/>
          <p:nvPr/>
        </p:nvSpPr>
        <p:spPr>
          <a:xfrm>
            <a:off x="320040" y="1024128"/>
            <a:ext cx="5074920" cy="256032"/>
          </a:xfrm>
          <a:prstGeom prst="rect">
            <a:avLst/>
          </a:prstGeom>
          <a:noFill/>
          <a:ln/>
        </p:spPr>
        <p:txBody>
          <a:bodyPr wrap="square" lIns="0" tIns="0" rIns="0" bIns="0" rtlCol="0" anchor="ctr"/>
          <a:lstStyle/>
          <a:p>
            <a:pPr marL="0" indent="0">
              <a:buNone/>
            </a:pPr>
            <a:r>
              <a:rPr lang="en-US" sz="900" b="1" kern="0" spc="100" dirty="0">
                <a:solidFill>
                  <a:srgbClr val="059669"/>
                </a:solidFill>
              </a:rPr>
              <a:t>THE FAIRNESS AUDIT RESULTS</a:t>
            </a:r>
            <a:endParaRPr lang="en-US" sz="900" dirty="0"/>
          </a:p>
        </p:txBody>
      </p:sp>
      <p:sp>
        <p:nvSpPr>
          <p:cNvPr id="10" name="Shape 8"/>
          <p:cNvSpPr/>
          <p:nvPr/>
        </p:nvSpPr>
        <p:spPr>
          <a:xfrm>
            <a:off x="320040" y="1353312"/>
            <a:ext cx="5047488" cy="603504"/>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1" name="Shape 9"/>
          <p:cNvSpPr/>
          <p:nvPr/>
        </p:nvSpPr>
        <p:spPr>
          <a:xfrm>
            <a:off x="4434840" y="1426464"/>
            <a:ext cx="822960" cy="256032"/>
          </a:xfrm>
          <a:prstGeom prst="rect">
            <a:avLst/>
          </a:prstGeom>
          <a:solidFill>
            <a:srgbClr val="059669"/>
          </a:solidFill>
          <a:ln/>
        </p:spPr>
        <p:txBody>
          <a:bodyPr/>
          <a:lstStyle/>
          <a:p>
            <a:endParaRPr lang="en-US"/>
          </a:p>
        </p:txBody>
      </p:sp>
      <p:sp>
        <p:nvSpPr>
          <p:cNvPr id="12" name="Text 10"/>
          <p:cNvSpPr/>
          <p:nvPr/>
        </p:nvSpPr>
        <p:spPr>
          <a:xfrm>
            <a:off x="4434840" y="1426464"/>
            <a:ext cx="822960" cy="256032"/>
          </a:xfrm>
          <a:prstGeom prst="rect">
            <a:avLst/>
          </a:prstGeom>
          <a:noFill/>
          <a:ln/>
        </p:spPr>
        <p:txBody>
          <a:bodyPr wrap="square" lIns="0" tIns="0" rIns="0" bIns="0" rtlCol="0" anchor="ctr"/>
          <a:lstStyle/>
          <a:p>
            <a:pPr marL="0" indent="0" algn="ctr">
              <a:buNone/>
            </a:pPr>
            <a:r>
              <a:rPr lang="en-US" sz="750" b="1" dirty="0">
                <a:solidFill>
                  <a:srgbClr val="FFFFFF"/>
                </a:solidFill>
              </a:rPr>
              <a:t>PASS</a:t>
            </a:r>
            <a:endParaRPr lang="en-US" sz="750" dirty="0"/>
          </a:p>
        </p:txBody>
      </p:sp>
      <p:sp>
        <p:nvSpPr>
          <p:cNvPr id="13" name="Text 11"/>
          <p:cNvSpPr/>
          <p:nvPr/>
        </p:nvSpPr>
        <p:spPr>
          <a:xfrm>
            <a:off x="429768" y="1389888"/>
            <a:ext cx="3931920" cy="237744"/>
          </a:xfrm>
          <a:prstGeom prst="rect">
            <a:avLst/>
          </a:prstGeom>
          <a:noFill/>
          <a:ln/>
        </p:spPr>
        <p:txBody>
          <a:bodyPr wrap="square" lIns="0" tIns="0" rIns="0" bIns="0" rtlCol="0" anchor="ctr"/>
          <a:lstStyle/>
          <a:p>
            <a:pPr marL="0" indent="0">
              <a:buNone/>
            </a:pPr>
            <a:r>
              <a:rPr lang="en-US" sz="900" b="1" dirty="0">
                <a:solidFill>
                  <a:srgbClr val="1B3A6B"/>
                </a:solidFill>
              </a:rPr>
              <a:t>Does the model treat customers differently by location?</a:t>
            </a:r>
            <a:endParaRPr lang="en-US" sz="900" dirty="0"/>
          </a:p>
        </p:txBody>
      </p:sp>
      <p:sp>
        <p:nvSpPr>
          <p:cNvPr id="14" name="Text 12"/>
          <p:cNvSpPr/>
          <p:nvPr/>
        </p:nvSpPr>
        <p:spPr>
          <a:xfrm>
            <a:off x="429768" y="1664208"/>
            <a:ext cx="4663440" cy="237744"/>
          </a:xfrm>
          <a:prstGeom prst="rect">
            <a:avLst/>
          </a:prstGeom>
          <a:noFill/>
          <a:ln/>
        </p:spPr>
        <p:txBody>
          <a:bodyPr wrap="square" lIns="0" tIns="0" rIns="0" bIns="0" rtlCol="0" anchor="ctr"/>
          <a:lstStyle/>
          <a:p>
            <a:pPr marL="0" indent="0">
              <a:buNone/>
            </a:pPr>
            <a:r>
              <a:rPr lang="en-US" sz="850" dirty="0">
                <a:solidFill>
                  <a:srgbClr val="1E293B"/>
                </a:solidFill>
              </a:rPr>
              <a:t>No. Geographic group fraud rates differ by less than 0.09, within our acceptable threshold.</a:t>
            </a:r>
            <a:endParaRPr lang="en-US" sz="850" dirty="0"/>
          </a:p>
        </p:txBody>
      </p:sp>
      <p:sp>
        <p:nvSpPr>
          <p:cNvPr id="15" name="Shape 13"/>
          <p:cNvSpPr/>
          <p:nvPr/>
        </p:nvSpPr>
        <p:spPr>
          <a:xfrm>
            <a:off x="320040" y="2020824"/>
            <a:ext cx="5047488" cy="603504"/>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4434840" y="2093976"/>
            <a:ext cx="822960" cy="256032"/>
          </a:xfrm>
          <a:prstGeom prst="rect">
            <a:avLst/>
          </a:prstGeom>
          <a:solidFill>
            <a:srgbClr val="2563EB"/>
          </a:solidFill>
          <a:ln/>
        </p:spPr>
        <p:txBody>
          <a:bodyPr/>
          <a:lstStyle/>
          <a:p>
            <a:endParaRPr lang="en-US"/>
          </a:p>
        </p:txBody>
      </p:sp>
      <p:sp>
        <p:nvSpPr>
          <p:cNvPr id="17" name="Text 15"/>
          <p:cNvSpPr/>
          <p:nvPr/>
        </p:nvSpPr>
        <p:spPr>
          <a:xfrm>
            <a:off x="4434840" y="2093976"/>
            <a:ext cx="822960" cy="256032"/>
          </a:xfrm>
          <a:prstGeom prst="rect">
            <a:avLst/>
          </a:prstGeom>
          <a:noFill/>
          <a:ln/>
        </p:spPr>
        <p:txBody>
          <a:bodyPr wrap="square" lIns="0" tIns="0" rIns="0" bIns="0" rtlCol="0" anchor="ctr"/>
          <a:lstStyle/>
          <a:p>
            <a:pPr marL="0" indent="0" algn="ctr">
              <a:buNone/>
            </a:pPr>
            <a:r>
              <a:rPr lang="en-US" sz="750" b="1" dirty="0">
                <a:solidFill>
                  <a:srgbClr val="FFFFFF"/>
                </a:solidFill>
              </a:rPr>
              <a:t>EXCLUDED</a:t>
            </a:r>
            <a:endParaRPr lang="en-US" sz="750" dirty="0"/>
          </a:p>
        </p:txBody>
      </p:sp>
      <p:sp>
        <p:nvSpPr>
          <p:cNvPr id="18" name="Text 16"/>
          <p:cNvSpPr/>
          <p:nvPr/>
        </p:nvSpPr>
        <p:spPr>
          <a:xfrm>
            <a:off x="429768" y="2057400"/>
            <a:ext cx="3931920" cy="237744"/>
          </a:xfrm>
          <a:prstGeom prst="rect">
            <a:avLst/>
          </a:prstGeom>
          <a:noFill/>
          <a:ln/>
        </p:spPr>
        <p:txBody>
          <a:bodyPr wrap="square" lIns="0" tIns="0" rIns="0" bIns="0" rtlCol="0" anchor="ctr"/>
          <a:lstStyle/>
          <a:p>
            <a:pPr marL="0" indent="0">
              <a:buNone/>
            </a:pPr>
            <a:r>
              <a:rPr lang="en-US" sz="900" b="1" dirty="0">
                <a:solidFill>
                  <a:srgbClr val="1B3A6B"/>
                </a:solidFill>
              </a:rPr>
              <a:t>Does it discriminate by payment method?</a:t>
            </a:r>
            <a:endParaRPr lang="en-US" sz="900" dirty="0"/>
          </a:p>
        </p:txBody>
      </p:sp>
      <p:sp>
        <p:nvSpPr>
          <p:cNvPr id="19" name="Text 17"/>
          <p:cNvSpPr/>
          <p:nvPr/>
        </p:nvSpPr>
        <p:spPr>
          <a:xfrm>
            <a:off x="429768" y="2331720"/>
            <a:ext cx="4663440" cy="237744"/>
          </a:xfrm>
          <a:prstGeom prst="rect">
            <a:avLst/>
          </a:prstGeom>
          <a:noFill/>
          <a:ln/>
        </p:spPr>
        <p:txBody>
          <a:bodyPr wrap="square" lIns="0" tIns="0" rIns="0" bIns="0" rtlCol="0" anchor="ctr"/>
          <a:lstStyle/>
          <a:p>
            <a:pPr marL="0" indent="0">
              <a:buNone/>
            </a:pPr>
            <a:r>
              <a:rPr lang="en-US" sz="850" dirty="0">
                <a:solidFill>
                  <a:srgbClr val="1E293B"/>
                </a:solidFill>
              </a:rPr>
              <a:t>Card type was found to be a socioeconomic proxy and was excluded from the model entirely. The AUC cost was only 0.009 points.</a:t>
            </a:r>
            <a:endParaRPr lang="en-US" sz="850" dirty="0"/>
          </a:p>
        </p:txBody>
      </p:sp>
      <p:sp>
        <p:nvSpPr>
          <p:cNvPr id="20" name="Shape 18"/>
          <p:cNvSpPr/>
          <p:nvPr/>
        </p:nvSpPr>
        <p:spPr>
          <a:xfrm>
            <a:off x="320040" y="2688336"/>
            <a:ext cx="5047488" cy="603504"/>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1" name="Shape 19"/>
          <p:cNvSpPr/>
          <p:nvPr/>
        </p:nvSpPr>
        <p:spPr>
          <a:xfrm>
            <a:off x="4434840" y="2761488"/>
            <a:ext cx="822960" cy="256032"/>
          </a:xfrm>
          <a:prstGeom prst="rect">
            <a:avLst/>
          </a:prstGeom>
          <a:solidFill>
            <a:srgbClr val="059669"/>
          </a:solidFill>
          <a:ln/>
        </p:spPr>
        <p:txBody>
          <a:bodyPr/>
          <a:lstStyle/>
          <a:p>
            <a:endParaRPr lang="en-US"/>
          </a:p>
        </p:txBody>
      </p:sp>
      <p:sp>
        <p:nvSpPr>
          <p:cNvPr id="22" name="Text 20"/>
          <p:cNvSpPr/>
          <p:nvPr/>
        </p:nvSpPr>
        <p:spPr>
          <a:xfrm>
            <a:off x="4434840" y="2761488"/>
            <a:ext cx="822960" cy="256032"/>
          </a:xfrm>
          <a:prstGeom prst="rect">
            <a:avLst/>
          </a:prstGeom>
          <a:noFill/>
          <a:ln/>
        </p:spPr>
        <p:txBody>
          <a:bodyPr wrap="square" lIns="0" tIns="0" rIns="0" bIns="0" rtlCol="0" anchor="ctr"/>
          <a:lstStyle/>
          <a:p>
            <a:pPr marL="0" indent="0" algn="ctr">
              <a:buNone/>
            </a:pPr>
            <a:r>
              <a:rPr lang="en-US" sz="750" b="1" dirty="0">
                <a:solidFill>
                  <a:srgbClr val="FFFFFF"/>
                </a:solidFill>
              </a:rPr>
              <a:t>PASS</a:t>
            </a:r>
            <a:endParaRPr lang="en-US" sz="750" dirty="0"/>
          </a:p>
        </p:txBody>
      </p:sp>
      <p:sp>
        <p:nvSpPr>
          <p:cNvPr id="23" name="Text 21"/>
          <p:cNvSpPr/>
          <p:nvPr/>
        </p:nvSpPr>
        <p:spPr>
          <a:xfrm>
            <a:off x="429768" y="2724912"/>
            <a:ext cx="3931920" cy="237744"/>
          </a:xfrm>
          <a:prstGeom prst="rect">
            <a:avLst/>
          </a:prstGeom>
          <a:noFill/>
          <a:ln/>
        </p:spPr>
        <p:txBody>
          <a:bodyPr wrap="square" lIns="0" tIns="0" rIns="0" bIns="0" rtlCol="0" anchor="ctr"/>
          <a:lstStyle/>
          <a:p>
            <a:pPr marL="0" indent="0">
              <a:buNone/>
            </a:pPr>
            <a:r>
              <a:rPr lang="en-US" sz="900" b="1" dirty="0">
                <a:solidFill>
                  <a:srgbClr val="1B3A6B"/>
                </a:solidFill>
              </a:rPr>
              <a:t>Does the model perform consistently across partners?</a:t>
            </a:r>
            <a:endParaRPr lang="en-US" sz="900" dirty="0"/>
          </a:p>
        </p:txBody>
      </p:sp>
      <p:sp>
        <p:nvSpPr>
          <p:cNvPr id="24" name="Text 22"/>
          <p:cNvSpPr/>
          <p:nvPr/>
        </p:nvSpPr>
        <p:spPr>
          <a:xfrm>
            <a:off x="429768" y="2999232"/>
            <a:ext cx="4663440" cy="237744"/>
          </a:xfrm>
          <a:prstGeom prst="rect">
            <a:avLst/>
          </a:prstGeom>
          <a:noFill/>
          <a:ln/>
        </p:spPr>
        <p:txBody>
          <a:bodyPr wrap="square" lIns="0" tIns="0" rIns="0" bIns="0" rtlCol="0" anchor="ctr"/>
          <a:lstStyle/>
          <a:p>
            <a:pPr marL="0" indent="0">
              <a:buNone/>
            </a:pPr>
            <a:r>
              <a:rPr lang="en-US" sz="850" dirty="0">
                <a:solidFill>
                  <a:srgbClr val="1E293B"/>
                </a:solidFill>
              </a:rPr>
              <a:t>Yes. Precision difference across high-volume vs. low-volume partners: only 0.052, well within tolerance.</a:t>
            </a:r>
            <a:endParaRPr lang="en-US" sz="850" dirty="0"/>
          </a:p>
        </p:txBody>
      </p:sp>
      <p:sp>
        <p:nvSpPr>
          <p:cNvPr id="25" name="Shape 23"/>
          <p:cNvSpPr/>
          <p:nvPr/>
        </p:nvSpPr>
        <p:spPr>
          <a:xfrm>
            <a:off x="320040" y="3355848"/>
            <a:ext cx="5047488" cy="603504"/>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6" name="Shape 24"/>
          <p:cNvSpPr/>
          <p:nvPr/>
        </p:nvSpPr>
        <p:spPr>
          <a:xfrm>
            <a:off x="4434840" y="3429000"/>
            <a:ext cx="822960" cy="256032"/>
          </a:xfrm>
          <a:prstGeom prst="rect">
            <a:avLst/>
          </a:prstGeom>
          <a:solidFill>
            <a:srgbClr val="D97706"/>
          </a:solidFill>
          <a:ln/>
        </p:spPr>
        <p:txBody>
          <a:bodyPr/>
          <a:lstStyle/>
          <a:p>
            <a:endParaRPr lang="en-US"/>
          </a:p>
        </p:txBody>
      </p:sp>
      <p:sp>
        <p:nvSpPr>
          <p:cNvPr id="27" name="Text 25"/>
          <p:cNvSpPr/>
          <p:nvPr/>
        </p:nvSpPr>
        <p:spPr>
          <a:xfrm>
            <a:off x="4434840" y="3429000"/>
            <a:ext cx="822960" cy="256032"/>
          </a:xfrm>
          <a:prstGeom prst="rect">
            <a:avLst/>
          </a:prstGeom>
          <a:noFill/>
          <a:ln/>
        </p:spPr>
        <p:txBody>
          <a:bodyPr wrap="square" lIns="0" tIns="0" rIns="0" bIns="0" rtlCol="0" anchor="ctr"/>
          <a:lstStyle/>
          <a:p>
            <a:pPr marL="0" indent="0" algn="ctr">
              <a:buNone/>
            </a:pPr>
            <a:r>
              <a:rPr lang="en-US" sz="750" b="1" dirty="0">
                <a:solidFill>
                  <a:srgbClr val="FFFFFF"/>
                </a:solidFill>
              </a:rPr>
              <a:t>PROTECTED</a:t>
            </a:r>
            <a:endParaRPr lang="en-US" sz="750" dirty="0"/>
          </a:p>
        </p:txBody>
      </p:sp>
      <p:sp>
        <p:nvSpPr>
          <p:cNvPr id="28" name="Text 26"/>
          <p:cNvSpPr/>
          <p:nvPr/>
        </p:nvSpPr>
        <p:spPr>
          <a:xfrm>
            <a:off x="429768" y="3392424"/>
            <a:ext cx="3931920" cy="237744"/>
          </a:xfrm>
          <a:prstGeom prst="rect">
            <a:avLst/>
          </a:prstGeom>
          <a:noFill/>
          <a:ln/>
        </p:spPr>
        <p:txBody>
          <a:bodyPr wrap="square" lIns="0" tIns="0" rIns="0" bIns="0" rtlCol="0" anchor="ctr"/>
          <a:lstStyle/>
          <a:p>
            <a:pPr marL="0" indent="0">
              <a:buNone/>
            </a:pPr>
            <a:r>
              <a:rPr lang="en-US" sz="900" b="1" dirty="0">
                <a:solidFill>
                  <a:srgbClr val="1B3A6B"/>
                </a:solidFill>
              </a:rPr>
              <a:t>What happens if a legitimate customer gets flagged?</a:t>
            </a:r>
            <a:endParaRPr lang="en-US" sz="900" dirty="0"/>
          </a:p>
        </p:txBody>
      </p:sp>
      <p:sp>
        <p:nvSpPr>
          <p:cNvPr id="29" name="Text 27"/>
          <p:cNvSpPr/>
          <p:nvPr/>
        </p:nvSpPr>
        <p:spPr>
          <a:xfrm>
            <a:off x="429768" y="3666744"/>
            <a:ext cx="4663440" cy="237744"/>
          </a:xfrm>
          <a:prstGeom prst="rect">
            <a:avLst/>
          </a:prstGeom>
          <a:noFill/>
          <a:ln/>
        </p:spPr>
        <p:txBody>
          <a:bodyPr wrap="square" lIns="0" tIns="0" rIns="0" bIns="0" rtlCol="0" anchor="ctr"/>
          <a:lstStyle/>
          <a:p>
            <a:pPr marL="0" indent="0">
              <a:buNone/>
            </a:pPr>
            <a:r>
              <a:rPr lang="en-US" sz="850" dirty="0">
                <a:solidFill>
                  <a:srgbClr val="1E293B"/>
                </a:solidFill>
              </a:rPr>
              <a:t>Enhanced-review claims require human adjuster review. No auto-denials. Customer has full appeal rights.</a:t>
            </a:r>
            <a:endParaRPr lang="en-US" sz="850" dirty="0"/>
          </a:p>
        </p:txBody>
      </p:sp>
      <p:sp>
        <p:nvSpPr>
          <p:cNvPr id="30" name="Shape 28"/>
          <p:cNvSpPr/>
          <p:nvPr/>
        </p:nvSpPr>
        <p:spPr>
          <a:xfrm>
            <a:off x="5650992" y="932688"/>
            <a:ext cx="3291840" cy="3063240"/>
          </a:xfrm>
          <a:prstGeom prst="rect">
            <a:avLst/>
          </a:prstGeom>
          <a:solidFill>
            <a:srgbClr val="EFF6FF"/>
          </a:solidFill>
          <a:ln/>
        </p:spPr>
        <p:txBody>
          <a:bodyPr/>
          <a:lstStyle/>
          <a:p>
            <a:endParaRPr lang="en-US"/>
          </a:p>
        </p:txBody>
      </p:sp>
      <p:sp>
        <p:nvSpPr>
          <p:cNvPr id="31" name="Shape 29"/>
          <p:cNvSpPr/>
          <p:nvPr/>
        </p:nvSpPr>
        <p:spPr>
          <a:xfrm>
            <a:off x="5650992" y="932688"/>
            <a:ext cx="3291840" cy="64008"/>
          </a:xfrm>
          <a:prstGeom prst="rect">
            <a:avLst/>
          </a:prstGeom>
          <a:solidFill>
            <a:srgbClr val="2563EB"/>
          </a:solidFill>
          <a:ln/>
        </p:spPr>
        <p:txBody>
          <a:bodyPr/>
          <a:lstStyle/>
          <a:p>
            <a:endParaRPr lang="en-US"/>
          </a:p>
        </p:txBody>
      </p:sp>
      <p:sp>
        <p:nvSpPr>
          <p:cNvPr id="32" name="Text 30"/>
          <p:cNvSpPr/>
          <p:nvPr/>
        </p:nvSpPr>
        <p:spPr>
          <a:xfrm>
            <a:off x="5760720" y="1024128"/>
            <a:ext cx="3072384" cy="256032"/>
          </a:xfrm>
          <a:prstGeom prst="rect">
            <a:avLst/>
          </a:prstGeom>
          <a:noFill/>
          <a:ln/>
        </p:spPr>
        <p:txBody>
          <a:bodyPr wrap="square" lIns="0" tIns="0" rIns="0" bIns="0" rtlCol="0" anchor="ctr"/>
          <a:lstStyle/>
          <a:p>
            <a:pPr marL="0" indent="0">
              <a:buNone/>
            </a:pPr>
            <a:r>
              <a:rPr lang="en-US" sz="900" b="1" kern="0" spc="100" dirty="0">
                <a:solidFill>
                  <a:srgbClr val="1B3A6B"/>
                </a:solidFill>
              </a:rPr>
              <a:t>BUILT-IN SAFEGUARDS</a:t>
            </a:r>
            <a:endParaRPr lang="en-US" sz="900" dirty="0"/>
          </a:p>
        </p:txBody>
      </p:sp>
      <p:sp>
        <p:nvSpPr>
          <p:cNvPr id="33" name="Text 31"/>
          <p:cNvSpPr/>
          <p:nvPr/>
        </p:nvSpPr>
        <p:spPr>
          <a:xfrm>
            <a:off x="5760720" y="1371600"/>
            <a:ext cx="3017520" cy="274320"/>
          </a:xfrm>
          <a:prstGeom prst="rect">
            <a:avLst/>
          </a:prstGeom>
          <a:noFill/>
          <a:ln/>
        </p:spPr>
        <p:txBody>
          <a:bodyPr wrap="square" lIns="0" tIns="0" rIns="0" bIns="0" rtlCol="0" anchor="ctr"/>
          <a:lstStyle/>
          <a:p>
            <a:pPr marL="0" indent="0">
              <a:buNone/>
            </a:pPr>
            <a:r>
              <a:rPr lang="en-US" sz="1000" b="1" dirty="0">
                <a:solidFill>
                  <a:srgbClr val="1B3A6B"/>
                </a:solidFill>
              </a:rPr>
              <a:t>🛡  No auto-denials</a:t>
            </a:r>
            <a:endParaRPr lang="en-US" sz="1000" dirty="0"/>
          </a:p>
        </p:txBody>
      </p:sp>
      <p:sp>
        <p:nvSpPr>
          <p:cNvPr id="34" name="Text 32"/>
          <p:cNvSpPr/>
          <p:nvPr/>
        </p:nvSpPr>
        <p:spPr>
          <a:xfrm>
            <a:off x="5760720" y="1645920"/>
            <a:ext cx="3017520" cy="320040"/>
          </a:xfrm>
          <a:prstGeom prst="rect">
            <a:avLst/>
          </a:prstGeom>
          <a:noFill/>
          <a:ln/>
        </p:spPr>
        <p:txBody>
          <a:bodyPr wrap="square" lIns="0" tIns="0" rIns="0" bIns="0" rtlCol="0" anchor="ctr"/>
          <a:lstStyle/>
          <a:p>
            <a:pPr marL="0" indent="0">
              <a:buNone/>
            </a:pPr>
            <a:r>
              <a:rPr lang="en-US" sz="850" dirty="0">
                <a:solidFill>
                  <a:srgbClr val="1E293B"/>
                </a:solidFill>
              </a:rPr>
              <a:t>AI scores and routes. Humans decide on adverse actions.</a:t>
            </a:r>
            <a:endParaRPr lang="en-US" sz="850" dirty="0"/>
          </a:p>
        </p:txBody>
      </p:sp>
      <p:sp>
        <p:nvSpPr>
          <p:cNvPr id="35" name="Text 33"/>
          <p:cNvSpPr/>
          <p:nvPr/>
        </p:nvSpPr>
        <p:spPr>
          <a:xfrm>
            <a:off x="5760720" y="2057400"/>
            <a:ext cx="3017520" cy="274320"/>
          </a:xfrm>
          <a:prstGeom prst="rect">
            <a:avLst/>
          </a:prstGeom>
          <a:noFill/>
          <a:ln/>
        </p:spPr>
        <p:txBody>
          <a:bodyPr wrap="square" lIns="0" tIns="0" rIns="0" bIns="0" rtlCol="0" anchor="ctr"/>
          <a:lstStyle/>
          <a:p>
            <a:pPr marL="0" indent="0">
              <a:buNone/>
            </a:pPr>
            <a:r>
              <a:rPr lang="en-US" sz="1000" b="1" dirty="0">
                <a:solidFill>
                  <a:srgbClr val="1B3A6B"/>
                </a:solidFill>
              </a:rPr>
              <a:t>📄  Explanation required</a:t>
            </a:r>
            <a:endParaRPr lang="en-US" sz="1000" dirty="0"/>
          </a:p>
        </p:txBody>
      </p:sp>
      <p:sp>
        <p:nvSpPr>
          <p:cNvPr id="36" name="Text 34"/>
          <p:cNvSpPr/>
          <p:nvPr/>
        </p:nvSpPr>
        <p:spPr>
          <a:xfrm>
            <a:off x="5760720" y="2331720"/>
            <a:ext cx="3017520" cy="320040"/>
          </a:xfrm>
          <a:prstGeom prst="rect">
            <a:avLst/>
          </a:prstGeom>
          <a:noFill/>
          <a:ln/>
        </p:spPr>
        <p:txBody>
          <a:bodyPr wrap="square" lIns="0" tIns="0" rIns="0" bIns="0" rtlCol="0" anchor="ctr"/>
          <a:lstStyle/>
          <a:p>
            <a:pPr marL="0" indent="0">
              <a:buNone/>
            </a:pPr>
            <a:r>
              <a:rPr lang="en-US" sz="850" dirty="0">
                <a:solidFill>
                  <a:srgbClr val="1E293B"/>
                </a:solidFill>
              </a:rPr>
              <a:t>Every flagged claim has a plain-language rationale. No black boxes.</a:t>
            </a:r>
            <a:endParaRPr lang="en-US" sz="850" dirty="0"/>
          </a:p>
        </p:txBody>
      </p:sp>
      <p:sp>
        <p:nvSpPr>
          <p:cNvPr id="37" name="Text 35"/>
          <p:cNvSpPr/>
          <p:nvPr/>
        </p:nvSpPr>
        <p:spPr>
          <a:xfrm>
            <a:off x="5760720" y="2743200"/>
            <a:ext cx="3017520" cy="274320"/>
          </a:xfrm>
          <a:prstGeom prst="rect">
            <a:avLst/>
          </a:prstGeom>
          <a:noFill/>
          <a:ln/>
        </p:spPr>
        <p:txBody>
          <a:bodyPr wrap="square" lIns="0" tIns="0" rIns="0" bIns="0" rtlCol="0" anchor="ctr"/>
          <a:lstStyle/>
          <a:p>
            <a:pPr marL="0" indent="0">
              <a:buNone/>
            </a:pPr>
            <a:r>
              <a:rPr lang="en-US" sz="1000" b="1" dirty="0">
                <a:solidFill>
                  <a:srgbClr val="1B3A6B"/>
                </a:solidFill>
              </a:rPr>
              <a:t>⚖️  Appeal pathway</a:t>
            </a:r>
            <a:endParaRPr lang="en-US" sz="1000" dirty="0"/>
          </a:p>
        </p:txBody>
      </p:sp>
      <p:sp>
        <p:nvSpPr>
          <p:cNvPr id="38" name="Text 36"/>
          <p:cNvSpPr/>
          <p:nvPr/>
        </p:nvSpPr>
        <p:spPr>
          <a:xfrm>
            <a:off x="5760720" y="3017520"/>
            <a:ext cx="3017520" cy="320040"/>
          </a:xfrm>
          <a:prstGeom prst="rect">
            <a:avLst/>
          </a:prstGeom>
          <a:noFill/>
          <a:ln/>
        </p:spPr>
        <p:txBody>
          <a:bodyPr wrap="square" lIns="0" tIns="0" rIns="0" bIns="0" rtlCol="0" anchor="ctr"/>
          <a:lstStyle/>
          <a:p>
            <a:pPr marL="0" indent="0">
              <a:buNone/>
            </a:pPr>
            <a:r>
              <a:rPr lang="en-US" sz="850" dirty="0">
                <a:solidFill>
                  <a:srgbClr val="1E293B"/>
                </a:solidFill>
              </a:rPr>
              <a:t>Customers can escalate any decision. Full review available.</a:t>
            </a:r>
            <a:endParaRPr lang="en-US" sz="850" dirty="0"/>
          </a:p>
        </p:txBody>
      </p:sp>
      <p:sp>
        <p:nvSpPr>
          <p:cNvPr id="39" name="Text 37"/>
          <p:cNvSpPr/>
          <p:nvPr/>
        </p:nvSpPr>
        <p:spPr>
          <a:xfrm>
            <a:off x="5760720" y="3429000"/>
            <a:ext cx="3017520" cy="274320"/>
          </a:xfrm>
          <a:prstGeom prst="rect">
            <a:avLst/>
          </a:prstGeom>
          <a:noFill/>
          <a:ln/>
        </p:spPr>
        <p:txBody>
          <a:bodyPr wrap="square" lIns="0" tIns="0" rIns="0" bIns="0" rtlCol="0" anchor="ctr"/>
          <a:lstStyle/>
          <a:p>
            <a:pPr marL="0" indent="0">
              <a:buNone/>
            </a:pPr>
            <a:r>
              <a:rPr lang="en-US" sz="1000" b="1" dirty="0">
                <a:solidFill>
                  <a:srgbClr val="1B3A6B"/>
                </a:solidFill>
              </a:rPr>
              <a:t>🔄  Quarterly review</a:t>
            </a:r>
            <a:endParaRPr lang="en-US" sz="1000" dirty="0"/>
          </a:p>
        </p:txBody>
      </p:sp>
      <p:sp>
        <p:nvSpPr>
          <p:cNvPr id="40" name="Text 38"/>
          <p:cNvSpPr/>
          <p:nvPr/>
        </p:nvSpPr>
        <p:spPr>
          <a:xfrm>
            <a:off x="5760720" y="3703320"/>
            <a:ext cx="3017520" cy="320040"/>
          </a:xfrm>
          <a:prstGeom prst="rect">
            <a:avLst/>
          </a:prstGeom>
          <a:noFill/>
          <a:ln/>
        </p:spPr>
        <p:txBody>
          <a:bodyPr wrap="square" lIns="0" tIns="0" rIns="0" bIns="0" rtlCol="0" anchor="ctr"/>
          <a:lstStyle/>
          <a:p>
            <a:pPr marL="0" indent="0">
              <a:buNone/>
            </a:pPr>
            <a:r>
              <a:rPr lang="en-US" sz="850" dirty="0">
                <a:solidFill>
                  <a:srgbClr val="1E293B"/>
                </a:solidFill>
              </a:rPr>
              <a:t>Fairness metrics reviewed quarterly. Thresholds adjusted if drift detected.</a:t>
            </a:r>
            <a:endParaRPr lang="en-US" sz="850" dirty="0"/>
          </a:p>
        </p:txBody>
      </p:sp>
      <p:sp>
        <p:nvSpPr>
          <p:cNvPr id="41" name="Shape 39"/>
          <p:cNvSpPr/>
          <p:nvPr/>
        </p:nvSpPr>
        <p:spPr>
          <a:xfrm>
            <a:off x="201168" y="4041648"/>
            <a:ext cx="8741664" cy="896112"/>
          </a:xfrm>
          <a:prstGeom prst="rect">
            <a:avLst/>
          </a:prstGeom>
          <a:solidFill>
            <a:srgbClr val="F8FAFC"/>
          </a:solidFill>
          <a:ln/>
        </p:spPr>
        <p:txBody>
          <a:bodyPr/>
          <a:lstStyle/>
          <a:p>
            <a:endParaRPr lang="en-US"/>
          </a:p>
        </p:txBody>
      </p:sp>
      <p:sp>
        <p:nvSpPr>
          <p:cNvPr id="42" name="Text 40"/>
          <p:cNvSpPr/>
          <p:nvPr/>
        </p:nvSpPr>
        <p:spPr>
          <a:xfrm>
            <a:off x="320040" y="4114800"/>
            <a:ext cx="8503920" cy="201168"/>
          </a:xfrm>
          <a:prstGeom prst="rect">
            <a:avLst/>
          </a:prstGeom>
          <a:noFill/>
          <a:ln/>
        </p:spPr>
        <p:txBody>
          <a:bodyPr wrap="square" lIns="0" tIns="0" rIns="0" bIns="0" rtlCol="0" anchor="ctr"/>
          <a:lstStyle/>
          <a:p>
            <a:pPr marL="0" indent="0">
              <a:buNone/>
            </a:pPr>
            <a:r>
              <a:rPr lang="en-US" sz="850" b="1" dirty="0">
                <a:solidFill>
                  <a:srgbClr val="1B3A6B"/>
                </a:solidFill>
              </a:rPr>
              <a:t>KEY RISK MITIGATIONS</a:t>
            </a:r>
            <a:endParaRPr lang="en-US" sz="850" dirty="0"/>
          </a:p>
        </p:txBody>
      </p:sp>
      <p:sp>
        <p:nvSpPr>
          <p:cNvPr id="43" name="Text 41"/>
          <p:cNvSpPr/>
          <p:nvPr/>
        </p:nvSpPr>
        <p:spPr>
          <a:xfrm>
            <a:off x="320040" y="4315968"/>
            <a:ext cx="8503920" cy="566928"/>
          </a:xfrm>
          <a:prstGeom prst="rect">
            <a:avLst/>
          </a:prstGeom>
          <a:noFill/>
          <a:ln/>
        </p:spPr>
        <p:txBody>
          <a:bodyPr wrap="square" lIns="0" tIns="0" rIns="0" bIns="0" rtlCol="0" anchor="ctr"/>
          <a:lstStyle/>
          <a:p>
            <a:pPr marL="0" indent="0">
              <a:buNone/>
            </a:pPr>
            <a:r>
              <a:rPr lang="en-US" sz="850" b="1" dirty="0">
                <a:solidFill>
                  <a:srgbClr val="1E293B"/>
                </a:solidFill>
              </a:rPr>
              <a:t>Regulatory: </a:t>
            </a:r>
            <a:r>
              <a:rPr lang="en-US" sz="850" dirty="0">
                <a:solidFill>
                  <a:srgbClr val="1E293B"/>
                </a:solidFill>
              </a:rPr>
              <a:t>Pilot phase (shadow mode) before operational deployment ensures regulator familiarity. Model card available for review.  </a:t>
            </a:r>
            <a:r>
              <a:rPr lang="en-US" sz="850" b="1" dirty="0">
                <a:solidFill>
                  <a:srgbClr val="1E293B"/>
                </a:solidFill>
              </a:rPr>
              <a:t>Operational: </a:t>
            </a:r>
            <a:r>
              <a:rPr lang="en-US" sz="850" dirty="0">
                <a:solidFill>
                  <a:srgbClr val="1E293B"/>
                </a:solidFill>
              </a:rPr>
              <a:t>Monthly performance monitoring. Quarterly retraining cycle. Immediate rollback plan if AUC drops &gt;3 points.  </a:t>
            </a:r>
            <a:r>
              <a:rPr lang="en-US" sz="850" b="1" dirty="0">
                <a:solidFill>
                  <a:srgbClr val="1E293B"/>
                </a:solidFill>
              </a:rPr>
              <a:t>Customer: </a:t>
            </a:r>
            <a:r>
              <a:rPr lang="en-US" sz="850" dirty="0">
                <a:solidFill>
                  <a:srgbClr val="1E293B"/>
                </a:solidFill>
              </a:rPr>
              <a:t>False positive rate target &lt;5%. Dedicated appeals process. NPS monitoring for flagged customer cohort.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B3A6B"/>
          </a:solidFill>
          <a:ln/>
        </p:spPr>
        <p:txBody>
          <a:bodyPr/>
          <a:lstStyle/>
          <a:p>
            <a:endParaRPr lang="en-US"/>
          </a:p>
        </p:txBody>
      </p:sp>
      <p:sp>
        <p:nvSpPr>
          <p:cNvPr id="3" name="Shape 1"/>
          <p:cNvSpPr/>
          <p:nvPr/>
        </p:nvSpPr>
        <p:spPr>
          <a:xfrm>
            <a:off x="0" y="512064"/>
            <a:ext cx="9144000" cy="54864"/>
          </a:xfrm>
          <a:prstGeom prst="rect">
            <a:avLst/>
          </a:prstGeom>
          <a:solidFill>
            <a:srgbClr val="2563EB"/>
          </a:solidFill>
          <a:ln/>
        </p:spPr>
        <p:txBody>
          <a:bodyPr/>
          <a:lstStyle/>
          <a:p>
            <a:endParaRPr lang="en-US"/>
          </a:p>
        </p:txBody>
      </p:sp>
      <p:sp>
        <p:nvSpPr>
          <p:cNvPr id="4" name="Text 2"/>
          <p:cNvSpPr/>
          <p:nvPr/>
        </p:nvSpPr>
        <p:spPr>
          <a:xfrm>
            <a:off x="320040" y="54864"/>
            <a:ext cx="8321040" cy="438912"/>
          </a:xfrm>
          <a:prstGeom prst="rect">
            <a:avLst/>
          </a:prstGeom>
          <a:noFill/>
          <a:ln/>
        </p:spPr>
        <p:txBody>
          <a:bodyPr wrap="square" lIns="0" tIns="0" rIns="0" bIns="0" rtlCol="0" anchor="ctr"/>
          <a:lstStyle/>
          <a:p>
            <a:pPr marL="0" indent="0">
              <a:buNone/>
            </a:pPr>
            <a:r>
              <a:rPr lang="en-US" sz="1600" b="1" dirty="0">
                <a:solidFill>
                  <a:srgbClr val="FFFFFF"/>
                </a:solidFill>
              </a:rPr>
              <a:t>Investment Case, Return on Deployment</a:t>
            </a:r>
            <a:endParaRPr lang="en-US" sz="1600" dirty="0"/>
          </a:p>
        </p:txBody>
      </p:sp>
      <p:sp>
        <p:nvSpPr>
          <p:cNvPr id="5" name="Text 3"/>
          <p:cNvSpPr/>
          <p:nvPr/>
        </p:nvSpPr>
        <p:spPr>
          <a:xfrm>
            <a:off x="320040" y="4919472"/>
            <a:ext cx="8503920" cy="201168"/>
          </a:xfrm>
          <a:prstGeom prst="rect">
            <a:avLst/>
          </a:prstGeom>
          <a:noFill/>
          <a:ln/>
        </p:spPr>
        <p:txBody>
          <a:bodyPr wrap="square" lIns="0" tIns="0" rIns="0" bIns="0" rtlCol="0" anchor="ctr"/>
          <a:lstStyle/>
          <a:p>
            <a:pPr marL="0" indent="0" algn="r">
              <a:buNone/>
            </a:pPr>
            <a:r>
              <a:rPr lang="en-US" sz="750" dirty="0">
                <a:solidFill>
                  <a:srgbClr val="64748B"/>
                </a:solidFill>
              </a:rPr>
              <a:t>ProTech Devices Asia  |  Confidential</a:t>
            </a:r>
            <a:endParaRPr lang="en-US" sz="750" dirty="0"/>
          </a:p>
        </p:txBody>
      </p:sp>
      <p:sp>
        <p:nvSpPr>
          <p:cNvPr id="6" name="Shape 4"/>
          <p:cNvSpPr/>
          <p:nvPr/>
        </p:nvSpPr>
        <p:spPr>
          <a:xfrm>
            <a:off x="201168" y="658368"/>
            <a:ext cx="8741664" cy="1463040"/>
          </a:xfrm>
          <a:prstGeom prst="rect">
            <a:avLst/>
          </a:prstGeom>
          <a:solidFill>
            <a:srgbClr val="1B3A6B"/>
          </a:solidFill>
          <a:ln/>
        </p:spPr>
        <p:txBody>
          <a:bodyPr/>
          <a:lstStyle/>
          <a:p>
            <a:endParaRPr lang="en-US"/>
          </a:p>
        </p:txBody>
      </p:sp>
      <p:sp>
        <p:nvSpPr>
          <p:cNvPr id="7" name="Shape 5"/>
          <p:cNvSpPr/>
          <p:nvPr/>
        </p:nvSpPr>
        <p:spPr>
          <a:xfrm>
            <a:off x="201168" y="658368"/>
            <a:ext cx="8741664" cy="64008"/>
          </a:xfrm>
          <a:prstGeom prst="rect">
            <a:avLst/>
          </a:prstGeom>
          <a:solidFill>
            <a:srgbClr val="059669"/>
          </a:solidFill>
          <a:ln/>
        </p:spPr>
        <p:txBody>
          <a:bodyPr/>
          <a:lstStyle/>
          <a:p>
            <a:endParaRPr lang="en-US"/>
          </a:p>
        </p:txBody>
      </p:sp>
      <p:sp>
        <p:nvSpPr>
          <p:cNvPr id="8" name="Text 6"/>
          <p:cNvSpPr/>
          <p:nvPr/>
        </p:nvSpPr>
        <p:spPr>
          <a:xfrm>
            <a:off x="457200" y="777240"/>
            <a:ext cx="2286000" cy="1188720"/>
          </a:xfrm>
          <a:prstGeom prst="rect">
            <a:avLst/>
          </a:prstGeom>
          <a:noFill/>
          <a:ln/>
        </p:spPr>
        <p:txBody>
          <a:bodyPr wrap="square" lIns="0" tIns="0" rIns="0" bIns="0" rtlCol="0" anchor="ctr"/>
          <a:lstStyle/>
          <a:p>
            <a:pPr marL="0" indent="0" algn="ctr">
              <a:buNone/>
            </a:pPr>
            <a:r>
              <a:rPr lang="en-US" sz="6000" b="1" dirty="0">
                <a:solidFill>
                  <a:srgbClr val="059669"/>
                </a:solidFill>
              </a:rPr>
              <a:t>304%</a:t>
            </a:r>
            <a:endParaRPr lang="en-US" sz="6000" dirty="0"/>
          </a:p>
        </p:txBody>
      </p:sp>
      <p:sp>
        <p:nvSpPr>
          <p:cNvPr id="9" name="Text 7"/>
          <p:cNvSpPr/>
          <p:nvPr/>
        </p:nvSpPr>
        <p:spPr>
          <a:xfrm>
            <a:off x="457200" y="1764792"/>
            <a:ext cx="2286000" cy="274320"/>
          </a:xfrm>
          <a:prstGeom prst="rect">
            <a:avLst/>
          </a:prstGeom>
          <a:noFill/>
          <a:ln/>
        </p:spPr>
        <p:txBody>
          <a:bodyPr wrap="square" lIns="0" tIns="0" rIns="0" bIns="0" rtlCol="0" anchor="ctr"/>
          <a:lstStyle/>
          <a:p>
            <a:pPr marL="0" indent="0" algn="ctr">
              <a:buNone/>
            </a:pPr>
            <a:r>
              <a:rPr lang="en-US" sz="1000" b="1" dirty="0">
                <a:solidFill>
                  <a:srgbClr val="059669"/>
                </a:solidFill>
              </a:rPr>
              <a:t>YEAR 1 ROI</a:t>
            </a:r>
            <a:endParaRPr lang="en-US" sz="1000" dirty="0"/>
          </a:p>
        </p:txBody>
      </p:sp>
      <p:sp>
        <p:nvSpPr>
          <p:cNvPr id="10" name="Text 8"/>
          <p:cNvSpPr/>
          <p:nvPr/>
        </p:nvSpPr>
        <p:spPr>
          <a:xfrm>
            <a:off x="2926080" y="804672"/>
            <a:ext cx="1097280" cy="594360"/>
          </a:xfrm>
          <a:prstGeom prst="rect">
            <a:avLst/>
          </a:prstGeom>
          <a:noFill/>
          <a:ln/>
        </p:spPr>
        <p:txBody>
          <a:bodyPr wrap="square" lIns="0" tIns="0" rIns="0" bIns="0" rtlCol="0" anchor="ctr"/>
          <a:lstStyle/>
          <a:p>
            <a:pPr marL="0" indent="0" algn="ctr">
              <a:buNone/>
            </a:pPr>
            <a:r>
              <a:rPr lang="en-US" sz="1800" b="1" dirty="0">
                <a:solidFill>
                  <a:srgbClr val="BFDBFE"/>
                </a:solidFill>
              </a:rPr>
              <a:t>USD 35K</a:t>
            </a:r>
            <a:endParaRPr lang="en-US" sz="1800" dirty="0"/>
          </a:p>
        </p:txBody>
      </p:sp>
      <p:sp>
        <p:nvSpPr>
          <p:cNvPr id="11" name="Text 9"/>
          <p:cNvSpPr/>
          <p:nvPr/>
        </p:nvSpPr>
        <p:spPr>
          <a:xfrm>
            <a:off x="2926080" y="1417320"/>
            <a:ext cx="1097280" cy="530352"/>
          </a:xfrm>
          <a:prstGeom prst="rect">
            <a:avLst/>
          </a:prstGeom>
          <a:noFill/>
          <a:ln/>
        </p:spPr>
        <p:txBody>
          <a:bodyPr wrap="square" lIns="0" tIns="0" rIns="0" bIns="0" rtlCol="0" anchor="ctr"/>
          <a:lstStyle/>
          <a:p>
            <a:pPr marL="0" indent="0" algn="ctr">
              <a:buNone/>
            </a:pPr>
            <a:r>
              <a:rPr lang="en-US" sz="750" dirty="0">
                <a:solidFill>
                  <a:srgbClr val="BFDBFE"/>
                </a:solidFill>
              </a:rPr>
              <a:t>One-time development</a:t>
            </a:r>
            <a:endParaRPr lang="en-US" sz="750" dirty="0"/>
          </a:p>
          <a:p>
            <a:pPr marL="0" indent="0" algn="ctr">
              <a:buNone/>
            </a:pPr>
            <a:r>
              <a:rPr lang="en-US" sz="750" dirty="0">
                <a:solidFill>
                  <a:srgbClr val="BFDBFE"/>
                </a:solidFill>
              </a:rPr>
              <a:t>investment</a:t>
            </a:r>
            <a:endParaRPr lang="en-US" sz="750" dirty="0"/>
          </a:p>
        </p:txBody>
      </p:sp>
      <p:sp>
        <p:nvSpPr>
          <p:cNvPr id="12" name="Text 10"/>
          <p:cNvSpPr/>
          <p:nvPr/>
        </p:nvSpPr>
        <p:spPr>
          <a:xfrm>
            <a:off x="4114800" y="804672"/>
            <a:ext cx="1097280" cy="594360"/>
          </a:xfrm>
          <a:prstGeom prst="rect">
            <a:avLst/>
          </a:prstGeom>
          <a:noFill/>
          <a:ln/>
        </p:spPr>
        <p:txBody>
          <a:bodyPr wrap="square" lIns="0" tIns="0" rIns="0" bIns="0" rtlCol="0" anchor="ctr"/>
          <a:lstStyle/>
          <a:p>
            <a:pPr marL="0" indent="0" algn="ctr">
              <a:buNone/>
            </a:pPr>
            <a:r>
              <a:rPr lang="en-US" sz="1800" b="1" dirty="0">
                <a:solidFill>
                  <a:srgbClr val="BFDBFE"/>
                </a:solidFill>
              </a:rPr>
              <a:t>USD 8K</a:t>
            </a:r>
            <a:endParaRPr lang="en-US" sz="1800" dirty="0"/>
          </a:p>
        </p:txBody>
      </p:sp>
      <p:sp>
        <p:nvSpPr>
          <p:cNvPr id="13" name="Text 11"/>
          <p:cNvSpPr/>
          <p:nvPr/>
        </p:nvSpPr>
        <p:spPr>
          <a:xfrm>
            <a:off x="4114800" y="1417320"/>
            <a:ext cx="1097280" cy="530352"/>
          </a:xfrm>
          <a:prstGeom prst="rect">
            <a:avLst/>
          </a:prstGeom>
          <a:noFill/>
          <a:ln/>
        </p:spPr>
        <p:txBody>
          <a:bodyPr wrap="square" lIns="0" tIns="0" rIns="0" bIns="0" rtlCol="0" anchor="ctr"/>
          <a:lstStyle/>
          <a:p>
            <a:pPr marL="0" indent="0" algn="ctr">
              <a:buNone/>
            </a:pPr>
            <a:r>
              <a:rPr lang="en-US" sz="750" dirty="0">
                <a:solidFill>
                  <a:srgbClr val="BFDBFE"/>
                </a:solidFill>
              </a:rPr>
              <a:t>Annual maintenance</a:t>
            </a:r>
            <a:endParaRPr lang="en-US" sz="750" dirty="0"/>
          </a:p>
          <a:p>
            <a:pPr marL="0" indent="0" algn="ctr">
              <a:buNone/>
            </a:pPr>
            <a:r>
              <a:rPr lang="en-US" sz="750" dirty="0">
                <a:solidFill>
                  <a:srgbClr val="BFDBFE"/>
                </a:solidFill>
              </a:rPr>
              <a:t>&amp; monitoring</a:t>
            </a:r>
            <a:endParaRPr lang="en-US" sz="750" dirty="0"/>
          </a:p>
        </p:txBody>
      </p:sp>
      <p:sp>
        <p:nvSpPr>
          <p:cNvPr id="14" name="Text 12"/>
          <p:cNvSpPr/>
          <p:nvPr/>
        </p:nvSpPr>
        <p:spPr>
          <a:xfrm>
            <a:off x="5303520" y="804672"/>
            <a:ext cx="1097280" cy="594360"/>
          </a:xfrm>
          <a:prstGeom prst="rect">
            <a:avLst/>
          </a:prstGeom>
          <a:noFill/>
          <a:ln/>
        </p:spPr>
        <p:txBody>
          <a:bodyPr wrap="square" lIns="0" tIns="0" rIns="0" bIns="0" rtlCol="0" anchor="ctr"/>
          <a:lstStyle/>
          <a:p>
            <a:pPr marL="0" indent="0" algn="ctr">
              <a:buNone/>
            </a:pPr>
            <a:r>
              <a:rPr lang="en-US" sz="1800" b="1" dirty="0">
                <a:solidFill>
                  <a:srgbClr val="059669"/>
                </a:solidFill>
              </a:rPr>
              <a:t>USD 150K</a:t>
            </a:r>
            <a:endParaRPr lang="en-US" sz="1800" dirty="0"/>
          </a:p>
        </p:txBody>
      </p:sp>
      <p:sp>
        <p:nvSpPr>
          <p:cNvPr id="15" name="Text 13"/>
          <p:cNvSpPr/>
          <p:nvPr/>
        </p:nvSpPr>
        <p:spPr>
          <a:xfrm>
            <a:off x="5303520" y="1417320"/>
            <a:ext cx="1097280" cy="530352"/>
          </a:xfrm>
          <a:prstGeom prst="rect">
            <a:avLst/>
          </a:prstGeom>
          <a:noFill/>
          <a:ln/>
        </p:spPr>
        <p:txBody>
          <a:bodyPr wrap="square" lIns="0" tIns="0" rIns="0" bIns="0" rtlCol="0" anchor="ctr"/>
          <a:lstStyle/>
          <a:p>
            <a:pPr marL="0" indent="0" algn="ctr">
              <a:buNone/>
            </a:pPr>
            <a:r>
              <a:rPr lang="en-US" sz="750" dirty="0">
                <a:solidFill>
                  <a:srgbClr val="BFDBFE"/>
                </a:solidFill>
              </a:rPr>
              <a:t>Annual fraud</a:t>
            </a:r>
            <a:endParaRPr lang="en-US" sz="750" dirty="0"/>
          </a:p>
          <a:p>
            <a:pPr marL="0" indent="0" algn="ctr">
              <a:buNone/>
            </a:pPr>
            <a:r>
              <a:rPr lang="en-US" sz="750" dirty="0">
                <a:solidFill>
                  <a:srgbClr val="BFDBFE"/>
                </a:solidFill>
              </a:rPr>
              <a:t>savings (Year 1)</a:t>
            </a:r>
            <a:endParaRPr lang="en-US" sz="750" dirty="0"/>
          </a:p>
        </p:txBody>
      </p:sp>
      <p:sp>
        <p:nvSpPr>
          <p:cNvPr id="16" name="Text 14"/>
          <p:cNvSpPr/>
          <p:nvPr/>
        </p:nvSpPr>
        <p:spPr>
          <a:xfrm>
            <a:off x="6492240" y="804672"/>
            <a:ext cx="1097280" cy="594360"/>
          </a:xfrm>
          <a:prstGeom prst="rect">
            <a:avLst/>
          </a:prstGeom>
          <a:noFill/>
          <a:ln/>
        </p:spPr>
        <p:txBody>
          <a:bodyPr wrap="square" lIns="0" tIns="0" rIns="0" bIns="0" rtlCol="0" anchor="ctr"/>
          <a:lstStyle/>
          <a:p>
            <a:pPr marL="0" indent="0" algn="ctr">
              <a:buNone/>
            </a:pPr>
            <a:r>
              <a:rPr lang="en-US" sz="1800" b="1" dirty="0">
                <a:solidFill>
                  <a:srgbClr val="059669"/>
                </a:solidFill>
              </a:rPr>
              <a:t>USD 107K</a:t>
            </a:r>
            <a:endParaRPr lang="en-US" sz="1800" dirty="0"/>
          </a:p>
        </p:txBody>
      </p:sp>
      <p:sp>
        <p:nvSpPr>
          <p:cNvPr id="17" name="Text 15"/>
          <p:cNvSpPr/>
          <p:nvPr/>
        </p:nvSpPr>
        <p:spPr>
          <a:xfrm>
            <a:off x="6492240" y="1417320"/>
            <a:ext cx="1097280" cy="530352"/>
          </a:xfrm>
          <a:prstGeom prst="rect">
            <a:avLst/>
          </a:prstGeom>
          <a:noFill/>
          <a:ln/>
        </p:spPr>
        <p:txBody>
          <a:bodyPr wrap="square" lIns="0" tIns="0" rIns="0" bIns="0" rtlCol="0" anchor="ctr"/>
          <a:lstStyle/>
          <a:p>
            <a:pPr marL="0" indent="0" algn="ctr">
              <a:buNone/>
            </a:pPr>
            <a:r>
              <a:rPr lang="en-US" sz="750" dirty="0">
                <a:solidFill>
                  <a:srgbClr val="BFDBFE"/>
                </a:solidFill>
              </a:rPr>
              <a:t>Year 1 net</a:t>
            </a:r>
            <a:endParaRPr lang="en-US" sz="750" dirty="0"/>
          </a:p>
          <a:p>
            <a:pPr marL="0" indent="0" algn="ctr">
              <a:buNone/>
            </a:pPr>
            <a:r>
              <a:rPr lang="en-US" sz="750" dirty="0">
                <a:solidFill>
                  <a:srgbClr val="BFDBFE"/>
                </a:solidFill>
              </a:rPr>
              <a:t>benefit</a:t>
            </a:r>
            <a:endParaRPr lang="en-US" sz="750" dirty="0"/>
          </a:p>
        </p:txBody>
      </p:sp>
      <p:sp>
        <p:nvSpPr>
          <p:cNvPr id="18" name="Text 16"/>
          <p:cNvSpPr/>
          <p:nvPr/>
        </p:nvSpPr>
        <p:spPr>
          <a:xfrm>
            <a:off x="7680960" y="804672"/>
            <a:ext cx="1097280" cy="594360"/>
          </a:xfrm>
          <a:prstGeom prst="rect">
            <a:avLst/>
          </a:prstGeom>
          <a:noFill/>
          <a:ln/>
        </p:spPr>
        <p:txBody>
          <a:bodyPr wrap="square" lIns="0" tIns="0" rIns="0" bIns="0" rtlCol="0" anchor="ctr"/>
          <a:lstStyle/>
          <a:p>
            <a:pPr marL="0" indent="0" algn="ctr">
              <a:buNone/>
            </a:pPr>
            <a:r>
              <a:rPr lang="en-US" sz="1800" b="1" dirty="0">
                <a:solidFill>
                  <a:srgbClr val="059669"/>
                </a:solidFill>
              </a:rPr>
              <a:t>USD 142K</a:t>
            </a:r>
            <a:endParaRPr lang="en-US" sz="1800" dirty="0"/>
          </a:p>
        </p:txBody>
      </p:sp>
      <p:sp>
        <p:nvSpPr>
          <p:cNvPr id="19" name="Text 17"/>
          <p:cNvSpPr/>
          <p:nvPr/>
        </p:nvSpPr>
        <p:spPr>
          <a:xfrm>
            <a:off x="7680960" y="1417320"/>
            <a:ext cx="1097280" cy="530352"/>
          </a:xfrm>
          <a:prstGeom prst="rect">
            <a:avLst/>
          </a:prstGeom>
          <a:noFill/>
          <a:ln/>
        </p:spPr>
        <p:txBody>
          <a:bodyPr wrap="square" lIns="0" tIns="0" rIns="0" bIns="0" rtlCol="0" anchor="ctr"/>
          <a:lstStyle/>
          <a:p>
            <a:pPr marL="0" indent="0" algn="ctr">
              <a:buNone/>
            </a:pPr>
            <a:r>
              <a:rPr lang="en-US" sz="750" dirty="0">
                <a:solidFill>
                  <a:srgbClr val="BFDBFE"/>
                </a:solidFill>
              </a:rPr>
              <a:t>Year 2+ annual</a:t>
            </a:r>
            <a:endParaRPr lang="en-US" sz="750" dirty="0"/>
          </a:p>
          <a:p>
            <a:pPr marL="0" indent="0" algn="ctr">
              <a:buNone/>
            </a:pPr>
            <a:r>
              <a:rPr lang="en-US" sz="750" dirty="0">
                <a:solidFill>
                  <a:srgbClr val="BFDBFE"/>
                </a:solidFill>
              </a:rPr>
              <a:t>net benefit</a:t>
            </a:r>
            <a:endParaRPr lang="en-US" sz="750" dirty="0"/>
          </a:p>
        </p:txBody>
      </p:sp>
      <p:sp>
        <p:nvSpPr>
          <p:cNvPr id="20" name="Text 18"/>
          <p:cNvSpPr/>
          <p:nvPr/>
        </p:nvSpPr>
        <p:spPr>
          <a:xfrm>
            <a:off x="201168" y="2212848"/>
            <a:ext cx="5943600" cy="256032"/>
          </a:xfrm>
          <a:prstGeom prst="rect">
            <a:avLst/>
          </a:prstGeom>
          <a:noFill/>
          <a:ln/>
        </p:spPr>
        <p:txBody>
          <a:bodyPr wrap="square" lIns="0" tIns="0" rIns="0" bIns="0" rtlCol="0" anchor="ctr"/>
          <a:lstStyle/>
          <a:p>
            <a:pPr marL="0" indent="0">
              <a:buNone/>
            </a:pPr>
            <a:r>
              <a:rPr lang="en-US" sz="900" b="1" kern="0" spc="100" dirty="0">
                <a:solidFill>
                  <a:srgbClr val="1B3A6B"/>
                </a:solidFill>
              </a:rPr>
              <a:t>3-YEAR CUMULATIVE BENEFIT PROJECTION</a:t>
            </a:r>
            <a:endParaRPr lang="en-US" sz="900" dirty="0"/>
          </a:p>
        </p:txBody>
      </p:sp>
      <p:sp>
        <p:nvSpPr>
          <p:cNvPr id="21" name="Shape 19"/>
          <p:cNvSpPr/>
          <p:nvPr/>
        </p:nvSpPr>
        <p:spPr>
          <a:xfrm>
            <a:off x="292608" y="3879342"/>
            <a:ext cx="502920" cy="491490"/>
          </a:xfrm>
          <a:prstGeom prst="rect">
            <a:avLst/>
          </a:prstGeom>
          <a:solidFill>
            <a:srgbClr val="DC2626"/>
          </a:solidFill>
          <a:ln/>
        </p:spPr>
        <p:txBody>
          <a:bodyPr/>
          <a:lstStyle/>
          <a:p>
            <a:endParaRPr lang="en-US"/>
          </a:p>
        </p:txBody>
      </p:sp>
      <p:sp>
        <p:nvSpPr>
          <p:cNvPr id="22" name="Text 20"/>
          <p:cNvSpPr/>
          <p:nvPr/>
        </p:nvSpPr>
        <p:spPr>
          <a:xfrm>
            <a:off x="292608" y="3678174"/>
            <a:ext cx="502920" cy="201168"/>
          </a:xfrm>
          <a:prstGeom prst="rect">
            <a:avLst/>
          </a:prstGeom>
          <a:noFill/>
          <a:ln/>
        </p:spPr>
        <p:txBody>
          <a:bodyPr wrap="square" lIns="0" tIns="0" rIns="0" bIns="0" rtlCol="0" anchor="ctr"/>
          <a:lstStyle/>
          <a:p>
            <a:pPr marL="0" indent="0" algn="ctr">
              <a:buNone/>
            </a:pPr>
            <a:r>
              <a:rPr lang="en-US" sz="750" b="1" dirty="0">
                <a:solidFill>
                  <a:srgbClr val="DC2626"/>
                </a:solidFill>
              </a:rPr>
              <a:t>$43K</a:t>
            </a:r>
            <a:endParaRPr lang="en-US" sz="750" dirty="0"/>
          </a:p>
        </p:txBody>
      </p:sp>
      <p:sp>
        <p:nvSpPr>
          <p:cNvPr id="23" name="Shape 21"/>
          <p:cNvSpPr/>
          <p:nvPr/>
        </p:nvSpPr>
        <p:spPr>
          <a:xfrm>
            <a:off x="886968" y="2656332"/>
            <a:ext cx="502920" cy="1714500"/>
          </a:xfrm>
          <a:prstGeom prst="rect">
            <a:avLst/>
          </a:prstGeom>
          <a:solidFill>
            <a:srgbClr val="059669"/>
          </a:solidFill>
          <a:ln/>
        </p:spPr>
        <p:txBody>
          <a:bodyPr/>
          <a:lstStyle/>
          <a:p>
            <a:endParaRPr lang="en-US"/>
          </a:p>
        </p:txBody>
      </p:sp>
      <p:sp>
        <p:nvSpPr>
          <p:cNvPr id="24" name="Text 22"/>
          <p:cNvSpPr/>
          <p:nvPr/>
        </p:nvSpPr>
        <p:spPr>
          <a:xfrm>
            <a:off x="886968" y="2455164"/>
            <a:ext cx="502920" cy="201168"/>
          </a:xfrm>
          <a:prstGeom prst="rect">
            <a:avLst/>
          </a:prstGeom>
          <a:noFill/>
          <a:ln/>
        </p:spPr>
        <p:txBody>
          <a:bodyPr wrap="square" lIns="0" tIns="0" rIns="0" bIns="0" rtlCol="0" anchor="ctr"/>
          <a:lstStyle/>
          <a:p>
            <a:pPr marL="0" indent="0" algn="ctr">
              <a:buNone/>
            </a:pPr>
            <a:r>
              <a:rPr lang="en-US" sz="750" b="1" dirty="0">
                <a:solidFill>
                  <a:srgbClr val="059669"/>
                </a:solidFill>
              </a:rPr>
              <a:t>$150K</a:t>
            </a:r>
            <a:endParaRPr lang="en-US" sz="750" dirty="0"/>
          </a:p>
        </p:txBody>
      </p:sp>
      <p:sp>
        <p:nvSpPr>
          <p:cNvPr id="25" name="Text 23"/>
          <p:cNvSpPr/>
          <p:nvPr/>
        </p:nvSpPr>
        <p:spPr>
          <a:xfrm>
            <a:off x="292608" y="4416552"/>
            <a:ext cx="1097280" cy="201168"/>
          </a:xfrm>
          <a:prstGeom prst="rect">
            <a:avLst/>
          </a:prstGeom>
          <a:noFill/>
          <a:ln/>
        </p:spPr>
        <p:txBody>
          <a:bodyPr wrap="square" lIns="0" tIns="0" rIns="0" bIns="0" rtlCol="0" anchor="ctr"/>
          <a:lstStyle/>
          <a:p>
            <a:pPr marL="0" indent="0" algn="ctr">
              <a:buNone/>
            </a:pPr>
            <a:r>
              <a:rPr lang="en-US" sz="800" b="1" dirty="0">
                <a:solidFill>
                  <a:srgbClr val="1B3A6B"/>
                </a:solidFill>
              </a:rPr>
              <a:t>Net: $107K</a:t>
            </a:r>
            <a:endParaRPr lang="en-US" sz="800" dirty="0"/>
          </a:p>
        </p:txBody>
      </p:sp>
      <p:sp>
        <p:nvSpPr>
          <p:cNvPr id="26" name="Text 24"/>
          <p:cNvSpPr/>
          <p:nvPr/>
        </p:nvSpPr>
        <p:spPr>
          <a:xfrm>
            <a:off x="292608" y="4626864"/>
            <a:ext cx="1097280" cy="182880"/>
          </a:xfrm>
          <a:prstGeom prst="rect">
            <a:avLst/>
          </a:prstGeom>
          <a:noFill/>
          <a:ln/>
        </p:spPr>
        <p:txBody>
          <a:bodyPr wrap="square" lIns="0" tIns="0" rIns="0" bIns="0" rtlCol="0" anchor="ctr"/>
          <a:lstStyle/>
          <a:p>
            <a:pPr marL="0" indent="0" algn="ctr">
              <a:buNone/>
            </a:pPr>
            <a:r>
              <a:rPr lang="en-US" sz="800" dirty="0">
                <a:solidFill>
                  <a:srgbClr val="64748B"/>
                </a:solidFill>
              </a:rPr>
              <a:t>Year 1</a:t>
            </a:r>
            <a:endParaRPr lang="en-US" sz="800" dirty="0"/>
          </a:p>
        </p:txBody>
      </p:sp>
      <p:sp>
        <p:nvSpPr>
          <p:cNvPr id="27" name="Shape 25"/>
          <p:cNvSpPr/>
          <p:nvPr/>
        </p:nvSpPr>
        <p:spPr>
          <a:xfrm>
            <a:off x="2121408" y="4279392"/>
            <a:ext cx="502920" cy="91440"/>
          </a:xfrm>
          <a:prstGeom prst="rect">
            <a:avLst/>
          </a:prstGeom>
          <a:solidFill>
            <a:srgbClr val="DC2626"/>
          </a:solidFill>
          <a:ln/>
        </p:spPr>
        <p:txBody>
          <a:bodyPr/>
          <a:lstStyle/>
          <a:p>
            <a:endParaRPr lang="en-US"/>
          </a:p>
        </p:txBody>
      </p:sp>
      <p:sp>
        <p:nvSpPr>
          <p:cNvPr id="28" name="Text 26"/>
          <p:cNvSpPr/>
          <p:nvPr/>
        </p:nvSpPr>
        <p:spPr>
          <a:xfrm>
            <a:off x="2121408" y="4078224"/>
            <a:ext cx="502920" cy="201168"/>
          </a:xfrm>
          <a:prstGeom prst="rect">
            <a:avLst/>
          </a:prstGeom>
          <a:noFill/>
          <a:ln/>
        </p:spPr>
        <p:txBody>
          <a:bodyPr wrap="square" lIns="0" tIns="0" rIns="0" bIns="0" rtlCol="0" anchor="ctr"/>
          <a:lstStyle/>
          <a:p>
            <a:pPr marL="0" indent="0" algn="ctr">
              <a:buNone/>
            </a:pPr>
            <a:r>
              <a:rPr lang="en-US" sz="750" b="1" dirty="0">
                <a:solidFill>
                  <a:srgbClr val="DC2626"/>
                </a:solidFill>
              </a:rPr>
              <a:t>$8K</a:t>
            </a:r>
            <a:endParaRPr lang="en-US" sz="750" dirty="0"/>
          </a:p>
        </p:txBody>
      </p:sp>
      <p:sp>
        <p:nvSpPr>
          <p:cNvPr id="29" name="Shape 27"/>
          <p:cNvSpPr/>
          <p:nvPr/>
        </p:nvSpPr>
        <p:spPr>
          <a:xfrm>
            <a:off x="2715768" y="2656332"/>
            <a:ext cx="502920" cy="1714500"/>
          </a:xfrm>
          <a:prstGeom prst="rect">
            <a:avLst/>
          </a:prstGeom>
          <a:solidFill>
            <a:srgbClr val="059669"/>
          </a:solidFill>
          <a:ln/>
        </p:spPr>
        <p:txBody>
          <a:bodyPr/>
          <a:lstStyle/>
          <a:p>
            <a:endParaRPr lang="en-US"/>
          </a:p>
        </p:txBody>
      </p:sp>
      <p:sp>
        <p:nvSpPr>
          <p:cNvPr id="30" name="Text 28"/>
          <p:cNvSpPr/>
          <p:nvPr/>
        </p:nvSpPr>
        <p:spPr>
          <a:xfrm>
            <a:off x="2715768" y="2455164"/>
            <a:ext cx="502920" cy="201168"/>
          </a:xfrm>
          <a:prstGeom prst="rect">
            <a:avLst/>
          </a:prstGeom>
          <a:noFill/>
          <a:ln/>
        </p:spPr>
        <p:txBody>
          <a:bodyPr wrap="square" lIns="0" tIns="0" rIns="0" bIns="0" rtlCol="0" anchor="ctr"/>
          <a:lstStyle/>
          <a:p>
            <a:pPr marL="0" indent="0" algn="ctr">
              <a:buNone/>
            </a:pPr>
            <a:r>
              <a:rPr lang="en-US" sz="750" b="1" dirty="0">
                <a:solidFill>
                  <a:srgbClr val="059669"/>
                </a:solidFill>
              </a:rPr>
              <a:t>$150K</a:t>
            </a:r>
            <a:endParaRPr lang="en-US" sz="750" dirty="0"/>
          </a:p>
        </p:txBody>
      </p:sp>
      <p:sp>
        <p:nvSpPr>
          <p:cNvPr id="31" name="Text 29"/>
          <p:cNvSpPr/>
          <p:nvPr/>
        </p:nvSpPr>
        <p:spPr>
          <a:xfrm>
            <a:off x="2121408" y="4416552"/>
            <a:ext cx="1097280" cy="201168"/>
          </a:xfrm>
          <a:prstGeom prst="rect">
            <a:avLst/>
          </a:prstGeom>
          <a:noFill/>
          <a:ln/>
        </p:spPr>
        <p:txBody>
          <a:bodyPr wrap="square" lIns="0" tIns="0" rIns="0" bIns="0" rtlCol="0" anchor="ctr"/>
          <a:lstStyle/>
          <a:p>
            <a:pPr marL="0" indent="0" algn="ctr">
              <a:buNone/>
            </a:pPr>
            <a:r>
              <a:rPr lang="en-US" sz="800" b="1" dirty="0">
                <a:solidFill>
                  <a:srgbClr val="1B3A6B"/>
                </a:solidFill>
              </a:rPr>
              <a:t>Net: $142K</a:t>
            </a:r>
            <a:endParaRPr lang="en-US" sz="800" dirty="0"/>
          </a:p>
        </p:txBody>
      </p:sp>
      <p:sp>
        <p:nvSpPr>
          <p:cNvPr id="32" name="Text 30"/>
          <p:cNvSpPr/>
          <p:nvPr/>
        </p:nvSpPr>
        <p:spPr>
          <a:xfrm>
            <a:off x="2121408" y="4626864"/>
            <a:ext cx="1097280" cy="182880"/>
          </a:xfrm>
          <a:prstGeom prst="rect">
            <a:avLst/>
          </a:prstGeom>
          <a:noFill/>
          <a:ln/>
        </p:spPr>
        <p:txBody>
          <a:bodyPr wrap="square" lIns="0" tIns="0" rIns="0" bIns="0" rtlCol="0" anchor="ctr"/>
          <a:lstStyle/>
          <a:p>
            <a:pPr marL="0" indent="0" algn="ctr">
              <a:buNone/>
            </a:pPr>
            <a:r>
              <a:rPr lang="en-US" sz="800" dirty="0">
                <a:solidFill>
                  <a:srgbClr val="64748B"/>
                </a:solidFill>
              </a:rPr>
              <a:t>Year 2</a:t>
            </a:r>
            <a:endParaRPr lang="en-US" sz="800" dirty="0"/>
          </a:p>
        </p:txBody>
      </p:sp>
      <p:sp>
        <p:nvSpPr>
          <p:cNvPr id="33" name="Shape 31"/>
          <p:cNvSpPr/>
          <p:nvPr/>
        </p:nvSpPr>
        <p:spPr>
          <a:xfrm>
            <a:off x="3950208" y="4279392"/>
            <a:ext cx="502920" cy="91440"/>
          </a:xfrm>
          <a:prstGeom prst="rect">
            <a:avLst/>
          </a:prstGeom>
          <a:solidFill>
            <a:srgbClr val="DC2626"/>
          </a:solidFill>
          <a:ln/>
        </p:spPr>
        <p:txBody>
          <a:bodyPr/>
          <a:lstStyle/>
          <a:p>
            <a:endParaRPr lang="en-US"/>
          </a:p>
        </p:txBody>
      </p:sp>
      <p:sp>
        <p:nvSpPr>
          <p:cNvPr id="34" name="Text 32"/>
          <p:cNvSpPr/>
          <p:nvPr/>
        </p:nvSpPr>
        <p:spPr>
          <a:xfrm>
            <a:off x="3950208" y="4078224"/>
            <a:ext cx="502920" cy="201168"/>
          </a:xfrm>
          <a:prstGeom prst="rect">
            <a:avLst/>
          </a:prstGeom>
          <a:noFill/>
          <a:ln/>
        </p:spPr>
        <p:txBody>
          <a:bodyPr wrap="square" lIns="0" tIns="0" rIns="0" bIns="0" rtlCol="0" anchor="ctr"/>
          <a:lstStyle/>
          <a:p>
            <a:pPr marL="0" indent="0" algn="ctr">
              <a:buNone/>
            </a:pPr>
            <a:r>
              <a:rPr lang="en-US" sz="750" b="1" dirty="0">
                <a:solidFill>
                  <a:srgbClr val="DC2626"/>
                </a:solidFill>
              </a:rPr>
              <a:t>$8K</a:t>
            </a:r>
            <a:endParaRPr lang="en-US" sz="750" dirty="0"/>
          </a:p>
        </p:txBody>
      </p:sp>
      <p:sp>
        <p:nvSpPr>
          <p:cNvPr id="35" name="Shape 33"/>
          <p:cNvSpPr/>
          <p:nvPr/>
        </p:nvSpPr>
        <p:spPr>
          <a:xfrm>
            <a:off x="4544568" y="2542032"/>
            <a:ext cx="502920" cy="1828800"/>
          </a:xfrm>
          <a:prstGeom prst="rect">
            <a:avLst/>
          </a:prstGeom>
          <a:solidFill>
            <a:srgbClr val="059669"/>
          </a:solidFill>
          <a:ln/>
        </p:spPr>
        <p:txBody>
          <a:bodyPr/>
          <a:lstStyle/>
          <a:p>
            <a:endParaRPr lang="en-US"/>
          </a:p>
        </p:txBody>
      </p:sp>
      <p:sp>
        <p:nvSpPr>
          <p:cNvPr id="36" name="Text 34"/>
          <p:cNvSpPr/>
          <p:nvPr/>
        </p:nvSpPr>
        <p:spPr>
          <a:xfrm>
            <a:off x="4544568" y="2340864"/>
            <a:ext cx="502920" cy="201168"/>
          </a:xfrm>
          <a:prstGeom prst="rect">
            <a:avLst/>
          </a:prstGeom>
          <a:noFill/>
          <a:ln/>
        </p:spPr>
        <p:txBody>
          <a:bodyPr wrap="square" lIns="0" tIns="0" rIns="0" bIns="0" rtlCol="0" anchor="ctr"/>
          <a:lstStyle/>
          <a:p>
            <a:pPr marL="0" indent="0" algn="ctr">
              <a:buNone/>
            </a:pPr>
            <a:r>
              <a:rPr lang="en-US" sz="750" b="1" dirty="0">
                <a:solidFill>
                  <a:srgbClr val="059669"/>
                </a:solidFill>
              </a:rPr>
              <a:t>$160K</a:t>
            </a:r>
            <a:endParaRPr lang="en-US" sz="750" dirty="0"/>
          </a:p>
        </p:txBody>
      </p:sp>
      <p:sp>
        <p:nvSpPr>
          <p:cNvPr id="37" name="Text 35"/>
          <p:cNvSpPr/>
          <p:nvPr/>
        </p:nvSpPr>
        <p:spPr>
          <a:xfrm>
            <a:off x="3950208" y="4416552"/>
            <a:ext cx="1097280" cy="201168"/>
          </a:xfrm>
          <a:prstGeom prst="rect">
            <a:avLst/>
          </a:prstGeom>
          <a:noFill/>
          <a:ln/>
        </p:spPr>
        <p:txBody>
          <a:bodyPr wrap="square" lIns="0" tIns="0" rIns="0" bIns="0" rtlCol="0" anchor="ctr"/>
          <a:lstStyle/>
          <a:p>
            <a:pPr marL="0" indent="0" algn="ctr">
              <a:buNone/>
            </a:pPr>
            <a:r>
              <a:rPr lang="en-US" sz="800" b="1" dirty="0">
                <a:solidFill>
                  <a:srgbClr val="1B3A6B"/>
                </a:solidFill>
              </a:rPr>
              <a:t>Net: $152K</a:t>
            </a:r>
            <a:endParaRPr lang="en-US" sz="800" dirty="0"/>
          </a:p>
        </p:txBody>
      </p:sp>
      <p:sp>
        <p:nvSpPr>
          <p:cNvPr id="38" name="Text 36"/>
          <p:cNvSpPr/>
          <p:nvPr/>
        </p:nvSpPr>
        <p:spPr>
          <a:xfrm>
            <a:off x="3950208" y="4626864"/>
            <a:ext cx="1097280" cy="182880"/>
          </a:xfrm>
          <a:prstGeom prst="rect">
            <a:avLst/>
          </a:prstGeom>
          <a:noFill/>
          <a:ln/>
        </p:spPr>
        <p:txBody>
          <a:bodyPr wrap="square" lIns="0" tIns="0" rIns="0" bIns="0" rtlCol="0" anchor="ctr"/>
          <a:lstStyle/>
          <a:p>
            <a:pPr marL="0" indent="0" algn="ctr">
              <a:buNone/>
            </a:pPr>
            <a:r>
              <a:rPr lang="en-US" sz="800" dirty="0">
                <a:solidFill>
                  <a:srgbClr val="64748B"/>
                </a:solidFill>
              </a:rPr>
              <a:t>Year 3</a:t>
            </a:r>
            <a:endParaRPr lang="en-US" sz="800" dirty="0"/>
          </a:p>
        </p:txBody>
      </p:sp>
      <p:sp>
        <p:nvSpPr>
          <p:cNvPr id="39" name="Shape 37"/>
          <p:cNvSpPr/>
          <p:nvPr/>
        </p:nvSpPr>
        <p:spPr>
          <a:xfrm>
            <a:off x="201168" y="2487168"/>
            <a:ext cx="164592" cy="128016"/>
          </a:xfrm>
          <a:prstGeom prst="rect">
            <a:avLst/>
          </a:prstGeom>
          <a:solidFill>
            <a:srgbClr val="DC2626"/>
          </a:solidFill>
          <a:ln/>
        </p:spPr>
        <p:txBody>
          <a:bodyPr/>
          <a:lstStyle/>
          <a:p>
            <a:endParaRPr lang="en-US"/>
          </a:p>
        </p:txBody>
      </p:sp>
      <p:sp>
        <p:nvSpPr>
          <p:cNvPr id="40" name="Text 38"/>
          <p:cNvSpPr/>
          <p:nvPr/>
        </p:nvSpPr>
        <p:spPr>
          <a:xfrm>
            <a:off x="402336" y="2478024"/>
            <a:ext cx="914400" cy="137160"/>
          </a:xfrm>
          <a:prstGeom prst="rect">
            <a:avLst/>
          </a:prstGeom>
          <a:noFill/>
          <a:ln/>
        </p:spPr>
        <p:txBody>
          <a:bodyPr wrap="square" lIns="0" tIns="0" rIns="0" bIns="0" rtlCol="0" anchor="ctr"/>
          <a:lstStyle/>
          <a:p>
            <a:pPr marL="0" indent="0">
              <a:buNone/>
            </a:pPr>
            <a:r>
              <a:rPr lang="en-US" sz="750" dirty="0">
                <a:solidFill>
                  <a:srgbClr val="64748B"/>
                </a:solidFill>
              </a:rPr>
              <a:t>Investment</a:t>
            </a:r>
            <a:endParaRPr lang="en-US" sz="750" dirty="0"/>
          </a:p>
        </p:txBody>
      </p:sp>
      <p:sp>
        <p:nvSpPr>
          <p:cNvPr id="41" name="Shape 39"/>
          <p:cNvSpPr/>
          <p:nvPr/>
        </p:nvSpPr>
        <p:spPr>
          <a:xfrm>
            <a:off x="1389888" y="2487168"/>
            <a:ext cx="164592" cy="128016"/>
          </a:xfrm>
          <a:prstGeom prst="rect">
            <a:avLst/>
          </a:prstGeom>
          <a:solidFill>
            <a:srgbClr val="059669"/>
          </a:solidFill>
          <a:ln/>
        </p:spPr>
        <p:txBody>
          <a:bodyPr/>
          <a:lstStyle/>
          <a:p>
            <a:endParaRPr lang="en-US"/>
          </a:p>
        </p:txBody>
      </p:sp>
      <p:sp>
        <p:nvSpPr>
          <p:cNvPr id="42" name="Text 40"/>
          <p:cNvSpPr/>
          <p:nvPr/>
        </p:nvSpPr>
        <p:spPr>
          <a:xfrm>
            <a:off x="1591056" y="2478024"/>
            <a:ext cx="1097280" cy="137160"/>
          </a:xfrm>
          <a:prstGeom prst="rect">
            <a:avLst/>
          </a:prstGeom>
          <a:noFill/>
          <a:ln/>
        </p:spPr>
        <p:txBody>
          <a:bodyPr wrap="square" lIns="0" tIns="0" rIns="0" bIns="0" rtlCol="0" anchor="ctr"/>
          <a:lstStyle/>
          <a:p>
            <a:pPr marL="0" indent="0">
              <a:buNone/>
            </a:pPr>
            <a:r>
              <a:rPr lang="en-US" sz="750" dirty="0">
                <a:solidFill>
                  <a:srgbClr val="64748B"/>
                </a:solidFill>
              </a:rPr>
              <a:t>Fraud Savings</a:t>
            </a:r>
            <a:endParaRPr lang="en-US" sz="750" dirty="0"/>
          </a:p>
        </p:txBody>
      </p:sp>
      <p:sp>
        <p:nvSpPr>
          <p:cNvPr id="43" name="Shape 41"/>
          <p:cNvSpPr/>
          <p:nvPr/>
        </p:nvSpPr>
        <p:spPr>
          <a:xfrm>
            <a:off x="5760720" y="2212848"/>
            <a:ext cx="3182112" cy="2176272"/>
          </a:xfrm>
          <a:prstGeom prst="rect">
            <a:avLst/>
          </a:prstGeom>
          <a:solidFill>
            <a:srgbClr val="EFF6FF"/>
          </a:solidFill>
          <a:ln/>
          <a:effectLst>
            <a:outerShdw blurRad="101600" dist="38100" dir="8100000" algn="bl" rotWithShape="0">
              <a:srgbClr val="000000">
                <a:alpha val="10000"/>
              </a:srgbClr>
            </a:outerShdw>
          </a:effectLst>
        </p:spPr>
        <p:txBody>
          <a:bodyPr/>
          <a:lstStyle/>
          <a:p>
            <a:endParaRPr lang="en-US"/>
          </a:p>
        </p:txBody>
      </p:sp>
      <p:sp>
        <p:nvSpPr>
          <p:cNvPr id="44" name="Shape 42"/>
          <p:cNvSpPr/>
          <p:nvPr/>
        </p:nvSpPr>
        <p:spPr>
          <a:xfrm>
            <a:off x="5760720" y="2212848"/>
            <a:ext cx="3182112" cy="64008"/>
          </a:xfrm>
          <a:prstGeom prst="rect">
            <a:avLst/>
          </a:prstGeom>
          <a:solidFill>
            <a:srgbClr val="2563EB"/>
          </a:solidFill>
          <a:ln/>
        </p:spPr>
        <p:txBody>
          <a:bodyPr/>
          <a:lstStyle/>
          <a:p>
            <a:endParaRPr lang="en-US"/>
          </a:p>
        </p:txBody>
      </p:sp>
      <p:sp>
        <p:nvSpPr>
          <p:cNvPr id="45" name="Text 43"/>
          <p:cNvSpPr/>
          <p:nvPr/>
        </p:nvSpPr>
        <p:spPr>
          <a:xfrm>
            <a:off x="5870448" y="2304288"/>
            <a:ext cx="2971800" cy="228600"/>
          </a:xfrm>
          <a:prstGeom prst="rect">
            <a:avLst/>
          </a:prstGeom>
          <a:noFill/>
          <a:ln/>
        </p:spPr>
        <p:txBody>
          <a:bodyPr wrap="square" lIns="0" tIns="0" rIns="0" bIns="0" rtlCol="0" anchor="ctr"/>
          <a:lstStyle/>
          <a:p>
            <a:pPr marL="0" indent="0">
              <a:buNone/>
            </a:pPr>
            <a:r>
              <a:rPr lang="en-US" sz="800" b="1" dirty="0">
                <a:solidFill>
                  <a:srgbClr val="1B3A6B"/>
                </a:solidFill>
              </a:rPr>
              <a:t>ADDITIONAL VALUE NOT IN ROI MODEL</a:t>
            </a:r>
            <a:endParaRPr lang="en-US" sz="800" dirty="0"/>
          </a:p>
        </p:txBody>
      </p:sp>
      <p:sp>
        <p:nvSpPr>
          <p:cNvPr id="46" name="Text 44"/>
          <p:cNvSpPr/>
          <p:nvPr/>
        </p:nvSpPr>
        <p:spPr>
          <a:xfrm>
            <a:off x="5870448" y="2606040"/>
            <a:ext cx="2971800" cy="384048"/>
          </a:xfrm>
          <a:prstGeom prst="rect">
            <a:avLst/>
          </a:prstGeom>
          <a:noFill/>
          <a:ln/>
        </p:spPr>
        <p:txBody>
          <a:bodyPr wrap="square" lIns="0" tIns="0" rIns="0" bIns="0" rtlCol="0" anchor="ctr"/>
          <a:lstStyle/>
          <a:p>
            <a:pPr marL="0" indent="0">
              <a:buNone/>
            </a:pPr>
            <a:r>
              <a:rPr lang="en-US" sz="850" dirty="0">
                <a:solidFill>
                  <a:srgbClr val="1E293B"/>
                </a:solidFill>
              </a:rPr>
              <a:t>• 30% faster claim processing (STP removes adjuster backlog)</a:t>
            </a:r>
            <a:endParaRPr lang="en-US" sz="850" dirty="0"/>
          </a:p>
        </p:txBody>
      </p:sp>
      <p:sp>
        <p:nvSpPr>
          <p:cNvPr id="47" name="Text 45"/>
          <p:cNvSpPr/>
          <p:nvPr/>
        </p:nvSpPr>
        <p:spPr>
          <a:xfrm>
            <a:off x="5870448" y="3017520"/>
            <a:ext cx="2971800" cy="384048"/>
          </a:xfrm>
          <a:prstGeom prst="rect">
            <a:avLst/>
          </a:prstGeom>
          <a:noFill/>
          <a:ln/>
        </p:spPr>
        <p:txBody>
          <a:bodyPr wrap="square" lIns="0" tIns="0" rIns="0" bIns="0" rtlCol="0" anchor="ctr"/>
          <a:lstStyle/>
          <a:p>
            <a:pPr marL="0" indent="0">
              <a:buNone/>
            </a:pPr>
            <a:r>
              <a:rPr lang="en-US" sz="850" dirty="0">
                <a:solidFill>
                  <a:srgbClr val="1E293B"/>
                </a:solidFill>
              </a:rPr>
              <a:t>• Improved NPS: Legitimate customers processed same-day</a:t>
            </a:r>
            <a:endParaRPr lang="en-US" sz="850" dirty="0"/>
          </a:p>
        </p:txBody>
      </p:sp>
      <p:sp>
        <p:nvSpPr>
          <p:cNvPr id="48" name="Text 46"/>
          <p:cNvSpPr/>
          <p:nvPr/>
        </p:nvSpPr>
        <p:spPr>
          <a:xfrm>
            <a:off x="5870448" y="3429000"/>
            <a:ext cx="2971800" cy="384048"/>
          </a:xfrm>
          <a:prstGeom prst="rect">
            <a:avLst/>
          </a:prstGeom>
          <a:noFill/>
          <a:ln/>
        </p:spPr>
        <p:txBody>
          <a:bodyPr wrap="square" lIns="0" tIns="0" rIns="0" bIns="0" rtlCol="0" anchor="ctr"/>
          <a:lstStyle/>
          <a:p>
            <a:pPr marL="0" indent="0">
              <a:buNone/>
            </a:pPr>
            <a:r>
              <a:rPr lang="en-US" sz="850" dirty="0">
                <a:solidFill>
                  <a:srgbClr val="1E293B"/>
                </a:solidFill>
              </a:rPr>
              <a:t>• Partner management: Audit capability for rogue partner detection</a:t>
            </a:r>
            <a:endParaRPr lang="en-US" sz="850" dirty="0"/>
          </a:p>
        </p:txBody>
      </p:sp>
      <p:sp>
        <p:nvSpPr>
          <p:cNvPr id="49" name="Text 47"/>
          <p:cNvSpPr/>
          <p:nvPr/>
        </p:nvSpPr>
        <p:spPr>
          <a:xfrm>
            <a:off x="5870448" y="3840480"/>
            <a:ext cx="2971800" cy="384048"/>
          </a:xfrm>
          <a:prstGeom prst="rect">
            <a:avLst/>
          </a:prstGeom>
          <a:noFill/>
          <a:ln/>
        </p:spPr>
        <p:txBody>
          <a:bodyPr wrap="square" lIns="0" tIns="0" rIns="0" bIns="0" rtlCol="0" anchor="ctr"/>
          <a:lstStyle/>
          <a:p>
            <a:pPr marL="0" indent="0">
              <a:buNone/>
            </a:pPr>
            <a:r>
              <a:rPr lang="en-US" sz="850" dirty="0">
                <a:solidFill>
                  <a:srgbClr val="1E293B"/>
                </a:solidFill>
              </a:rPr>
              <a:t>• Regulatory: Audit trail for every claim decision</a:t>
            </a:r>
            <a:endParaRPr lang="en-US" sz="850" dirty="0"/>
          </a:p>
        </p:txBody>
      </p:sp>
      <p:sp>
        <p:nvSpPr>
          <p:cNvPr id="50" name="Shape 48"/>
          <p:cNvSpPr/>
          <p:nvPr/>
        </p:nvSpPr>
        <p:spPr>
          <a:xfrm>
            <a:off x="201168" y="4462272"/>
            <a:ext cx="8741664" cy="457200"/>
          </a:xfrm>
          <a:prstGeom prst="rect">
            <a:avLst/>
          </a:prstGeom>
          <a:solidFill>
            <a:srgbClr val="D1FAE5"/>
          </a:solidFill>
          <a:ln/>
        </p:spPr>
        <p:txBody>
          <a:bodyPr/>
          <a:lstStyle/>
          <a:p>
            <a:endParaRPr lang="en-US"/>
          </a:p>
        </p:txBody>
      </p:sp>
      <p:sp>
        <p:nvSpPr>
          <p:cNvPr id="51" name="Shape 49"/>
          <p:cNvSpPr/>
          <p:nvPr/>
        </p:nvSpPr>
        <p:spPr>
          <a:xfrm>
            <a:off x="201168" y="4462272"/>
            <a:ext cx="73152" cy="457200"/>
          </a:xfrm>
          <a:prstGeom prst="rect">
            <a:avLst/>
          </a:prstGeom>
          <a:solidFill>
            <a:srgbClr val="059669"/>
          </a:solidFill>
          <a:ln/>
        </p:spPr>
        <p:txBody>
          <a:bodyPr/>
          <a:lstStyle/>
          <a:p>
            <a:endParaRPr lang="en-US"/>
          </a:p>
        </p:txBody>
      </p:sp>
      <p:sp>
        <p:nvSpPr>
          <p:cNvPr id="52" name="Text 50"/>
          <p:cNvSpPr/>
          <p:nvPr/>
        </p:nvSpPr>
        <p:spPr>
          <a:xfrm>
            <a:off x="347472" y="4489704"/>
            <a:ext cx="8458200" cy="384048"/>
          </a:xfrm>
          <a:prstGeom prst="rect">
            <a:avLst/>
          </a:prstGeom>
          <a:noFill/>
          <a:ln/>
        </p:spPr>
        <p:txBody>
          <a:bodyPr wrap="square" lIns="0" tIns="0" rIns="0" bIns="0" rtlCol="0" anchor="ctr"/>
          <a:lstStyle/>
          <a:p>
            <a:pPr marL="0" indent="0">
              <a:buNone/>
            </a:pPr>
            <a:r>
              <a:rPr lang="en-US" sz="850" dirty="0">
                <a:solidFill>
                  <a:srgbClr val="1E293B"/>
                </a:solidFill>
              </a:rPr>
              <a:t>Conservative scenario: Even if fraud savings are 50% lower than projected, Year 1 ROI remains positive at USD 32K net benefit. The deployment investment is justified at any realistic fraud rate above 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152D54"/>
          </a:solidFill>
          <a:ln/>
        </p:spPr>
        <p:txBody>
          <a:bodyPr/>
          <a:lstStyle/>
          <a:p>
            <a:endParaRPr lang="en-US"/>
          </a:p>
        </p:txBody>
      </p:sp>
      <p:sp>
        <p:nvSpPr>
          <p:cNvPr id="3" name="Shape 1"/>
          <p:cNvSpPr/>
          <p:nvPr/>
        </p:nvSpPr>
        <p:spPr>
          <a:xfrm>
            <a:off x="0" y="512064"/>
            <a:ext cx="9144000" cy="54864"/>
          </a:xfrm>
          <a:prstGeom prst="rect">
            <a:avLst/>
          </a:prstGeom>
          <a:solidFill>
            <a:srgbClr val="2563EB"/>
          </a:solidFill>
          <a:ln/>
        </p:spPr>
        <p:txBody>
          <a:bodyPr/>
          <a:lstStyle/>
          <a:p>
            <a:endParaRPr lang="en-US"/>
          </a:p>
        </p:txBody>
      </p:sp>
      <p:sp>
        <p:nvSpPr>
          <p:cNvPr id="4" name="Text 2"/>
          <p:cNvSpPr/>
          <p:nvPr/>
        </p:nvSpPr>
        <p:spPr>
          <a:xfrm>
            <a:off x="320040" y="54864"/>
            <a:ext cx="8503920" cy="438912"/>
          </a:xfrm>
          <a:prstGeom prst="rect">
            <a:avLst/>
          </a:prstGeom>
          <a:noFill/>
          <a:ln/>
        </p:spPr>
        <p:txBody>
          <a:bodyPr wrap="square" lIns="0" tIns="0" rIns="0" bIns="0" rtlCol="0" anchor="ctr"/>
          <a:lstStyle/>
          <a:p>
            <a:pPr marL="0" indent="0">
              <a:buNone/>
            </a:pPr>
            <a:r>
              <a:rPr lang="en-US" sz="1400" b="1" dirty="0">
                <a:solidFill>
                  <a:srgbClr val="FFFFFF"/>
                </a:solidFill>
              </a:rPr>
              <a:t>IMPLEMENTATION ROADMAP &amp; BOARD DECISION REQUIRED</a:t>
            </a:r>
            <a:endParaRPr lang="en-US" sz="1400" dirty="0"/>
          </a:p>
        </p:txBody>
      </p:sp>
      <p:sp>
        <p:nvSpPr>
          <p:cNvPr id="5" name="Shape 3"/>
          <p:cNvSpPr/>
          <p:nvPr/>
        </p:nvSpPr>
        <p:spPr>
          <a:xfrm>
            <a:off x="182880" y="658368"/>
            <a:ext cx="2084832" cy="320040"/>
          </a:xfrm>
          <a:prstGeom prst="rect">
            <a:avLst/>
          </a:prstGeom>
          <a:solidFill>
            <a:srgbClr val="2563EB"/>
          </a:solidFill>
          <a:ln/>
        </p:spPr>
        <p:txBody>
          <a:bodyPr/>
          <a:lstStyle/>
          <a:p>
            <a:endParaRPr lang="en-US"/>
          </a:p>
        </p:txBody>
      </p:sp>
      <p:sp>
        <p:nvSpPr>
          <p:cNvPr id="6" name="Text 4"/>
          <p:cNvSpPr/>
          <p:nvPr/>
        </p:nvSpPr>
        <p:spPr>
          <a:xfrm>
            <a:off x="182880" y="658368"/>
            <a:ext cx="1188720" cy="320040"/>
          </a:xfrm>
          <a:prstGeom prst="rect">
            <a:avLst/>
          </a:prstGeom>
          <a:noFill/>
          <a:ln/>
        </p:spPr>
        <p:txBody>
          <a:bodyPr wrap="square" lIns="0" tIns="0" rIns="0" bIns="0" rtlCol="0" anchor="ctr"/>
          <a:lstStyle/>
          <a:p>
            <a:pPr marL="0" indent="0" algn="ctr">
              <a:buNone/>
            </a:pPr>
            <a:r>
              <a:rPr lang="en-US" sz="800" b="1" dirty="0">
                <a:solidFill>
                  <a:srgbClr val="FFFFFF"/>
                </a:solidFill>
              </a:rPr>
              <a:t>PHASE 1</a:t>
            </a:r>
            <a:endParaRPr lang="en-US" sz="800" dirty="0"/>
          </a:p>
        </p:txBody>
      </p:sp>
      <p:sp>
        <p:nvSpPr>
          <p:cNvPr id="7" name="Text 5"/>
          <p:cNvSpPr/>
          <p:nvPr/>
        </p:nvSpPr>
        <p:spPr>
          <a:xfrm>
            <a:off x="1389888" y="658368"/>
            <a:ext cx="877824" cy="320040"/>
          </a:xfrm>
          <a:prstGeom prst="rect">
            <a:avLst/>
          </a:prstGeom>
          <a:noFill/>
          <a:ln/>
        </p:spPr>
        <p:txBody>
          <a:bodyPr wrap="square" lIns="0" tIns="0" rIns="0" bIns="0" rtlCol="0" anchor="ctr"/>
          <a:lstStyle/>
          <a:p>
            <a:pPr marL="0" indent="0" algn="ctr">
              <a:buNone/>
            </a:pPr>
            <a:r>
              <a:rPr lang="en-US" sz="750" dirty="0">
                <a:solidFill>
                  <a:srgbClr val="FFFFFF"/>
                </a:solidFill>
              </a:rPr>
              <a:t>Month 1–3</a:t>
            </a:r>
            <a:endParaRPr lang="en-US" sz="750" dirty="0"/>
          </a:p>
        </p:txBody>
      </p:sp>
      <p:sp>
        <p:nvSpPr>
          <p:cNvPr id="8" name="Shape 6"/>
          <p:cNvSpPr/>
          <p:nvPr/>
        </p:nvSpPr>
        <p:spPr>
          <a:xfrm>
            <a:off x="182880" y="978408"/>
            <a:ext cx="2084832" cy="2423160"/>
          </a:xfrm>
          <a:prstGeom prst="rect">
            <a:avLst/>
          </a:prstGeom>
          <a:solidFill>
            <a:srgbClr val="0F2547"/>
          </a:solidFill>
          <a:ln/>
          <a:effectLst>
            <a:outerShdw blurRad="101600" dist="38100" dir="8100000" algn="bl" rotWithShape="0">
              <a:srgbClr val="000000">
                <a:alpha val="10000"/>
              </a:srgbClr>
            </a:outerShdw>
          </a:effectLst>
        </p:spPr>
        <p:txBody>
          <a:bodyPr/>
          <a:lstStyle/>
          <a:p>
            <a:endParaRPr lang="en-US"/>
          </a:p>
        </p:txBody>
      </p:sp>
      <p:sp>
        <p:nvSpPr>
          <p:cNvPr id="9" name="Shape 7"/>
          <p:cNvSpPr/>
          <p:nvPr/>
        </p:nvSpPr>
        <p:spPr>
          <a:xfrm>
            <a:off x="182880" y="978408"/>
            <a:ext cx="2084832" cy="54864"/>
          </a:xfrm>
          <a:prstGeom prst="rect">
            <a:avLst/>
          </a:prstGeom>
          <a:solidFill>
            <a:srgbClr val="2563EB"/>
          </a:solidFill>
          <a:ln/>
        </p:spPr>
        <p:txBody>
          <a:bodyPr/>
          <a:lstStyle/>
          <a:p>
            <a:endParaRPr lang="en-US"/>
          </a:p>
        </p:txBody>
      </p:sp>
      <p:sp>
        <p:nvSpPr>
          <p:cNvPr id="10" name="Text 8"/>
          <p:cNvSpPr/>
          <p:nvPr/>
        </p:nvSpPr>
        <p:spPr>
          <a:xfrm>
            <a:off x="274320" y="1060704"/>
            <a:ext cx="1901952" cy="292608"/>
          </a:xfrm>
          <a:prstGeom prst="rect">
            <a:avLst/>
          </a:prstGeom>
          <a:noFill/>
          <a:ln/>
        </p:spPr>
        <p:txBody>
          <a:bodyPr wrap="square" lIns="0" tIns="0" rIns="0" bIns="0" rtlCol="0" anchor="ctr"/>
          <a:lstStyle/>
          <a:p>
            <a:pPr marL="0" indent="0">
              <a:buNone/>
            </a:pPr>
            <a:r>
              <a:rPr lang="en-US" sz="950" b="1" dirty="0">
                <a:solidFill>
                  <a:srgbClr val="2563EB"/>
                </a:solidFill>
              </a:rPr>
              <a:t>Shadow Mode Pilot</a:t>
            </a:r>
            <a:endParaRPr lang="en-US" sz="950" dirty="0"/>
          </a:p>
        </p:txBody>
      </p:sp>
      <p:sp>
        <p:nvSpPr>
          <p:cNvPr id="11" name="Text 9"/>
          <p:cNvSpPr/>
          <p:nvPr/>
        </p:nvSpPr>
        <p:spPr>
          <a:xfrm>
            <a:off x="274320" y="1389888"/>
            <a:ext cx="1901952" cy="1600200"/>
          </a:xfrm>
          <a:prstGeom prst="rect">
            <a:avLst/>
          </a:prstGeom>
          <a:noFill/>
          <a:ln/>
        </p:spPr>
        <p:txBody>
          <a:bodyPr wrap="square" lIns="0" tIns="0" rIns="0" bIns="0" rtlCol="0" anchor="ctr"/>
          <a:lstStyle/>
          <a:p>
            <a:pPr marL="0" indent="0">
              <a:buNone/>
            </a:pPr>
            <a:r>
              <a:rPr lang="en-US" sz="850" dirty="0">
                <a:solidFill>
                  <a:srgbClr val="BFDBFE"/>
                </a:solidFill>
              </a:rPr>
              <a:t>Model runs in parallel with the existing process. No operational changes are made. Scores are logged and compared against adjuster decisions to build confidence in model performance on ProTech's own data.</a:t>
            </a:r>
            <a:endParaRPr lang="en-US" sz="850" dirty="0"/>
          </a:p>
        </p:txBody>
      </p:sp>
      <p:sp>
        <p:nvSpPr>
          <p:cNvPr id="12" name="Shape 10"/>
          <p:cNvSpPr/>
          <p:nvPr/>
        </p:nvSpPr>
        <p:spPr>
          <a:xfrm>
            <a:off x="274320" y="3063240"/>
            <a:ext cx="1901952" cy="274320"/>
          </a:xfrm>
          <a:prstGeom prst="rect">
            <a:avLst/>
          </a:prstGeom>
          <a:solidFill>
            <a:srgbClr val="152D54"/>
          </a:solidFill>
          <a:ln/>
        </p:spPr>
        <p:txBody>
          <a:bodyPr/>
          <a:lstStyle/>
          <a:p>
            <a:endParaRPr lang="en-US"/>
          </a:p>
        </p:txBody>
      </p:sp>
      <p:sp>
        <p:nvSpPr>
          <p:cNvPr id="13" name="Text 11"/>
          <p:cNvSpPr/>
          <p:nvPr/>
        </p:nvSpPr>
        <p:spPr>
          <a:xfrm>
            <a:off x="274320" y="3081528"/>
            <a:ext cx="1901952" cy="237744"/>
          </a:xfrm>
          <a:prstGeom prst="rect">
            <a:avLst/>
          </a:prstGeom>
          <a:noFill/>
          <a:ln/>
        </p:spPr>
        <p:txBody>
          <a:bodyPr wrap="square" lIns="0" tIns="0" rIns="0" bIns="0" rtlCol="0" anchor="ctr"/>
          <a:lstStyle/>
          <a:p>
            <a:pPr marL="0" indent="0" algn="ctr">
              <a:buNone/>
            </a:pPr>
            <a:r>
              <a:rPr lang="en-US" sz="800" b="1" dirty="0">
                <a:solidFill>
                  <a:srgbClr val="2563EB"/>
                </a:solidFill>
              </a:rPr>
              <a:t>Investment: ~USD 5K</a:t>
            </a:r>
            <a:endParaRPr lang="en-US" sz="800" dirty="0"/>
          </a:p>
        </p:txBody>
      </p:sp>
      <p:sp>
        <p:nvSpPr>
          <p:cNvPr id="14" name="Shape 12"/>
          <p:cNvSpPr/>
          <p:nvPr/>
        </p:nvSpPr>
        <p:spPr>
          <a:xfrm>
            <a:off x="2423160" y="658368"/>
            <a:ext cx="2084832" cy="320040"/>
          </a:xfrm>
          <a:prstGeom prst="rect">
            <a:avLst/>
          </a:prstGeom>
          <a:solidFill>
            <a:srgbClr val="2563EB"/>
          </a:solidFill>
          <a:ln/>
        </p:spPr>
        <p:txBody>
          <a:bodyPr/>
          <a:lstStyle/>
          <a:p>
            <a:endParaRPr lang="en-US"/>
          </a:p>
        </p:txBody>
      </p:sp>
      <p:sp>
        <p:nvSpPr>
          <p:cNvPr id="15" name="Text 13"/>
          <p:cNvSpPr/>
          <p:nvPr/>
        </p:nvSpPr>
        <p:spPr>
          <a:xfrm>
            <a:off x="2423160" y="658368"/>
            <a:ext cx="1188720" cy="320040"/>
          </a:xfrm>
          <a:prstGeom prst="rect">
            <a:avLst/>
          </a:prstGeom>
          <a:noFill/>
          <a:ln/>
        </p:spPr>
        <p:txBody>
          <a:bodyPr wrap="square" lIns="0" tIns="0" rIns="0" bIns="0" rtlCol="0" anchor="ctr"/>
          <a:lstStyle/>
          <a:p>
            <a:pPr marL="0" indent="0" algn="ctr">
              <a:buNone/>
            </a:pPr>
            <a:r>
              <a:rPr lang="en-US" sz="800" b="1" dirty="0">
                <a:solidFill>
                  <a:srgbClr val="FFFFFF"/>
                </a:solidFill>
              </a:rPr>
              <a:t>PHASE 2</a:t>
            </a:r>
            <a:endParaRPr lang="en-US" sz="800" dirty="0"/>
          </a:p>
        </p:txBody>
      </p:sp>
      <p:sp>
        <p:nvSpPr>
          <p:cNvPr id="16" name="Text 14"/>
          <p:cNvSpPr/>
          <p:nvPr/>
        </p:nvSpPr>
        <p:spPr>
          <a:xfrm>
            <a:off x="3630168" y="658368"/>
            <a:ext cx="877824" cy="320040"/>
          </a:xfrm>
          <a:prstGeom prst="rect">
            <a:avLst/>
          </a:prstGeom>
          <a:noFill/>
          <a:ln/>
        </p:spPr>
        <p:txBody>
          <a:bodyPr wrap="square" lIns="0" tIns="0" rIns="0" bIns="0" rtlCol="0" anchor="ctr"/>
          <a:lstStyle/>
          <a:p>
            <a:pPr marL="0" indent="0" algn="ctr">
              <a:buNone/>
            </a:pPr>
            <a:r>
              <a:rPr lang="en-US" sz="750" dirty="0">
                <a:solidFill>
                  <a:srgbClr val="FFFFFF"/>
                </a:solidFill>
              </a:rPr>
              <a:t>Month 4</a:t>
            </a:r>
            <a:endParaRPr lang="en-US" sz="750" dirty="0"/>
          </a:p>
        </p:txBody>
      </p:sp>
      <p:sp>
        <p:nvSpPr>
          <p:cNvPr id="17" name="Shape 15"/>
          <p:cNvSpPr/>
          <p:nvPr/>
        </p:nvSpPr>
        <p:spPr>
          <a:xfrm>
            <a:off x="2423160" y="978408"/>
            <a:ext cx="2084832" cy="2423160"/>
          </a:xfrm>
          <a:prstGeom prst="rect">
            <a:avLst/>
          </a:prstGeom>
          <a:solidFill>
            <a:srgbClr val="0F2547"/>
          </a:solidFill>
          <a:ln/>
          <a:effectLst>
            <a:outerShdw blurRad="101600" dist="38100" dir="8100000" algn="bl" rotWithShape="0">
              <a:srgbClr val="000000">
                <a:alpha val="10000"/>
              </a:srgbClr>
            </a:outerShdw>
          </a:effectLst>
        </p:spPr>
        <p:txBody>
          <a:bodyPr/>
          <a:lstStyle/>
          <a:p>
            <a:endParaRPr lang="en-US"/>
          </a:p>
        </p:txBody>
      </p:sp>
      <p:sp>
        <p:nvSpPr>
          <p:cNvPr id="18" name="Shape 16"/>
          <p:cNvSpPr/>
          <p:nvPr/>
        </p:nvSpPr>
        <p:spPr>
          <a:xfrm>
            <a:off x="2423160" y="978408"/>
            <a:ext cx="2084832" cy="54864"/>
          </a:xfrm>
          <a:prstGeom prst="rect">
            <a:avLst/>
          </a:prstGeom>
          <a:solidFill>
            <a:srgbClr val="2563EB"/>
          </a:solidFill>
          <a:ln/>
        </p:spPr>
        <p:txBody>
          <a:bodyPr/>
          <a:lstStyle/>
          <a:p>
            <a:endParaRPr lang="en-US"/>
          </a:p>
        </p:txBody>
      </p:sp>
      <p:sp>
        <p:nvSpPr>
          <p:cNvPr id="19" name="Text 17"/>
          <p:cNvSpPr/>
          <p:nvPr/>
        </p:nvSpPr>
        <p:spPr>
          <a:xfrm>
            <a:off x="2514600" y="1060704"/>
            <a:ext cx="1901952" cy="292608"/>
          </a:xfrm>
          <a:prstGeom prst="rect">
            <a:avLst/>
          </a:prstGeom>
          <a:noFill/>
          <a:ln/>
        </p:spPr>
        <p:txBody>
          <a:bodyPr wrap="square" lIns="0" tIns="0" rIns="0" bIns="0" rtlCol="0" anchor="ctr"/>
          <a:lstStyle/>
          <a:p>
            <a:pPr marL="0" indent="0">
              <a:buNone/>
            </a:pPr>
            <a:r>
              <a:rPr lang="en-US" sz="950" b="1" dirty="0">
                <a:solidFill>
                  <a:srgbClr val="2563EB"/>
                </a:solidFill>
              </a:rPr>
              <a:t>Threshold Calibration</a:t>
            </a:r>
            <a:endParaRPr lang="en-US" sz="950" dirty="0"/>
          </a:p>
        </p:txBody>
      </p:sp>
      <p:sp>
        <p:nvSpPr>
          <p:cNvPr id="20" name="Text 18"/>
          <p:cNvSpPr/>
          <p:nvPr/>
        </p:nvSpPr>
        <p:spPr>
          <a:xfrm>
            <a:off x="2514600" y="1389888"/>
            <a:ext cx="1901952" cy="1600200"/>
          </a:xfrm>
          <a:prstGeom prst="rect">
            <a:avLst/>
          </a:prstGeom>
          <a:noFill/>
          <a:ln/>
        </p:spPr>
        <p:txBody>
          <a:bodyPr wrap="square" lIns="0" tIns="0" rIns="0" bIns="0" rtlCol="0" anchor="ctr"/>
          <a:lstStyle/>
          <a:p>
            <a:pPr marL="0" indent="0">
              <a:buNone/>
            </a:pPr>
            <a:r>
              <a:rPr lang="en-US" sz="850" dirty="0">
                <a:solidFill>
                  <a:srgbClr val="BFDBFE"/>
                </a:solidFill>
              </a:rPr>
              <a:t>Set operational score thresholds based on ProTech's actual fraud rate (not IEEE-CIS 3.5%). Calibrate STP zone target: cover &gt;65% of claims while maintaining &lt;5% false positive rate.</a:t>
            </a:r>
            <a:endParaRPr lang="en-US" sz="850" dirty="0"/>
          </a:p>
        </p:txBody>
      </p:sp>
      <p:sp>
        <p:nvSpPr>
          <p:cNvPr id="21" name="Shape 19"/>
          <p:cNvSpPr/>
          <p:nvPr/>
        </p:nvSpPr>
        <p:spPr>
          <a:xfrm>
            <a:off x="2514600" y="3063240"/>
            <a:ext cx="1901952" cy="274320"/>
          </a:xfrm>
          <a:prstGeom prst="rect">
            <a:avLst/>
          </a:prstGeom>
          <a:solidFill>
            <a:srgbClr val="152D54"/>
          </a:solidFill>
          <a:ln/>
        </p:spPr>
        <p:txBody>
          <a:bodyPr/>
          <a:lstStyle/>
          <a:p>
            <a:endParaRPr lang="en-US"/>
          </a:p>
        </p:txBody>
      </p:sp>
      <p:sp>
        <p:nvSpPr>
          <p:cNvPr id="22" name="Text 20"/>
          <p:cNvSpPr/>
          <p:nvPr/>
        </p:nvSpPr>
        <p:spPr>
          <a:xfrm>
            <a:off x="2514600" y="3081528"/>
            <a:ext cx="1901952" cy="237744"/>
          </a:xfrm>
          <a:prstGeom prst="rect">
            <a:avLst/>
          </a:prstGeom>
          <a:noFill/>
          <a:ln/>
        </p:spPr>
        <p:txBody>
          <a:bodyPr wrap="square" lIns="0" tIns="0" rIns="0" bIns="0" rtlCol="0" anchor="ctr"/>
          <a:lstStyle/>
          <a:p>
            <a:pPr marL="0" indent="0" algn="ctr">
              <a:buNone/>
            </a:pPr>
            <a:r>
              <a:rPr lang="en-US" sz="800" b="1" dirty="0">
                <a:solidFill>
                  <a:srgbClr val="2563EB"/>
                </a:solidFill>
              </a:rPr>
              <a:t>Investment: ~USD 3K</a:t>
            </a:r>
            <a:endParaRPr lang="en-US" sz="800" dirty="0"/>
          </a:p>
        </p:txBody>
      </p:sp>
      <p:sp>
        <p:nvSpPr>
          <p:cNvPr id="23" name="Shape 21"/>
          <p:cNvSpPr/>
          <p:nvPr/>
        </p:nvSpPr>
        <p:spPr>
          <a:xfrm>
            <a:off x="4663440" y="658368"/>
            <a:ext cx="2084832" cy="320040"/>
          </a:xfrm>
          <a:prstGeom prst="rect">
            <a:avLst/>
          </a:prstGeom>
          <a:solidFill>
            <a:srgbClr val="D97706"/>
          </a:solidFill>
          <a:ln/>
        </p:spPr>
        <p:txBody>
          <a:bodyPr/>
          <a:lstStyle/>
          <a:p>
            <a:endParaRPr lang="en-US"/>
          </a:p>
        </p:txBody>
      </p:sp>
      <p:sp>
        <p:nvSpPr>
          <p:cNvPr id="24" name="Text 22"/>
          <p:cNvSpPr/>
          <p:nvPr/>
        </p:nvSpPr>
        <p:spPr>
          <a:xfrm>
            <a:off x="4663440" y="658368"/>
            <a:ext cx="1188720" cy="320040"/>
          </a:xfrm>
          <a:prstGeom prst="rect">
            <a:avLst/>
          </a:prstGeom>
          <a:noFill/>
          <a:ln/>
        </p:spPr>
        <p:txBody>
          <a:bodyPr wrap="square" lIns="0" tIns="0" rIns="0" bIns="0" rtlCol="0" anchor="ctr"/>
          <a:lstStyle/>
          <a:p>
            <a:pPr marL="0" indent="0" algn="ctr">
              <a:buNone/>
            </a:pPr>
            <a:r>
              <a:rPr lang="en-US" sz="800" b="1" dirty="0">
                <a:solidFill>
                  <a:srgbClr val="FFFFFF"/>
                </a:solidFill>
              </a:rPr>
              <a:t>PHASE 3</a:t>
            </a:r>
            <a:endParaRPr lang="en-US" sz="800" dirty="0"/>
          </a:p>
        </p:txBody>
      </p:sp>
      <p:sp>
        <p:nvSpPr>
          <p:cNvPr id="25" name="Text 23"/>
          <p:cNvSpPr/>
          <p:nvPr/>
        </p:nvSpPr>
        <p:spPr>
          <a:xfrm>
            <a:off x="5870448" y="658368"/>
            <a:ext cx="877824" cy="320040"/>
          </a:xfrm>
          <a:prstGeom prst="rect">
            <a:avLst/>
          </a:prstGeom>
          <a:noFill/>
          <a:ln/>
        </p:spPr>
        <p:txBody>
          <a:bodyPr wrap="square" lIns="0" tIns="0" rIns="0" bIns="0" rtlCol="0" anchor="ctr"/>
          <a:lstStyle/>
          <a:p>
            <a:pPr marL="0" indent="0" algn="ctr">
              <a:buNone/>
            </a:pPr>
            <a:r>
              <a:rPr lang="en-US" sz="750" dirty="0">
                <a:solidFill>
                  <a:srgbClr val="FFFFFF"/>
                </a:solidFill>
              </a:rPr>
              <a:t>Month 5–6</a:t>
            </a:r>
            <a:endParaRPr lang="en-US" sz="750" dirty="0"/>
          </a:p>
        </p:txBody>
      </p:sp>
      <p:sp>
        <p:nvSpPr>
          <p:cNvPr id="26" name="Shape 24"/>
          <p:cNvSpPr/>
          <p:nvPr/>
        </p:nvSpPr>
        <p:spPr>
          <a:xfrm>
            <a:off x="4663440" y="978408"/>
            <a:ext cx="2084832" cy="2423160"/>
          </a:xfrm>
          <a:prstGeom prst="rect">
            <a:avLst/>
          </a:prstGeom>
          <a:solidFill>
            <a:srgbClr val="0F2547"/>
          </a:solidFill>
          <a:ln/>
          <a:effectLst>
            <a:outerShdw blurRad="101600" dist="38100" dir="8100000" algn="bl" rotWithShape="0">
              <a:srgbClr val="000000">
                <a:alpha val="10000"/>
              </a:srgbClr>
            </a:outerShdw>
          </a:effectLst>
        </p:spPr>
        <p:txBody>
          <a:bodyPr/>
          <a:lstStyle/>
          <a:p>
            <a:endParaRPr lang="en-US"/>
          </a:p>
        </p:txBody>
      </p:sp>
      <p:sp>
        <p:nvSpPr>
          <p:cNvPr id="27" name="Shape 25"/>
          <p:cNvSpPr/>
          <p:nvPr/>
        </p:nvSpPr>
        <p:spPr>
          <a:xfrm>
            <a:off x="4663440" y="978408"/>
            <a:ext cx="2084832" cy="54864"/>
          </a:xfrm>
          <a:prstGeom prst="rect">
            <a:avLst/>
          </a:prstGeom>
          <a:solidFill>
            <a:srgbClr val="D97706"/>
          </a:solidFill>
          <a:ln/>
        </p:spPr>
        <p:txBody>
          <a:bodyPr/>
          <a:lstStyle/>
          <a:p>
            <a:endParaRPr lang="en-US"/>
          </a:p>
        </p:txBody>
      </p:sp>
      <p:sp>
        <p:nvSpPr>
          <p:cNvPr id="28" name="Text 26"/>
          <p:cNvSpPr/>
          <p:nvPr/>
        </p:nvSpPr>
        <p:spPr>
          <a:xfrm>
            <a:off x="4754880" y="1060704"/>
            <a:ext cx="1901952" cy="292608"/>
          </a:xfrm>
          <a:prstGeom prst="rect">
            <a:avLst/>
          </a:prstGeom>
          <a:noFill/>
          <a:ln/>
        </p:spPr>
        <p:txBody>
          <a:bodyPr wrap="square" lIns="0" tIns="0" rIns="0" bIns="0" rtlCol="0" anchor="ctr"/>
          <a:lstStyle/>
          <a:p>
            <a:pPr marL="0" indent="0">
              <a:buNone/>
            </a:pPr>
            <a:r>
              <a:rPr lang="en-US" sz="950" b="1" dirty="0">
                <a:solidFill>
                  <a:srgbClr val="D97706"/>
                </a:solidFill>
              </a:rPr>
              <a:t>Soft Launch</a:t>
            </a:r>
            <a:endParaRPr lang="en-US" sz="950" dirty="0"/>
          </a:p>
        </p:txBody>
      </p:sp>
      <p:sp>
        <p:nvSpPr>
          <p:cNvPr id="29" name="Text 27"/>
          <p:cNvSpPr/>
          <p:nvPr/>
        </p:nvSpPr>
        <p:spPr>
          <a:xfrm>
            <a:off x="4754880" y="1389888"/>
            <a:ext cx="1901952" cy="1600200"/>
          </a:xfrm>
          <a:prstGeom prst="rect">
            <a:avLst/>
          </a:prstGeom>
          <a:noFill/>
          <a:ln/>
        </p:spPr>
        <p:txBody>
          <a:bodyPr wrap="square" lIns="0" tIns="0" rIns="0" bIns="0" rtlCol="0" anchor="ctr"/>
          <a:lstStyle/>
          <a:p>
            <a:pPr marL="0" indent="0">
              <a:buNone/>
            </a:pPr>
            <a:r>
              <a:rPr lang="en-US" sz="850" dirty="0">
                <a:solidFill>
                  <a:srgbClr val="BFDBFE"/>
                </a:solidFill>
              </a:rPr>
              <a:t>Enable STP and Enhanced Review routing. Escalate tier still requires manual approval. Monitor NPS of flagged customers. Track false positive rate weekly.</a:t>
            </a:r>
            <a:endParaRPr lang="en-US" sz="850" dirty="0"/>
          </a:p>
        </p:txBody>
      </p:sp>
      <p:sp>
        <p:nvSpPr>
          <p:cNvPr id="30" name="Shape 28"/>
          <p:cNvSpPr/>
          <p:nvPr/>
        </p:nvSpPr>
        <p:spPr>
          <a:xfrm>
            <a:off x="4754880" y="3063240"/>
            <a:ext cx="1901952" cy="274320"/>
          </a:xfrm>
          <a:prstGeom prst="rect">
            <a:avLst/>
          </a:prstGeom>
          <a:solidFill>
            <a:srgbClr val="152D54"/>
          </a:solidFill>
          <a:ln/>
        </p:spPr>
        <p:txBody>
          <a:bodyPr/>
          <a:lstStyle/>
          <a:p>
            <a:endParaRPr lang="en-US"/>
          </a:p>
        </p:txBody>
      </p:sp>
      <p:sp>
        <p:nvSpPr>
          <p:cNvPr id="31" name="Text 29"/>
          <p:cNvSpPr/>
          <p:nvPr/>
        </p:nvSpPr>
        <p:spPr>
          <a:xfrm>
            <a:off x="4754880" y="3081528"/>
            <a:ext cx="1901952" cy="237744"/>
          </a:xfrm>
          <a:prstGeom prst="rect">
            <a:avLst/>
          </a:prstGeom>
          <a:noFill/>
          <a:ln/>
        </p:spPr>
        <p:txBody>
          <a:bodyPr wrap="square" lIns="0" tIns="0" rIns="0" bIns="0" rtlCol="0" anchor="ctr"/>
          <a:lstStyle/>
          <a:p>
            <a:pPr marL="0" indent="0" algn="ctr">
              <a:buNone/>
            </a:pPr>
            <a:r>
              <a:rPr lang="en-US" sz="800" b="1" dirty="0">
                <a:solidFill>
                  <a:srgbClr val="D97706"/>
                </a:solidFill>
              </a:rPr>
              <a:t>Investment: ~USD 15K</a:t>
            </a:r>
            <a:endParaRPr lang="en-US" sz="800" dirty="0"/>
          </a:p>
        </p:txBody>
      </p:sp>
      <p:sp>
        <p:nvSpPr>
          <p:cNvPr id="32" name="Shape 30"/>
          <p:cNvSpPr/>
          <p:nvPr/>
        </p:nvSpPr>
        <p:spPr>
          <a:xfrm>
            <a:off x="6903720" y="658368"/>
            <a:ext cx="2084832" cy="320040"/>
          </a:xfrm>
          <a:prstGeom prst="rect">
            <a:avLst/>
          </a:prstGeom>
          <a:solidFill>
            <a:srgbClr val="059669"/>
          </a:solidFill>
          <a:ln/>
        </p:spPr>
        <p:txBody>
          <a:bodyPr/>
          <a:lstStyle/>
          <a:p>
            <a:endParaRPr lang="en-US"/>
          </a:p>
        </p:txBody>
      </p:sp>
      <p:sp>
        <p:nvSpPr>
          <p:cNvPr id="33" name="Text 31"/>
          <p:cNvSpPr/>
          <p:nvPr/>
        </p:nvSpPr>
        <p:spPr>
          <a:xfrm>
            <a:off x="6903720" y="658368"/>
            <a:ext cx="1188720" cy="320040"/>
          </a:xfrm>
          <a:prstGeom prst="rect">
            <a:avLst/>
          </a:prstGeom>
          <a:noFill/>
          <a:ln/>
        </p:spPr>
        <p:txBody>
          <a:bodyPr wrap="square" lIns="0" tIns="0" rIns="0" bIns="0" rtlCol="0" anchor="ctr"/>
          <a:lstStyle/>
          <a:p>
            <a:pPr marL="0" indent="0" algn="ctr">
              <a:buNone/>
            </a:pPr>
            <a:r>
              <a:rPr lang="en-US" sz="800" b="1" dirty="0">
                <a:solidFill>
                  <a:srgbClr val="FFFFFF"/>
                </a:solidFill>
              </a:rPr>
              <a:t>PHASE 4</a:t>
            </a:r>
            <a:endParaRPr lang="en-US" sz="800" dirty="0"/>
          </a:p>
        </p:txBody>
      </p:sp>
      <p:sp>
        <p:nvSpPr>
          <p:cNvPr id="34" name="Text 32"/>
          <p:cNvSpPr/>
          <p:nvPr/>
        </p:nvSpPr>
        <p:spPr>
          <a:xfrm>
            <a:off x="8110728" y="658368"/>
            <a:ext cx="877824" cy="320040"/>
          </a:xfrm>
          <a:prstGeom prst="rect">
            <a:avLst/>
          </a:prstGeom>
          <a:noFill/>
          <a:ln/>
        </p:spPr>
        <p:txBody>
          <a:bodyPr wrap="square" lIns="0" tIns="0" rIns="0" bIns="0" rtlCol="0" anchor="ctr"/>
          <a:lstStyle/>
          <a:p>
            <a:pPr marL="0" indent="0" algn="ctr">
              <a:buNone/>
            </a:pPr>
            <a:r>
              <a:rPr lang="en-US" sz="750" dirty="0">
                <a:solidFill>
                  <a:srgbClr val="FFFFFF"/>
                </a:solidFill>
              </a:rPr>
              <a:t>Month 7+</a:t>
            </a:r>
            <a:endParaRPr lang="en-US" sz="750" dirty="0"/>
          </a:p>
        </p:txBody>
      </p:sp>
      <p:sp>
        <p:nvSpPr>
          <p:cNvPr id="35" name="Shape 33"/>
          <p:cNvSpPr/>
          <p:nvPr/>
        </p:nvSpPr>
        <p:spPr>
          <a:xfrm>
            <a:off x="6903720" y="978408"/>
            <a:ext cx="2084832" cy="2423160"/>
          </a:xfrm>
          <a:prstGeom prst="rect">
            <a:avLst/>
          </a:prstGeom>
          <a:solidFill>
            <a:srgbClr val="0F2547"/>
          </a:solidFill>
          <a:ln/>
          <a:effectLst>
            <a:outerShdw blurRad="101600" dist="38100" dir="8100000" algn="bl" rotWithShape="0">
              <a:srgbClr val="000000">
                <a:alpha val="10000"/>
              </a:srgbClr>
            </a:outerShdw>
          </a:effectLst>
        </p:spPr>
        <p:txBody>
          <a:bodyPr/>
          <a:lstStyle/>
          <a:p>
            <a:endParaRPr lang="en-US"/>
          </a:p>
        </p:txBody>
      </p:sp>
      <p:sp>
        <p:nvSpPr>
          <p:cNvPr id="36" name="Shape 34"/>
          <p:cNvSpPr/>
          <p:nvPr/>
        </p:nvSpPr>
        <p:spPr>
          <a:xfrm>
            <a:off x="6903720" y="978408"/>
            <a:ext cx="2084832" cy="54864"/>
          </a:xfrm>
          <a:prstGeom prst="rect">
            <a:avLst/>
          </a:prstGeom>
          <a:solidFill>
            <a:srgbClr val="059669"/>
          </a:solidFill>
          <a:ln/>
        </p:spPr>
        <p:txBody>
          <a:bodyPr/>
          <a:lstStyle/>
          <a:p>
            <a:endParaRPr lang="en-US"/>
          </a:p>
        </p:txBody>
      </p:sp>
      <p:sp>
        <p:nvSpPr>
          <p:cNvPr id="37" name="Text 35"/>
          <p:cNvSpPr/>
          <p:nvPr/>
        </p:nvSpPr>
        <p:spPr>
          <a:xfrm>
            <a:off x="6995160" y="1060704"/>
            <a:ext cx="1901952" cy="292608"/>
          </a:xfrm>
          <a:prstGeom prst="rect">
            <a:avLst/>
          </a:prstGeom>
          <a:noFill/>
          <a:ln/>
        </p:spPr>
        <p:txBody>
          <a:bodyPr wrap="square" lIns="0" tIns="0" rIns="0" bIns="0" rtlCol="0" anchor="ctr"/>
          <a:lstStyle/>
          <a:p>
            <a:pPr marL="0" indent="0">
              <a:buNone/>
            </a:pPr>
            <a:r>
              <a:rPr lang="en-US" sz="950" b="1" dirty="0">
                <a:solidFill>
                  <a:srgbClr val="059669"/>
                </a:solidFill>
              </a:rPr>
              <a:t>Full Production</a:t>
            </a:r>
            <a:endParaRPr lang="en-US" sz="950" dirty="0"/>
          </a:p>
        </p:txBody>
      </p:sp>
      <p:sp>
        <p:nvSpPr>
          <p:cNvPr id="38" name="Text 36"/>
          <p:cNvSpPr/>
          <p:nvPr/>
        </p:nvSpPr>
        <p:spPr>
          <a:xfrm>
            <a:off x="6995160" y="1389888"/>
            <a:ext cx="1901952" cy="1600200"/>
          </a:xfrm>
          <a:prstGeom prst="rect">
            <a:avLst/>
          </a:prstGeom>
          <a:noFill/>
          <a:ln/>
        </p:spPr>
        <p:txBody>
          <a:bodyPr wrap="square" lIns="0" tIns="0" rIns="0" bIns="0" rtlCol="0" anchor="ctr"/>
          <a:lstStyle/>
          <a:p>
            <a:pPr marL="0" indent="0">
              <a:buNone/>
            </a:pPr>
            <a:r>
              <a:rPr lang="en-US" sz="850" dirty="0">
                <a:solidFill>
                  <a:srgbClr val="BFDBFE"/>
                </a:solidFill>
              </a:rPr>
              <a:t>All 4 tiers operational. Partner fraud monitoring dashboard live. Quarterly model retraining cycle established. Monthly AUC monitoring with drift alerts.</a:t>
            </a:r>
            <a:endParaRPr lang="en-US" sz="850" dirty="0"/>
          </a:p>
        </p:txBody>
      </p:sp>
      <p:sp>
        <p:nvSpPr>
          <p:cNvPr id="39" name="Shape 37"/>
          <p:cNvSpPr/>
          <p:nvPr/>
        </p:nvSpPr>
        <p:spPr>
          <a:xfrm>
            <a:off x="6995160" y="3063240"/>
            <a:ext cx="1901952" cy="274320"/>
          </a:xfrm>
          <a:prstGeom prst="rect">
            <a:avLst/>
          </a:prstGeom>
          <a:solidFill>
            <a:srgbClr val="152D54"/>
          </a:solidFill>
          <a:ln/>
        </p:spPr>
        <p:txBody>
          <a:bodyPr/>
          <a:lstStyle/>
          <a:p>
            <a:endParaRPr lang="en-US"/>
          </a:p>
        </p:txBody>
      </p:sp>
      <p:sp>
        <p:nvSpPr>
          <p:cNvPr id="40" name="Text 38"/>
          <p:cNvSpPr/>
          <p:nvPr/>
        </p:nvSpPr>
        <p:spPr>
          <a:xfrm>
            <a:off x="6995160" y="3081528"/>
            <a:ext cx="1901952" cy="237744"/>
          </a:xfrm>
          <a:prstGeom prst="rect">
            <a:avLst/>
          </a:prstGeom>
          <a:noFill/>
          <a:ln/>
        </p:spPr>
        <p:txBody>
          <a:bodyPr wrap="square" lIns="0" tIns="0" rIns="0" bIns="0" rtlCol="0" anchor="ctr"/>
          <a:lstStyle/>
          <a:p>
            <a:pPr marL="0" indent="0" algn="ctr">
              <a:buNone/>
            </a:pPr>
            <a:r>
              <a:rPr lang="en-US" sz="800" b="1" dirty="0">
                <a:solidFill>
                  <a:srgbClr val="059669"/>
                </a:solidFill>
              </a:rPr>
              <a:t>Investment: ~USD 12K</a:t>
            </a:r>
            <a:endParaRPr lang="en-US" sz="800" dirty="0"/>
          </a:p>
        </p:txBody>
      </p:sp>
      <p:sp>
        <p:nvSpPr>
          <p:cNvPr id="41" name="Shape 39"/>
          <p:cNvSpPr/>
          <p:nvPr/>
        </p:nvSpPr>
        <p:spPr>
          <a:xfrm>
            <a:off x="182880" y="3456432"/>
            <a:ext cx="8778240" cy="1508760"/>
          </a:xfrm>
          <a:prstGeom prst="rect">
            <a:avLst/>
          </a:prstGeom>
          <a:solidFill>
            <a:srgbClr val="2563EB"/>
          </a:solidFill>
          <a:ln/>
        </p:spPr>
        <p:txBody>
          <a:bodyPr/>
          <a:lstStyle/>
          <a:p>
            <a:endParaRPr lang="en-US"/>
          </a:p>
        </p:txBody>
      </p:sp>
      <p:sp>
        <p:nvSpPr>
          <p:cNvPr id="42" name="Shape 40"/>
          <p:cNvSpPr/>
          <p:nvPr/>
        </p:nvSpPr>
        <p:spPr>
          <a:xfrm>
            <a:off x="182880" y="3456432"/>
            <a:ext cx="8778240" cy="64008"/>
          </a:xfrm>
          <a:prstGeom prst="rect">
            <a:avLst/>
          </a:prstGeom>
          <a:solidFill>
            <a:srgbClr val="059669"/>
          </a:solidFill>
          <a:ln/>
        </p:spPr>
        <p:txBody>
          <a:bodyPr/>
          <a:lstStyle/>
          <a:p>
            <a:endParaRPr lang="en-US"/>
          </a:p>
        </p:txBody>
      </p:sp>
      <p:sp>
        <p:nvSpPr>
          <p:cNvPr id="43" name="Text 41"/>
          <p:cNvSpPr/>
          <p:nvPr/>
        </p:nvSpPr>
        <p:spPr>
          <a:xfrm>
            <a:off x="347472" y="3538728"/>
            <a:ext cx="8503920" cy="256032"/>
          </a:xfrm>
          <a:prstGeom prst="rect">
            <a:avLst/>
          </a:prstGeom>
          <a:noFill/>
          <a:ln/>
        </p:spPr>
        <p:txBody>
          <a:bodyPr wrap="square" lIns="0" tIns="0" rIns="0" bIns="0" rtlCol="0" anchor="ctr"/>
          <a:lstStyle/>
          <a:p>
            <a:pPr marL="0" indent="0">
              <a:buNone/>
            </a:pPr>
            <a:r>
              <a:rPr lang="en-US" sz="900" b="1" kern="0" spc="200" dirty="0">
                <a:solidFill>
                  <a:srgbClr val="FFFFFF"/>
                </a:solidFill>
              </a:rPr>
              <a:t>DECISION REQUIRED FROM LEADERSHIP</a:t>
            </a:r>
            <a:endParaRPr lang="en-US" sz="900" dirty="0"/>
          </a:p>
        </p:txBody>
      </p:sp>
      <p:sp>
        <p:nvSpPr>
          <p:cNvPr id="44" name="Text 42"/>
          <p:cNvSpPr/>
          <p:nvPr/>
        </p:nvSpPr>
        <p:spPr>
          <a:xfrm>
            <a:off x="347472" y="3840480"/>
            <a:ext cx="8503920" cy="1051560"/>
          </a:xfrm>
          <a:prstGeom prst="rect">
            <a:avLst/>
          </a:prstGeom>
          <a:noFill/>
          <a:ln/>
        </p:spPr>
        <p:txBody>
          <a:bodyPr wrap="square" lIns="0" tIns="0" rIns="0" bIns="0" rtlCol="0" anchor="t"/>
          <a:lstStyle/>
          <a:p>
            <a:pPr marL="0" indent="0">
              <a:buNone/>
            </a:pPr>
            <a:r>
              <a:rPr lang="en-US" sz="950" dirty="0">
                <a:solidFill>
                  <a:srgbClr val="FFFFFF"/>
                </a:solidFill>
              </a:rPr>
              <a:t>1. Approve Phase 1 pilot budget (USD 5K) and assign internal data engineering support (2 weeks).
2. Nominate Claims Operations lead to partner on threshold calibration and workflow integration.
3. Brief Compliance/Legal on fairness audit results and intended deployment design for regulatory pre-clearance.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3445</Words>
  <Application>Microsoft Macintosh PowerPoint</Application>
  <PresentationFormat>On-screen Show (16:9)</PresentationFormat>
  <Paragraphs>276</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 Presentation, AI Fraud Detection ROI Case</dc:title>
  <dc:subject>PptxGenJS Presentation</dc:subject>
  <dc:creator>Mark Eliezer M. Villola</dc:creator>
  <cp:lastModifiedBy>Azer V</cp:lastModifiedBy>
  <cp:revision>3</cp:revision>
  <dcterms:created xsi:type="dcterms:W3CDTF">2026-03-22T12:17:04Z</dcterms:created>
  <dcterms:modified xsi:type="dcterms:W3CDTF">2026-03-26T23:01:54Z</dcterms:modified>
</cp:coreProperties>
</file>